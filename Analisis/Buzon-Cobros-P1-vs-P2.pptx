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320040" cy="5143500"/>
          </a:xfrm>
          <a:prstGeom prst="rect">
            <a:avLst/>
          </a:prstGeom>
          <a:solidFill>
            <a:srgbClr val="0D9488"/>
          </a:solidFill>
          <a:ln w="12700">
            <a:solidFill>
              <a:srgbClr val="0D9488"/>
            </a:solidFill>
            <a:prstDash val="solid"/>
          </a:ln>
        </p:spPr>
      </p:sp>
      <p:sp>
        <p:nvSpPr>
          <p:cNvPr id="3" name="Shape 1"/>
          <p:cNvSpPr/>
          <p:nvPr/>
        </p:nvSpPr>
        <p:spPr>
          <a:xfrm>
            <a:off x="7132320" y="0"/>
            <a:ext cx="2011680" cy="1645920"/>
          </a:xfrm>
          <a:prstGeom prst="rect">
            <a:avLst/>
          </a:prstGeom>
          <a:solidFill>
            <a:srgbClr val="FFFFFF">
              <a:alpha val="7000"/>
            </a:srgbClr>
          </a:solidFill>
          <a:ln w="12700">
            <a:solidFill>
              <a:srgbClr val="FFFFFF">
                <a:alpha val="13000"/>
              </a:srgbClr>
            </a:solidFill>
            <a:prstDash val="solid"/>
          </a:ln>
        </p:spPr>
      </p:sp>
      <p:sp>
        <p:nvSpPr>
          <p:cNvPr id="4" name="Shape 2"/>
          <p:cNvSpPr/>
          <p:nvPr/>
        </p:nvSpPr>
        <p:spPr>
          <a:xfrm>
            <a:off x="548640" y="502920"/>
            <a:ext cx="2011680" cy="292608"/>
          </a:xfrm>
          <a:prstGeom prst="rect">
            <a:avLst/>
          </a:prstGeom>
          <a:solidFill>
            <a:srgbClr val="0D9488"/>
          </a:solidFill>
          <a:ln w="12700">
            <a:solidFill>
              <a:srgbClr val="0D9488"/>
            </a:solidFill>
            <a:prstDash val="solid"/>
          </a:ln>
        </p:spPr>
      </p:sp>
      <p:sp>
        <p:nvSpPr>
          <p:cNvPr id="5" name="Text 3"/>
          <p:cNvSpPr/>
          <p:nvPr/>
        </p:nvSpPr>
        <p:spPr>
          <a:xfrm>
            <a:off x="548640" y="502920"/>
            <a:ext cx="2011680" cy="292608"/>
          </a:xfrm>
          <a:prstGeom prst="rect">
            <a:avLst/>
          </a:prstGeom>
          <a:noFill/>
          <a:ln/>
        </p:spPr>
        <p:txBody>
          <a:bodyPr wrap="square" lIns="0" tIns="0" rIns="0" bIns="0" rtlCol="0" anchor="ctr"/>
          <a:lstStyle/>
          <a:p>
            <a:pPr algn="ctr" indent="0" marL="0">
              <a:buNone/>
            </a:pPr>
            <a:r>
              <a:rPr lang="en-US" sz="900" b="1" dirty="0">
                <a:solidFill>
                  <a:srgbClr val="FFFFFF"/>
                </a:solidFill>
              </a:rPr>
              <a:t>TPSC-RE-FU-008</a:t>
            </a:r>
            <a:endParaRPr lang="en-US" sz="900" dirty="0"/>
          </a:p>
        </p:txBody>
      </p:sp>
      <p:sp>
        <p:nvSpPr>
          <p:cNvPr id="6" name="Text 4"/>
          <p:cNvSpPr/>
          <p:nvPr/>
        </p:nvSpPr>
        <p:spPr>
          <a:xfrm>
            <a:off x="548640" y="1005840"/>
            <a:ext cx="8412480" cy="960120"/>
          </a:xfrm>
          <a:prstGeom prst="rect">
            <a:avLst/>
          </a:prstGeom>
          <a:noFill/>
          <a:ln/>
        </p:spPr>
        <p:txBody>
          <a:bodyPr wrap="square" lIns="0" tIns="0" rIns="0" bIns="0" rtlCol="0" anchor="ctr"/>
          <a:lstStyle/>
          <a:p>
            <a:pPr indent="0" marL="0">
              <a:buNone/>
            </a:pPr>
            <a:r>
              <a:rPr lang="en-US" sz="4600" b="1" dirty="0">
                <a:solidFill>
                  <a:srgbClr val="FFFFFF"/>
                </a:solidFill>
                <a:latin typeface="Georgia" pitchFamily="34" charset="0"/>
                <a:ea typeface="Georgia" pitchFamily="34" charset="-122"/>
                <a:cs typeface="Georgia" pitchFamily="34" charset="-120"/>
              </a:rPr>
              <a:t>Buzon de Cobros</a:t>
            </a:r>
            <a:endParaRPr lang="en-US" sz="4600" dirty="0"/>
          </a:p>
        </p:txBody>
      </p:sp>
      <p:sp>
        <p:nvSpPr>
          <p:cNvPr id="7" name="Text 5"/>
          <p:cNvSpPr/>
          <p:nvPr/>
        </p:nvSpPr>
        <p:spPr>
          <a:xfrm>
            <a:off x="548640" y="1965960"/>
            <a:ext cx="7772400" cy="502920"/>
          </a:xfrm>
          <a:prstGeom prst="rect">
            <a:avLst/>
          </a:prstGeom>
          <a:noFill/>
          <a:ln/>
        </p:spPr>
        <p:txBody>
          <a:bodyPr wrap="square" lIns="0" tIns="0" rIns="0" bIns="0" rtlCol="0" anchor="ctr"/>
          <a:lstStyle/>
          <a:p>
            <a:pPr indent="0" marL="0">
              <a:buNone/>
            </a:pPr>
            <a:r>
              <a:rPr lang="en-US" sz="2200" dirty="0">
                <a:solidFill>
                  <a:srgbClr val="14B8A6"/>
                </a:solidFill>
                <a:latin typeface="Calibri" pitchFamily="34" charset="0"/>
                <a:ea typeface="Calibri" pitchFamily="34" charset="-122"/>
                <a:cs typeface="Calibri" pitchFamily="34" charset="-120"/>
              </a:rPr>
              <a:t>Propuestas de Implementacion del Mailbot</a:t>
            </a:r>
            <a:endParaRPr lang="en-US" sz="2200" dirty="0"/>
          </a:p>
        </p:txBody>
      </p:sp>
      <p:sp>
        <p:nvSpPr>
          <p:cNvPr id="8" name="Shape 6"/>
          <p:cNvSpPr/>
          <p:nvPr/>
        </p:nvSpPr>
        <p:spPr>
          <a:xfrm>
            <a:off x="548640" y="2560320"/>
            <a:ext cx="5029200" cy="36576"/>
          </a:xfrm>
          <a:prstGeom prst="rect">
            <a:avLst/>
          </a:prstGeom>
          <a:solidFill>
            <a:srgbClr val="0D9488"/>
          </a:solidFill>
          <a:ln w="12700">
            <a:solidFill>
              <a:srgbClr val="0D9488"/>
            </a:solidFill>
            <a:prstDash val="solid"/>
          </a:ln>
        </p:spPr>
      </p:sp>
      <p:sp>
        <p:nvSpPr>
          <p:cNvPr id="9" name="Shape 7"/>
          <p:cNvSpPr/>
          <p:nvPr/>
        </p:nvSpPr>
        <p:spPr>
          <a:xfrm>
            <a:off x="548640" y="2788920"/>
            <a:ext cx="1737360" cy="502920"/>
          </a:xfrm>
          <a:prstGeom prst="rect">
            <a:avLst/>
          </a:prstGeom>
          <a:solidFill>
            <a:srgbClr val="F97316"/>
          </a:solidFill>
          <a:ln w="12700">
            <a:solidFill>
              <a:srgbClr val="F97316"/>
            </a:solidFill>
            <a:prstDash val="solid"/>
          </a:ln>
          <a:effectLst>
            <a:outerShdw sx="100000" sy="100000" kx="0" ky="0" algn="bl" rotWithShape="0" blurRad="101600" dist="38100" dir="8100000">
              <a:srgbClr val="000000">
                <a:alpha val="18000"/>
              </a:srgbClr>
            </a:outerShdw>
          </a:effectLst>
        </p:spPr>
      </p:sp>
      <p:sp>
        <p:nvSpPr>
          <p:cNvPr id="10" name="Text 8"/>
          <p:cNvSpPr/>
          <p:nvPr/>
        </p:nvSpPr>
        <p:spPr>
          <a:xfrm>
            <a:off x="548640" y="2788920"/>
            <a:ext cx="1737360" cy="502920"/>
          </a:xfrm>
          <a:prstGeom prst="rect">
            <a:avLst/>
          </a:prstGeom>
          <a:noFill/>
          <a:ln/>
        </p:spPr>
        <p:txBody>
          <a:bodyPr wrap="square" lIns="0" tIns="0" rIns="0" bIns="0" rtlCol="0" anchor="ctr"/>
          <a:lstStyle/>
          <a:p>
            <a:pPr algn="ctr" indent="0" marL="0">
              <a:buNone/>
            </a:pPr>
            <a:r>
              <a:rPr lang="en-US" sz="1200" b="1" dirty="0">
                <a:solidFill>
                  <a:srgbClr val="FFFFFF"/>
                </a:solidFill>
              </a:rPr>
              <a:t>Propuesta 1</a:t>
            </a:r>
            <a:endParaRPr lang="en-US" sz="1200" dirty="0"/>
          </a:p>
        </p:txBody>
      </p:sp>
      <p:sp>
        <p:nvSpPr>
          <p:cNvPr id="11" name="Shape 9"/>
          <p:cNvSpPr/>
          <p:nvPr/>
        </p:nvSpPr>
        <p:spPr>
          <a:xfrm>
            <a:off x="2468880" y="2788920"/>
            <a:ext cx="1737360" cy="502920"/>
          </a:xfrm>
          <a:prstGeom prst="rect">
            <a:avLst/>
          </a:prstGeom>
          <a:solidFill>
            <a:srgbClr val="7C3AED"/>
          </a:solidFill>
          <a:ln w="12700">
            <a:solidFill>
              <a:srgbClr val="7C3AED"/>
            </a:solidFill>
            <a:prstDash val="solid"/>
          </a:ln>
          <a:effectLst>
            <a:outerShdw sx="100000" sy="100000" kx="0" ky="0" algn="bl" rotWithShape="0" blurRad="101600" dist="38100" dir="8100000">
              <a:srgbClr val="000000">
                <a:alpha val="18000"/>
              </a:srgbClr>
            </a:outerShdw>
          </a:effectLst>
        </p:spPr>
      </p:sp>
      <p:sp>
        <p:nvSpPr>
          <p:cNvPr id="12" name="Text 10"/>
          <p:cNvSpPr/>
          <p:nvPr/>
        </p:nvSpPr>
        <p:spPr>
          <a:xfrm>
            <a:off x="2468880" y="2788920"/>
            <a:ext cx="1737360" cy="502920"/>
          </a:xfrm>
          <a:prstGeom prst="rect">
            <a:avLst/>
          </a:prstGeom>
          <a:noFill/>
          <a:ln/>
        </p:spPr>
        <p:txBody>
          <a:bodyPr wrap="square" lIns="0" tIns="0" rIns="0" bIns="0" rtlCol="0" anchor="ctr"/>
          <a:lstStyle/>
          <a:p>
            <a:pPr algn="ctr" indent="0" marL="0">
              <a:buNone/>
            </a:pPr>
            <a:r>
              <a:rPr lang="en-US" sz="1200" b="1" dirty="0">
                <a:solidFill>
                  <a:srgbClr val="FFFFFF"/>
                </a:solidFill>
              </a:rPr>
              <a:t>Propuesta 2</a:t>
            </a:r>
            <a:endParaRPr lang="en-US" sz="1200" dirty="0"/>
          </a:p>
        </p:txBody>
      </p:sp>
      <p:sp>
        <p:nvSpPr>
          <p:cNvPr id="13" name="Text 11"/>
          <p:cNvSpPr/>
          <p:nvPr/>
        </p:nvSpPr>
        <p:spPr>
          <a:xfrm>
            <a:off x="548640" y="3401568"/>
            <a:ext cx="1737360" cy="365760"/>
          </a:xfrm>
          <a:prstGeom prst="rect">
            <a:avLst/>
          </a:prstGeom>
          <a:noFill/>
          <a:ln/>
        </p:spPr>
        <p:txBody>
          <a:bodyPr wrap="square" lIns="0" tIns="0" rIns="0" bIns="0" rtlCol="0" anchor="ctr"/>
          <a:lstStyle/>
          <a:p>
            <a:pPr algn="ctr" indent="0" marL="0">
              <a:buNone/>
            </a:pPr>
            <a:r>
              <a:rPr lang="en-US" sz="850" dirty="0">
                <a:solidFill>
                  <a:srgbClr val="94A3B8"/>
                </a:solidFill>
              </a:rPr>
              <a:t>n8n + RabbitMQ + Worker .NET 10</a:t>
            </a:r>
            <a:endParaRPr lang="en-US" sz="850" dirty="0"/>
          </a:p>
        </p:txBody>
      </p:sp>
      <p:sp>
        <p:nvSpPr>
          <p:cNvPr id="14" name="Text 12"/>
          <p:cNvSpPr/>
          <p:nvPr/>
        </p:nvSpPr>
        <p:spPr>
          <a:xfrm>
            <a:off x="2468880" y="3401568"/>
            <a:ext cx="1737360" cy="365760"/>
          </a:xfrm>
          <a:prstGeom prst="rect">
            <a:avLst/>
          </a:prstGeom>
          <a:noFill/>
          <a:ln/>
        </p:spPr>
        <p:txBody>
          <a:bodyPr wrap="square" lIns="0" tIns="0" rIns="0" bIns="0" rtlCol="0" anchor="ctr"/>
          <a:lstStyle/>
          <a:p>
            <a:pPr algn="ctr" indent="0" marL="0">
              <a:buNone/>
            </a:pPr>
            <a:r>
              <a:rPr lang="en-US" sz="850" dirty="0">
                <a:solidFill>
                  <a:srgbClr val="94A3B8"/>
                </a:solidFill>
              </a:rPr>
              <a:t>Gmail Push + Pub/Sub + Worker .NET 10</a:t>
            </a:r>
            <a:endParaRPr lang="en-US" sz="850" dirty="0"/>
          </a:p>
        </p:txBody>
      </p:sp>
      <p:sp>
        <p:nvSpPr>
          <p:cNvPr id="15" name="Text 13"/>
          <p:cNvSpPr/>
          <p:nvPr/>
        </p:nvSpPr>
        <p:spPr>
          <a:xfrm>
            <a:off x="548640" y="4663440"/>
            <a:ext cx="8229600" cy="320040"/>
          </a:xfrm>
          <a:prstGeom prst="rect">
            <a:avLst/>
          </a:prstGeom>
          <a:noFill/>
          <a:ln/>
        </p:spPr>
        <p:txBody>
          <a:bodyPr wrap="square" lIns="0" tIns="0" rIns="0" bIns="0" rtlCol="0" anchor="ctr"/>
          <a:lstStyle/>
          <a:p>
            <a:pPr indent="0" marL="0">
              <a:buNone/>
            </a:pPr>
            <a:r>
              <a:rPr lang="en-US" sz="1000" dirty="0">
                <a:solidFill>
                  <a:srgbClr val="94A3B8"/>
                </a:solidFill>
              </a:rPr>
              <a:t>Proyecto: ProquifaDotNet R16  |  Modulo: Buzones  |  Junio 2026</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D1B2A"/>
          </a:solidFill>
          <a:ln w="12700">
            <a:solidFill>
              <a:srgbClr val="0D1B2A"/>
            </a:solidFill>
            <a:prstDash val="solid"/>
          </a:ln>
        </p:spPr>
      </p:sp>
      <p:sp>
        <p:nvSpPr>
          <p:cNvPr id="3" name="Shape 1"/>
          <p:cNvSpPr/>
          <p:nvPr/>
        </p:nvSpPr>
        <p:spPr>
          <a:xfrm>
            <a:off x="0" y="0"/>
            <a:ext cx="320040" cy="777240"/>
          </a:xfrm>
          <a:prstGeom prst="rect">
            <a:avLst/>
          </a:prstGeom>
          <a:solidFill>
            <a:srgbClr val="0D9488"/>
          </a:solidFill>
          <a:ln w="12700">
            <a:solidFill>
              <a:srgbClr val="0D9488"/>
            </a:solidFill>
            <a:prstDash val="solid"/>
          </a:ln>
        </p:spPr>
      </p:sp>
      <p:sp>
        <p:nvSpPr>
          <p:cNvPr id="4" name="Text 2"/>
          <p:cNvSpPr/>
          <p:nvPr/>
        </p:nvSpPr>
        <p:spPr>
          <a:xfrm>
            <a:off x="502920" y="0"/>
            <a:ext cx="8503920" cy="777240"/>
          </a:xfrm>
          <a:prstGeom prst="rect">
            <a:avLst/>
          </a:prstGeom>
          <a:noFill/>
          <a:ln/>
        </p:spPr>
        <p:txBody>
          <a:bodyPr wrap="square" lIns="0" tIns="0" rIns="0" bIns="0" rtlCol="0" anchor="ctr"/>
          <a:lstStyle/>
          <a:p>
            <a:pPr indent="0" marL="0">
              <a:buNone/>
            </a:pPr>
            <a:r>
              <a:rPr lang="en-US" sz="2200" b="1" dirty="0">
                <a:solidFill>
                  <a:srgbClr val="FFFFFF"/>
                </a:solidFill>
              </a:rPr>
              <a:t>Que necesitamos construir</a:t>
            </a:r>
            <a:endParaRPr lang="en-US" sz="2200" dirty="0"/>
          </a:p>
        </p:txBody>
      </p:sp>
      <p:sp>
        <p:nvSpPr>
          <p:cNvPr id="5" name="Shape 3"/>
          <p:cNvSpPr/>
          <p:nvPr/>
        </p:nvSpPr>
        <p:spPr>
          <a:xfrm>
            <a:off x="320040" y="914400"/>
            <a:ext cx="8503920" cy="1188720"/>
          </a:xfrm>
          <a:prstGeom prst="rect">
            <a:avLst/>
          </a:prstGeom>
          <a:solidFill>
            <a:srgbClr val="1A3A5C"/>
          </a:solidFill>
          <a:ln w="25400">
            <a:solidFill>
              <a:srgbClr val="0D9488"/>
            </a:solidFill>
            <a:prstDash val="solid"/>
          </a:ln>
          <a:effectLst>
            <a:outerShdw sx="100000" sy="100000" kx="0" ky="0" algn="bl" rotWithShape="0" blurRad="101600" dist="38100" dir="8100000">
              <a:srgbClr val="000000">
                <a:alpha val="18000"/>
              </a:srgbClr>
            </a:outerShdw>
          </a:effectLst>
        </p:spPr>
      </p:sp>
      <p:sp>
        <p:nvSpPr>
          <p:cNvPr id="6" name="Text 4"/>
          <p:cNvSpPr/>
          <p:nvPr/>
        </p:nvSpPr>
        <p:spPr>
          <a:xfrm>
            <a:off x="502920" y="914400"/>
            <a:ext cx="8229600" cy="1188720"/>
          </a:xfrm>
          <a:prstGeom prst="rect">
            <a:avLst/>
          </a:prstGeom>
          <a:noFill/>
          <a:ln/>
        </p:spPr>
        <p:txBody>
          <a:bodyPr wrap="square" lIns="76200" tIns="127000" rIns="127000" bIns="76200" rtlCol="0" anchor="ctr"/>
          <a:lstStyle/>
          <a:p>
            <a:pPr indent="0" marL="0">
              <a:buNone/>
            </a:pPr>
            <a:r>
              <a:rPr lang="en-US" sz="1100" b="1" dirty="0">
                <a:solidFill>
                  <a:srgbClr val="14B8A6"/>
                </a:solidFill>
              </a:rPr>
              <a:t>Historia de Usuario  |  </a:t>
            </a:r>
            <a:pPr indent="0" marL="0">
              <a:buNone/>
            </a:pPr>
            <a:r>
              <a:rPr lang="en-US" sz="1200" i="1" dirty="0">
                <a:solidFill>
                  <a:srgbClr val="FFFFFF"/>
                </a:solidFill>
              </a:rPr>
              <a:t>Como Gestor de Cobranza, quiero contar con un Buzon de Cobros que reciba automaticamente los correos clasificados como cobros por el Mailbot, genere un pendiente en Validar Cobro sin captura previa de datos y me permita reclasificar correos mal clasificados, para reducir el trabajo manual de identificacion inicial de cobros.</a:t>
            </a:r>
            <a:endParaRPr lang="en-US" sz="1100" dirty="0"/>
          </a:p>
        </p:txBody>
      </p:sp>
      <p:sp>
        <p:nvSpPr>
          <p:cNvPr id="7" name="Shape 5"/>
          <p:cNvSpPr/>
          <p:nvPr/>
        </p:nvSpPr>
        <p:spPr>
          <a:xfrm>
            <a:off x="320040" y="2286000"/>
            <a:ext cx="2834640" cy="2468880"/>
          </a:xfrm>
          <a:prstGeom prst="rect">
            <a:avLst/>
          </a:prstGeom>
          <a:solidFill>
            <a:srgbClr val="FFFFFF"/>
          </a:solidFill>
          <a:ln w="12700">
            <a:solidFill>
              <a:srgbClr val="0D9488"/>
            </a:solidFill>
            <a:prstDash val="solid"/>
          </a:ln>
          <a:effectLst>
            <a:outerShdw sx="100000" sy="100000" kx="0" ky="0" algn="bl" rotWithShape="0" blurRad="101600" dist="38100" dir="8100000">
              <a:srgbClr val="000000">
                <a:alpha val="18000"/>
              </a:srgbClr>
            </a:outerShdw>
          </a:effectLst>
        </p:spPr>
      </p:sp>
      <p:sp>
        <p:nvSpPr>
          <p:cNvPr id="8" name="Shape 6"/>
          <p:cNvSpPr/>
          <p:nvPr/>
        </p:nvSpPr>
        <p:spPr>
          <a:xfrm>
            <a:off x="320040" y="2286000"/>
            <a:ext cx="2834640" cy="384048"/>
          </a:xfrm>
          <a:prstGeom prst="rect">
            <a:avLst/>
          </a:prstGeom>
          <a:solidFill>
            <a:srgbClr val="0D9488"/>
          </a:solidFill>
          <a:ln w="12700">
            <a:solidFill>
              <a:srgbClr val="0D9488"/>
            </a:solidFill>
            <a:prstDash val="solid"/>
          </a:ln>
        </p:spPr>
      </p:sp>
      <p:sp>
        <p:nvSpPr>
          <p:cNvPr id="9" name="Text 7"/>
          <p:cNvSpPr/>
          <p:nvPr/>
        </p:nvSpPr>
        <p:spPr>
          <a:xfrm>
            <a:off x="320040" y="2286000"/>
            <a:ext cx="2834640" cy="384048"/>
          </a:xfrm>
          <a:prstGeom prst="rect">
            <a:avLst/>
          </a:prstGeom>
          <a:noFill/>
          <a:ln/>
        </p:spPr>
        <p:txBody>
          <a:bodyPr wrap="square" lIns="0" tIns="0" rIns="0" bIns="0" rtlCol="0" anchor="ctr"/>
          <a:lstStyle/>
          <a:p>
            <a:pPr algn="ctr" indent="0" marL="0">
              <a:buNone/>
            </a:pPr>
            <a:r>
              <a:rPr lang="en-US" sz="1100" b="1" dirty="0">
                <a:solidFill>
                  <a:srgbClr val="FFFFFF"/>
                </a:solidFill>
              </a:rPr>
              <a:t>Clasificacion automatica</a:t>
            </a:r>
            <a:endParaRPr lang="en-US" sz="1100" dirty="0"/>
          </a:p>
        </p:txBody>
      </p:sp>
      <p:sp>
        <p:nvSpPr>
          <p:cNvPr id="10" name="Text 8"/>
          <p:cNvSpPr/>
          <p:nvPr/>
        </p:nvSpPr>
        <p:spPr>
          <a:xfrm>
            <a:off x="411480" y="2743200"/>
            <a:ext cx="2651760" cy="1965960"/>
          </a:xfrm>
          <a:prstGeom prst="rect">
            <a:avLst/>
          </a:prstGeom>
          <a:noFill/>
          <a:ln/>
        </p:spPr>
        <p:txBody>
          <a:bodyPr wrap="square" lIns="76200" tIns="76200" rIns="76200" bIns="76200" rtlCol="0" anchor="t"/>
          <a:lstStyle/>
          <a:p>
            <a:pPr marL="342900" indent="-342900">
              <a:buSzPct val="100000"/>
              <a:buChar char="•"/>
            </a:pPr>
            <a:r>
              <a:rPr lang="en-US" sz="1150" dirty="0">
                <a:solidFill>
                  <a:srgbClr val="475569"/>
                </a:solidFill>
              </a:rPr>
              <a:t>Mailbot agrega clase 'Cobro'</a:t>
            </a:r>
            <a:endParaRPr lang="en-US" sz="1150" dirty="0"/>
          </a:p>
          <a:p>
            <a:pPr marL="342900" indent="-342900">
              <a:buSzPct val="100000"/>
              <a:buChar char="•"/>
            </a:pPr>
            <a:r>
              <a:rPr lang="en-US" sz="1150" dirty="0">
                <a:solidFill>
                  <a:srgbClr val="475569"/>
                </a:solidFill>
              </a:rPr>
              <a:t>Agente IA: asunto + cuerpo + adjuntos</a:t>
            </a:r>
            <a:endParaRPr lang="en-US" sz="1150" dirty="0"/>
          </a:p>
          <a:p>
            <a:pPr marL="342900" indent="-342900">
              <a:buSzPct val="100000"/>
              <a:buChar char="•"/>
            </a:pPr>
            <a:r>
              <a:rPr lang="en-US" sz="1150" dirty="0">
                <a:solidFill>
                  <a:srgbClr val="475569"/>
                </a:solidFill>
              </a:rPr>
              <a:t>Sin criterios configurables en UI</a:t>
            </a:r>
            <a:endParaRPr lang="en-US" sz="1150" dirty="0"/>
          </a:p>
        </p:txBody>
      </p:sp>
      <p:sp>
        <p:nvSpPr>
          <p:cNvPr id="11" name="Shape 9"/>
          <p:cNvSpPr/>
          <p:nvPr/>
        </p:nvSpPr>
        <p:spPr>
          <a:xfrm>
            <a:off x="3291840" y="2286000"/>
            <a:ext cx="2834640" cy="2468880"/>
          </a:xfrm>
          <a:prstGeom prst="rect">
            <a:avLst/>
          </a:prstGeom>
          <a:solidFill>
            <a:srgbClr val="FFFFFF"/>
          </a:solidFill>
          <a:ln w="12700">
            <a:solidFill>
              <a:srgbClr val="F97316"/>
            </a:solidFill>
            <a:prstDash val="solid"/>
          </a:ln>
          <a:effectLst>
            <a:outerShdw sx="100000" sy="100000" kx="0" ky="0" algn="bl" rotWithShape="0" blurRad="101600" dist="38100" dir="8100000">
              <a:srgbClr val="000000">
                <a:alpha val="18000"/>
              </a:srgbClr>
            </a:outerShdw>
          </a:effectLst>
        </p:spPr>
      </p:sp>
      <p:sp>
        <p:nvSpPr>
          <p:cNvPr id="12" name="Shape 10"/>
          <p:cNvSpPr/>
          <p:nvPr/>
        </p:nvSpPr>
        <p:spPr>
          <a:xfrm>
            <a:off x="3291840" y="2286000"/>
            <a:ext cx="2834640" cy="384048"/>
          </a:xfrm>
          <a:prstGeom prst="rect">
            <a:avLst/>
          </a:prstGeom>
          <a:solidFill>
            <a:srgbClr val="F97316"/>
          </a:solidFill>
          <a:ln w="12700">
            <a:solidFill>
              <a:srgbClr val="F97316"/>
            </a:solidFill>
            <a:prstDash val="solid"/>
          </a:ln>
        </p:spPr>
      </p:sp>
      <p:sp>
        <p:nvSpPr>
          <p:cNvPr id="13" name="Text 11"/>
          <p:cNvSpPr/>
          <p:nvPr/>
        </p:nvSpPr>
        <p:spPr>
          <a:xfrm>
            <a:off x="3291840" y="2286000"/>
            <a:ext cx="2834640" cy="384048"/>
          </a:xfrm>
          <a:prstGeom prst="rect">
            <a:avLst/>
          </a:prstGeom>
          <a:noFill/>
          <a:ln/>
        </p:spPr>
        <p:txBody>
          <a:bodyPr wrap="square" lIns="0" tIns="0" rIns="0" bIns="0" rtlCol="0" anchor="ctr"/>
          <a:lstStyle/>
          <a:p>
            <a:pPr algn="ctr" indent="0" marL="0">
              <a:buNone/>
            </a:pPr>
            <a:r>
              <a:rPr lang="en-US" sz="1100" b="1" dirty="0">
                <a:solidFill>
                  <a:srgbClr val="FFFFFF"/>
                </a:solidFill>
              </a:rPr>
              <a:t>Visibilidad por cobrador</a:t>
            </a:r>
            <a:endParaRPr lang="en-US" sz="1100" dirty="0"/>
          </a:p>
        </p:txBody>
      </p:sp>
      <p:sp>
        <p:nvSpPr>
          <p:cNvPr id="14" name="Text 12"/>
          <p:cNvSpPr/>
          <p:nvPr/>
        </p:nvSpPr>
        <p:spPr>
          <a:xfrm>
            <a:off x="3383280" y="2743200"/>
            <a:ext cx="2651760" cy="1965960"/>
          </a:xfrm>
          <a:prstGeom prst="rect">
            <a:avLst/>
          </a:prstGeom>
          <a:noFill/>
          <a:ln/>
        </p:spPr>
        <p:txBody>
          <a:bodyPr wrap="square" lIns="76200" tIns="76200" rIns="76200" bIns="76200" rtlCol="0" anchor="t"/>
          <a:lstStyle/>
          <a:p>
            <a:pPr marL="342900" indent="-342900">
              <a:buSzPct val="100000"/>
              <a:buChar char="•"/>
            </a:pPr>
            <a:r>
              <a:rPr lang="en-US" sz="1150" dirty="0">
                <a:solidFill>
                  <a:srgbClr val="475569"/>
                </a:solidFill>
              </a:rPr>
              <a:t>Cada gestor ve solo su cartera</a:t>
            </a:r>
            <a:endParaRPr lang="en-US" sz="1150" dirty="0"/>
          </a:p>
          <a:p>
            <a:pPr marL="342900" indent="-342900">
              <a:buSzPct val="100000"/>
              <a:buChar char="•"/>
            </a:pPr>
            <a:r>
              <a:rPr lang="en-US" sz="1150" dirty="0">
                <a:solidFill>
                  <a:srgbClr val="475569"/>
                </a:solidFill>
              </a:rPr>
              <a:t>Segregacion Mexico / Peru</a:t>
            </a:r>
            <a:endParaRPr lang="en-US" sz="1150" dirty="0"/>
          </a:p>
          <a:p>
            <a:pPr marL="342900" indent="-342900">
              <a:buSzPct val="100000"/>
              <a:buChar char="•"/>
            </a:pPr>
            <a:r>
              <a:rPr lang="en-US" sz="1150" dirty="0">
                <a:solidFill>
                  <a:srgbClr val="475569"/>
                </a:solidFill>
              </a:rPr>
              <a:t>Bandeja del Coordinador (sin gestor)</a:t>
            </a:r>
            <a:endParaRPr lang="en-US" sz="1150" dirty="0"/>
          </a:p>
        </p:txBody>
      </p:sp>
      <p:sp>
        <p:nvSpPr>
          <p:cNvPr id="15" name="Shape 13"/>
          <p:cNvSpPr/>
          <p:nvPr/>
        </p:nvSpPr>
        <p:spPr>
          <a:xfrm>
            <a:off x="6263640" y="2286000"/>
            <a:ext cx="2834640" cy="2468880"/>
          </a:xfrm>
          <a:prstGeom prst="rect">
            <a:avLst/>
          </a:prstGeom>
          <a:solidFill>
            <a:srgbClr val="FFFFFF"/>
          </a:solidFill>
          <a:ln w="12700">
            <a:solidFill>
              <a:srgbClr val="7C3AED"/>
            </a:solidFill>
            <a:prstDash val="solid"/>
          </a:ln>
          <a:effectLst>
            <a:outerShdw sx="100000" sy="100000" kx="0" ky="0" algn="bl" rotWithShape="0" blurRad="101600" dist="38100" dir="8100000">
              <a:srgbClr val="000000">
                <a:alpha val="18000"/>
              </a:srgbClr>
            </a:outerShdw>
          </a:effectLst>
        </p:spPr>
      </p:sp>
      <p:sp>
        <p:nvSpPr>
          <p:cNvPr id="16" name="Shape 14"/>
          <p:cNvSpPr/>
          <p:nvPr/>
        </p:nvSpPr>
        <p:spPr>
          <a:xfrm>
            <a:off x="6263640" y="2286000"/>
            <a:ext cx="2834640" cy="384048"/>
          </a:xfrm>
          <a:prstGeom prst="rect">
            <a:avLst/>
          </a:prstGeom>
          <a:solidFill>
            <a:srgbClr val="7C3AED"/>
          </a:solidFill>
          <a:ln w="12700">
            <a:solidFill>
              <a:srgbClr val="7C3AED"/>
            </a:solidFill>
            <a:prstDash val="solid"/>
          </a:ln>
        </p:spPr>
      </p:sp>
      <p:sp>
        <p:nvSpPr>
          <p:cNvPr id="17" name="Text 15"/>
          <p:cNvSpPr/>
          <p:nvPr/>
        </p:nvSpPr>
        <p:spPr>
          <a:xfrm>
            <a:off x="6263640" y="2286000"/>
            <a:ext cx="2834640" cy="384048"/>
          </a:xfrm>
          <a:prstGeom prst="rect">
            <a:avLst/>
          </a:prstGeom>
          <a:noFill/>
          <a:ln/>
        </p:spPr>
        <p:txBody>
          <a:bodyPr wrap="square" lIns="0" tIns="0" rIns="0" bIns="0" rtlCol="0" anchor="ctr"/>
          <a:lstStyle/>
          <a:p>
            <a:pPr algn="ctr" indent="0" marL="0">
              <a:buNone/>
            </a:pPr>
            <a:r>
              <a:rPr lang="en-US" sz="1100" b="1" dirty="0">
                <a:solidFill>
                  <a:srgbClr val="FFFFFF"/>
                </a:solidFill>
              </a:rPr>
              <a:t>Ciclo de vida automatico</a:t>
            </a:r>
            <a:endParaRPr lang="en-US" sz="1100" dirty="0"/>
          </a:p>
        </p:txBody>
      </p:sp>
      <p:sp>
        <p:nvSpPr>
          <p:cNvPr id="18" name="Text 16"/>
          <p:cNvSpPr/>
          <p:nvPr/>
        </p:nvSpPr>
        <p:spPr>
          <a:xfrm>
            <a:off x="6355080" y="2743200"/>
            <a:ext cx="2651760" cy="1965960"/>
          </a:xfrm>
          <a:prstGeom prst="rect">
            <a:avLst/>
          </a:prstGeom>
          <a:noFill/>
          <a:ln/>
        </p:spPr>
        <p:txBody>
          <a:bodyPr wrap="square" lIns="76200" tIns="76200" rIns="76200" bIns="76200" rtlCol="0" anchor="t"/>
          <a:lstStyle/>
          <a:p>
            <a:pPr marL="342900" indent="-342900">
              <a:buSzPct val="100000"/>
              <a:buChar char="•"/>
            </a:pPr>
            <a:r>
              <a:rPr lang="en-US" sz="1150" dirty="0">
                <a:solidFill>
                  <a:srgbClr val="475569"/>
                </a:solidFill>
              </a:rPr>
              <a:t>Pendiente en Validar Cobro al llegar</a:t>
            </a:r>
            <a:endParaRPr lang="en-US" sz="1150" dirty="0"/>
          </a:p>
          <a:p>
            <a:pPr marL="342900" indent="-342900">
              <a:buSzPct val="100000"/>
              <a:buChar char="•"/>
            </a:pPr>
            <a:r>
              <a:rPr lang="en-US" sz="1150" dirty="0">
                <a:solidFill>
                  <a:srgbClr val="475569"/>
                </a:solidFill>
              </a:rPr>
              <a:t>Cierre al vincular proforma/factura</a:t>
            </a:r>
            <a:endParaRPr lang="en-US" sz="1150" dirty="0"/>
          </a:p>
          <a:p>
            <a:pPr marL="342900" indent="-342900">
              <a:buSzPct val="100000"/>
              <a:buChar char="•"/>
            </a:pPr>
            <a:r>
              <a:rPr lang="en-US" sz="1150" dirty="0">
                <a:solidFill>
                  <a:srgbClr val="475569"/>
                </a:solidFill>
              </a:rPr>
              <a:t>Eliminacion al marcar inconsistencia</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D1B2A"/>
          </a:solidFill>
          <a:ln w="12700">
            <a:solidFill>
              <a:srgbClr val="0D1B2A"/>
            </a:solidFill>
            <a:prstDash val="solid"/>
          </a:ln>
        </p:spPr>
      </p:sp>
      <p:sp>
        <p:nvSpPr>
          <p:cNvPr id="3" name="Shape 1"/>
          <p:cNvSpPr/>
          <p:nvPr/>
        </p:nvSpPr>
        <p:spPr>
          <a:xfrm>
            <a:off x="0" y="0"/>
            <a:ext cx="320040" cy="777240"/>
          </a:xfrm>
          <a:prstGeom prst="rect">
            <a:avLst/>
          </a:prstGeom>
          <a:solidFill>
            <a:srgbClr val="F97316"/>
          </a:solidFill>
          <a:ln w="12700">
            <a:solidFill>
              <a:srgbClr val="F97316"/>
            </a:solidFill>
            <a:prstDash val="solid"/>
          </a:ln>
        </p:spPr>
      </p:sp>
      <p:sp>
        <p:nvSpPr>
          <p:cNvPr id="4" name="Text 2"/>
          <p:cNvSpPr/>
          <p:nvPr/>
        </p:nvSpPr>
        <p:spPr>
          <a:xfrm>
            <a:off x="502920" y="0"/>
            <a:ext cx="8503920" cy="777240"/>
          </a:xfrm>
          <a:prstGeom prst="rect">
            <a:avLst/>
          </a:prstGeom>
          <a:noFill/>
          <a:ln/>
        </p:spPr>
        <p:txBody>
          <a:bodyPr wrap="square" lIns="0" tIns="0" rIns="0" bIns="0" rtlCol="0" anchor="ctr"/>
          <a:lstStyle/>
          <a:p>
            <a:pPr indent="0" marL="0">
              <a:buNone/>
            </a:pPr>
            <a:r>
              <a:rPr lang="en-US" sz="2200" b="1" dirty="0">
                <a:solidFill>
                  <a:srgbClr val="FFFFFF"/>
                </a:solidFill>
              </a:rPr>
              <a:t>Problema: Estado Actual del Mailbot</a:t>
            </a:r>
            <a:endParaRPr lang="en-US" sz="2200" dirty="0"/>
          </a:p>
        </p:txBody>
      </p:sp>
      <p:sp>
        <p:nvSpPr>
          <p:cNvPr id="5" name="Shape 3"/>
          <p:cNvSpPr/>
          <p:nvPr/>
        </p:nvSpPr>
        <p:spPr>
          <a:xfrm>
            <a:off x="320040" y="914400"/>
            <a:ext cx="2926080" cy="3840480"/>
          </a:xfrm>
          <a:prstGeom prst="rect">
            <a:avLst/>
          </a:prstGeom>
          <a:solidFill>
            <a:srgbClr val="1A3A5C"/>
          </a:solidFill>
          <a:ln w="12700">
            <a:solidFill>
              <a:srgbClr val="1A3A5C"/>
            </a:solidFill>
            <a:prstDash val="solid"/>
          </a:ln>
          <a:effectLst>
            <a:outerShdw sx="100000" sy="100000" kx="0" ky="0" algn="bl" rotWithShape="0" blurRad="101600" dist="38100" dir="8100000">
              <a:srgbClr val="000000">
                <a:alpha val="18000"/>
              </a:srgbClr>
            </a:outerShdw>
          </a:effectLst>
        </p:spPr>
      </p:sp>
      <p:sp>
        <p:nvSpPr>
          <p:cNvPr id="6" name="Text 4"/>
          <p:cNvSpPr/>
          <p:nvPr/>
        </p:nvSpPr>
        <p:spPr>
          <a:xfrm>
            <a:off x="320040" y="914400"/>
            <a:ext cx="2926080" cy="347472"/>
          </a:xfrm>
          <a:prstGeom prst="rect">
            <a:avLst/>
          </a:prstGeom>
          <a:noFill/>
          <a:ln/>
        </p:spPr>
        <p:txBody>
          <a:bodyPr wrap="square" lIns="0" tIns="0" rIns="0" bIns="0" rtlCol="0" anchor="ctr"/>
          <a:lstStyle/>
          <a:p>
            <a:pPr algn="ctr" indent="0" marL="0">
              <a:buNone/>
            </a:pPr>
            <a:r>
              <a:rPr lang="en-US" sz="1100" b="1" dirty="0">
                <a:solidFill>
                  <a:srgbClr val="14B8A6"/>
                </a:solidFill>
              </a:rPr>
              <a:t>Stack Actual</a:t>
            </a:r>
            <a:endParaRPr lang="en-US" sz="1100" dirty="0"/>
          </a:p>
        </p:txBody>
      </p:sp>
      <p:sp>
        <p:nvSpPr>
          <p:cNvPr id="7" name="Shape 5"/>
          <p:cNvSpPr/>
          <p:nvPr/>
        </p:nvSpPr>
        <p:spPr>
          <a:xfrm>
            <a:off x="411480" y="1325880"/>
            <a:ext cx="2743200" cy="438912"/>
          </a:xfrm>
          <a:prstGeom prst="rect">
            <a:avLst/>
          </a:prstGeom>
          <a:solidFill>
            <a:srgbClr val="1F4172"/>
          </a:solidFill>
          <a:ln w="12700">
            <a:solidFill>
              <a:srgbClr val="1F4172"/>
            </a:solidFill>
            <a:prstDash val="solid"/>
          </a:ln>
        </p:spPr>
      </p:sp>
      <p:sp>
        <p:nvSpPr>
          <p:cNvPr id="8" name="Text 6"/>
          <p:cNvSpPr/>
          <p:nvPr/>
        </p:nvSpPr>
        <p:spPr>
          <a:xfrm>
            <a:off x="457200" y="1325880"/>
            <a:ext cx="2651760" cy="438912"/>
          </a:xfrm>
          <a:prstGeom prst="rect">
            <a:avLst/>
          </a:prstGeom>
          <a:noFill/>
          <a:ln/>
        </p:spPr>
        <p:txBody>
          <a:bodyPr wrap="square" lIns="0" tIns="76200" rIns="76200" bIns="0" rtlCol="0" anchor="ctr"/>
          <a:lstStyle/>
          <a:p>
            <a:pPr indent="0" marL="0">
              <a:buNone/>
            </a:pPr>
            <a:r>
              <a:rPr lang="en-US" sz="1050" b="1" dirty="0">
                <a:solidFill>
                  <a:srgbClr val="14B8A6"/>
                </a:solidFill>
              </a:rPr>
              <a:t>Framework: </a:t>
            </a:r>
            <a:pPr indent="0" marL="0">
              <a:buNone/>
            </a:pPr>
            <a:r>
              <a:rPr lang="en-US" sz="1050" dirty="0">
                <a:solidFill>
                  <a:srgbClr val="FFFFFF"/>
                </a:solidFill>
              </a:rPr>
              <a:t>.NET 4.8 — consola</a:t>
            </a:r>
            <a:endParaRPr lang="en-US" sz="1050" dirty="0"/>
          </a:p>
        </p:txBody>
      </p:sp>
      <p:sp>
        <p:nvSpPr>
          <p:cNvPr id="9" name="Shape 7"/>
          <p:cNvSpPr/>
          <p:nvPr/>
        </p:nvSpPr>
        <p:spPr>
          <a:xfrm>
            <a:off x="411480" y="1837944"/>
            <a:ext cx="2743200" cy="438912"/>
          </a:xfrm>
          <a:prstGeom prst="rect">
            <a:avLst/>
          </a:prstGeom>
          <a:solidFill>
            <a:srgbClr val="1F4172"/>
          </a:solidFill>
          <a:ln w="12700">
            <a:solidFill>
              <a:srgbClr val="1F4172"/>
            </a:solidFill>
            <a:prstDash val="solid"/>
          </a:ln>
        </p:spPr>
      </p:sp>
      <p:sp>
        <p:nvSpPr>
          <p:cNvPr id="10" name="Text 8"/>
          <p:cNvSpPr/>
          <p:nvPr/>
        </p:nvSpPr>
        <p:spPr>
          <a:xfrm>
            <a:off x="457200" y="1837944"/>
            <a:ext cx="2651760" cy="438912"/>
          </a:xfrm>
          <a:prstGeom prst="rect">
            <a:avLst/>
          </a:prstGeom>
          <a:noFill/>
          <a:ln/>
        </p:spPr>
        <p:txBody>
          <a:bodyPr wrap="square" lIns="0" tIns="76200" rIns="76200" bIns="0" rtlCol="0" anchor="ctr"/>
          <a:lstStyle/>
          <a:p>
            <a:pPr indent="0" marL="0">
              <a:buNone/>
            </a:pPr>
            <a:r>
              <a:rPr lang="en-US" sz="1050" b="1" dirty="0">
                <a:solidFill>
                  <a:srgbClr val="14B8A6"/>
                </a:solidFill>
              </a:rPr>
              <a:t>Ejecucion: </a:t>
            </a:r>
            <a:pPr indent="0" marL="0">
              <a:buNone/>
            </a:pPr>
            <a:r>
              <a:rPr lang="en-US" sz="1050" dirty="0">
                <a:solidFill>
                  <a:srgbClr val="FFFFFF"/>
                </a:solidFill>
              </a:rPr>
              <a:t>Task Scheduler (polling)</a:t>
            </a:r>
            <a:endParaRPr lang="en-US" sz="1050" dirty="0"/>
          </a:p>
        </p:txBody>
      </p:sp>
      <p:sp>
        <p:nvSpPr>
          <p:cNvPr id="11" name="Shape 9"/>
          <p:cNvSpPr/>
          <p:nvPr/>
        </p:nvSpPr>
        <p:spPr>
          <a:xfrm>
            <a:off x="411480" y="2350008"/>
            <a:ext cx="2743200" cy="438912"/>
          </a:xfrm>
          <a:prstGeom prst="rect">
            <a:avLst/>
          </a:prstGeom>
          <a:solidFill>
            <a:srgbClr val="1F4172"/>
          </a:solidFill>
          <a:ln w="12700">
            <a:solidFill>
              <a:srgbClr val="1F4172"/>
            </a:solidFill>
            <a:prstDash val="solid"/>
          </a:ln>
        </p:spPr>
      </p:sp>
      <p:sp>
        <p:nvSpPr>
          <p:cNvPr id="12" name="Text 10"/>
          <p:cNvSpPr/>
          <p:nvPr/>
        </p:nvSpPr>
        <p:spPr>
          <a:xfrm>
            <a:off x="457200" y="2350008"/>
            <a:ext cx="2651760" cy="438912"/>
          </a:xfrm>
          <a:prstGeom prst="rect">
            <a:avLst/>
          </a:prstGeom>
          <a:noFill/>
          <a:ln/>
        </p:spPr>
        <p:txBody>
          <a:bodyPr wrap="square" lIns="0" tIns="76200" rIns="76200" bIns="0" rtlCol="0" anchor="ctr"/>
          <a:lstStyle/>
          <a:p>
            <a:pPr indent="0" marL="0">
              <a:buNone/>
            </a:pPr>
            <a:r>
              <a:rPr lang="en-US" sz="1050" b="1" dirty="0">
                <a:solidFill>
                  <a:srgbClr val="14B8A6"/>
                </a:solidFill>
              </a:rPr>
              <a:t>Clasificador: </a:t>
            </a:r>
            <a:pPr indent="0" marL="0">
              <a:buNone/>
            </a:pPr>
            <a:r>
              <a:rPr lang="en-US" sz="1050" dirty="0">
                <a:solidFill>
                  <a:srgbClr val="FFFFFF"/>
                </a:solidFill>
              </a:rPr>
              <a:t>ML.NET 1.5.4 estatico</a:t>
            </a:r>
            <a:endParaRPr lang="en-US" sz="1050" dirty="0"/>
          </a:p>
        </p:txBody>
      </p:sp>
      <p:sp>
        <p:nvSpPr>
          <p:cNvPr id="13" name="Shape 11"/>
          <p:cNvSpPr/>
          <p:nvPr/>
        </p:nvSpPr>
        <p:spPr>
          <a:xfrm>
            <a:off x="411480" y="2862072"/>
            <a:ext cx="2743200" cy="438912"/>
          </a:xfrm>
          <a:prstGeom prst="rect">
            <a:avLst/>
          </a:prstGeom>
          <a:solidFill>
            <a:srgbClr val="1F4172"/>
          </a:solidFill>
          <a:ln w="12700">
            <a:solidFill>
              <a:srgbClr val="1F4172"/>
            </a:solidFill>
            <a:prstDash val="solid"/>
          </a:ln>
        </p:spPr>
      </p:sp>
      <p:sp>
        <p:nvSpPr>
          <p:cNvPr id="14" name="Text 12"/>
          <p:cNvSpPr/>
          <p:nvPr/>
        </p:nvSpPr>
        <p:spPr>
          <a:xfrm>
            <a:off x="457200" y="2862072"/>
            <a:ext cx="2651760" cy="438912"/>
          </a:xfrm>
          <a:prstGeom prst="rect">
            <a:avLst/>
          </a:prstGeom>
          <a:noFill/>
          <a:ln/>
        </p:spPr>
        <p:txBody>
          <a:bodyPr wrap="square" lIns="0" tIns="76200" rIns="76200" bIns="0" rtlCol="0" anchor="ctr"/>
          <a:lstStyle/>
          <a:p>
            <a:pPr indent="0" marL="0">
              <a:buNone/>
            </a:pPr>
            <a:r>
              <a:rPr lang="en-US" sz="1050" b="1" dirty="0">
                <a:solidFill>
                  <a:srgbClr val="14B8A6"/>
                </a:solidFill>
              </a:rPr>
              <a:t>Lectura: </a:t>
            </a:r>
            <a:pPr indent="0" marL="0">
              <a:buNone/>
            </a:pPr>
            <a:r>
              <a:rPr lang="en-US" sz="1050" dirty="0">
                <a:solidFill>
                  <a:srgbClr val="FFFFFF"/>
                </a:solidFill>
              </a:rPr>
              <a:t>Gmail API polling</a:t>
            </a:r>
            <a:endParaRPr lang="en-US" sz="1050" dirty="0"/>
          </a:p>
        </p:txBody>
      </p:sp>
      <p:sp>
        <p:nvSpPr>
          <p:cNvPr id="15" name="Shape 13"/>
          <p:cNvSpPr/>
          <p:nvPr/>
        </p:nvSpPr>
        <p:spPr>
          <a:xfrm>
            <a:off x="411480" y="3374136"/>
            <a:ext cx="2743200" cy="438912"/>
          </a:xfrm>
          <a:prstGeom prst="rect">
            <a:avLst/>
          </a:prstGeom>
          <a:solidFill>
            <a:srgbClr val="1F4172"/>
          </a:solidFill>
          <a:ln w="12700">
            <a:solidFill>
              <a:srgbClr val="1F4172"/>
            </a:solidFill>
            <a:prstDash val="solid"/>
          </a:ln>
        </p:spPr>
      </p:sp>
      <p:sp>
        <p:nvSpPr>
          <p:cNvPr id="16" name="Text 14"/>
          <p:cNvSpPr/>
          <p:nvPr/>
        </p:nvSpPr>
        <p:spPr>
          <a:xfrm>
            <a:off x="457200" y="3374136"/>
            <a:ext cx="2651760" cy="438912"/>
          </a:xfrm>
          <a:prstGeom prst="rect">
            <a:avLst/>
          </a:prstGeom>
          <a:noFill/>
          <a:ln/>
        </p:spPr>
        <p:txBody>
          <a:bodyPr wrap="square" lIns="0" tIns="76200" rIns="76200" bIns="0" rtlCol="0" anchor="ctr"/>
          <a:lstStyle/>
          <a:p>
            <a:pPr indent="0" marL="0">
              <a:buNone/>
            </a:pPr>
            <a:r>
              <a:rPr lang="en-US" sz="1050" b="1" dirty="0">
                <a:solidFill>
                  <a:srgbClr val="14B8A6"/>
                </a:solidFill>
              </a:rPr>
              <a:t>Adjuntos: </a:t>
            </a:r>
            <a:pPr indent="0" marL="0">
              <a:buNone/>
            </a:pPr>
            <a:r>
              <a:rPr lang="en-US" sz="1050" dirty="0">
                <a:solidFill>
                  <a:srgbClr val="FFFFFF"/>
                </a:solidFill>
              </a:rPr>
              <a:t>Sin MinIO</a:t>
            </a:r>
            <a:endParaRPr lang="en-US" sz="1050" dirty="0"/>
          </a:p>
        </p:txBody>
      </p:sp>
      <p:sp>
        <p:nvSpPr>
          <p:cNvPr id="17" name="Shape 15"/>
          <p:cNvSpPr/>
          <p:nvPr/>
        </p:nvSpPr>
        <p:spPr>
          <a:xfrm>
            <a:off x="411480" y="3886200"/>
            <a:ext cx="2743200" cy="438912"/>
          </a:xfrm>
          <a:prstGeom prst="rect">
            <a:avLst/>
          </a:prstGeom>
          <a:solidFill>
            <a:srgbClr val="1F4172"/>
          </a:solidFill>
          <a:ln w="12700">
            <a:solidFill>
              <a:srgbClr val="1F4172"/>
            </a:solidFill>
            <a:prstDash val="solid"/>
          </a:ln>
        </p:spPr>
      </p:sp>
      <p:sp>
        <p:nvSpPr>
          <p:cNvPr id="18" name="Text 16"/>
          <p:cNvSpPr/>
          <p:nvPr/>
        </p:nvSpPr>
        <p:spPr>
          <a:xfrm>
            <a:off x="457200" y="3886200"/>
            <a:ext cx="2651760" cy="438912"/>
          </a:xfrm>
          <a:prstGeom prst="rect">
            <a:avLst/>
          </a:prstGeom>
          <a:noFill/>
          <a:ln/>
        </p:spPr>
        <p:txBody>
          <a:bodyPr wrap="square" lIns="0" tIns="76200" rIns="76200" bIns="0" rtlCol="0" anchor="ctr"/>
          <a:lstStyle/>
          <a:p>
            <a:pPr indent="0" marL="0">
              <a:buNone/>
            </a:pPr>
            <a:r>
              <a:rPr lang="en-US" sz="1050" b="1" dirty="0">
                <a:solidFill>
                  <a:srgbClr val="14B8A6"/>
                </a:solidFill>
              </a:rPr>
              <a:t>Notif.: </a:t>
            </a:r>
            <a:pPr indent="0" marL="0">
              <a:buNone/>
            </a:pPr>
            <a:r>
              <a:rPr lang="en-US" sz="1050" dirty="0">
                <a:solidFill>
                  <a:srgbClr val="FFFFFF"/>
                </a:solidFill>
              </a:rPr>
              <a:t>Solo log local</a:t>
            </a:r>
            <a:endParaRPr lang="en-US" sz="1050" dirty="0"/>
          </a:p>
        </p:txBody>
      </p:sp>
      <p:sp>
        <p:nvSpPr>
          <p:cNvPr id="19" name="Shape 17"/>
          <p:cNvSpPr/>
          <p:nvPr/>
        </p:nvSpPr>
        <p:spPr>
          <a:xfrm>
            <a:off x="3520440" y="960120"/>
            <a:ext cx="5303520" cy="685800"/>
          </a:xfrm>
          <a:prstGeom prst="rect">
            <a:avLst/>
          </a:prstGeom>
          <a:solidFill>
            <a:srgbClr val="FFFFFF"/>
          </a:solidFill>
          <a:ln w="19050">
            <a:solidFill>
              <a:srgbClr val="DC2626"/>
            </a:solidFill>
            <a:prstDash val="solid"/>
          </a:ln>
          <a:effectLst>
            <a:outerShdw sx="100000" sy="100000" kx="0" ky="0" algn="bl" rotWithShape="0" blurRad="101600" dist="38100" dir="8100000">
              <a:srgbClr val="000000">
                <a:alpha val="18000"/>
              </a:srgbClr>
            </a:outerShdw>
          </a:effectLst>
        </p:spPr>
      </p:sp>
      <p:sp>
        <p:nvSpPr>
          <p:cNvPr id="20" name="Shape 18"/>
          <p:cNvSpPr/>
          <p:nvPr/>
        </p:nvSpPr>
        <p:spPr>
          <a:xfrm>
            <a:off x="3520440" y="960120"/>
            <a:ext cx="502920" cy="685800"/>
          </a:xfrm>
          <a:prstGeom prst="rect">
            <a:avLst/>
          </a:prstGeom>
          <a:solidFill>
            <a:srgbClr val="DC2626"/>
          </a:solidFill>
          <a:ln w="12700">
            <a:solidFill>
              <a:srgbClr val="DC2626"/>
            </a:solidFill>
            <a:prstDash val="solid"/>
          </a:ln>
        </p:spPr>
      </p:sp>
      <p:sp>
        <p:nvSpPr>
          <p:cNvPr id="21" name="Text 19"/>
          <p:cNvSpPr/>
          <p:nvPr/>
        </p:nvSpPr>
        <p:spPr>
          <a:xfrm>
            <a:off x="3520440" y="960120"/>
            <a:ext cx="502920" cy="685800"/>
          </a:xfrm>
          <a:prstGeom prst="rect">
            <a:avLst/>
          </a:prstGeom>
          <a:noFill/>
          <a:ln/>
        </p:spPr>
        <p:txBody>
          <a:bodyPr wrap="square" lIns="0" tIns="0" rIns="0" bIns="0" rtlCol="0" anchor="ctr"/>
          <a:lstStyle/>
          <a:p>
            <a:pPr algn="ctr" indent="0" marL="0">
              <a:buNone/>
            </a:pPr>
            <a:r>
              <a:rPr lang="en-US" sz="900" b="1" dirty="0">
                <a:solidFill>
                  <a:srgbClr val="FFFFFF"/>
                </a:solidFill>
              </a:rPr>
              <a:t>L1</a:t>
            </a:r>
            <a:endParaRPr lang="en-US" sz="900" dirty="0"/>
          </a:p>
        </p:txBody>
      </p:sp>
      <p:sp>
        <p:nvSpPr>
          <p:cNvPr id="22" name="Text 20"/>
          <p:cNvSpPr/>
          <p:nvPr/>
        </p:nvSpPr>
        <p:spPr>
          <a:xfrm>
            <a:off x="4114800" y="960120"/>
            <a:ext cx="4572000" cy="320040"/>
          </a:xfrm>
          <a:prstGeom prst="rect">
            <a:avLst/>
          </a:prstGeom>
          <a:noFill/>
          <a:ln/>
        </p:spPr>
        <p:txBody>
          <a:bodyPr wrap="square" lIns="0" tIns="0" rIns="0" bIns="0" rtlCol="0" anchor="b"/>
          <a:lstStyle/>
          <a:p>
            <a:pPr indent="0" marL="0">
              <a:buNone/>
            </a:pPr>
            <a:r>
              <a:rPr lang="en-US" sz="1100" b="1" dirty="0">
                <a:solidFill>
                  <a:srgbClr val="0D1B2A"/>
                </a:solidFill>
              </a:rPr>
              <a:t>Latencia por polling</a:t>
            </a:r>
            <a:endParaRPr lang="en-US" sz="1100" dirty="0"/>
          </a:p>
        </p:txBody>
      </p:sp>
      <p:sp>
        <p:nvSpPr>
          <p:cNvPr id="23" name="Text 21"/>
          <p:cNvSpPr/>
          <p:nvPr/>
        </p:nvSpPr>
        <p:spPr>
          <a:xfrm>
            <a:off x="4114800" y="1289304"/>
            <a:ext cx="4572000" cy="256032"/>
          </a:xfrm>
          <a:prstGeom prst="rect">
            <a:avLst/>
          </a:prstGeom>
          <a:noFill/>
          <a:ln/>
        </p:spPr>
        <p:txBody>
          <a:bodyPr wrap="square" lIns="0" tIns="0" rIns="0" bIns="0" rtlCol="0" anchor="t"/>
          <a:lstStyle/>
          <a:p>
            <a:pPr indent="0" marL="0">
              <a:buNone/>
            </a:pPr>
            <a:r>
              <a:rPr lang="en-US" sz="950" dirty="0">
                <a:solidFill>
                  <a:srgbClr val="475569"/>
                </a:solidFill>
              </a:rPr>
              <a:t>Task Scheduler — minutos entre correo y clasificacion</a:t>
            </a:r>
            <a:endParaRPr lang="en-US" sz="950" dirty="0"/>
          </a:p>
        </p:txBody>
      </p:sp>
      <p:sp>
        <p:nvSpPr>
          <p:cNvPr id="24" name="Shape 22"/>
          <p:cNvSpPr/>
          <p:nvPr/>
        </p:nvSpPr>
        <p:spPr>
          <a:xfrm>
            <a:off x="3520440" y="1719072"/>
            <a:ext cx="5303520" cy="685800"/>
          </a:xfrm>
          <a:prstGeom prst="rect">
            <a:avLst/>
          </a:prstGeom>
          <a:solidFill>
            <a:srgbClr val="FFFFFF"/>
          </a:solidFill>
          <a:ln w="19050">
            <a:solidFill>
              <a:srgbClr val="D97706"/>
            </a:solidFill>
            <a:prstDash val="solid"/>
          </a:ln>
          <a:effectLst>
            <a:outerShdw sx="100000" sy="100000" kx="0" ky="0" algn="bl" rotWithShape="0" blurRad="101600" dist="38100" dir="8100000">
              <a:srgbClr val="000000">
                <a:alpha val="18000"/>
              </a:srgbClr>
            </a:outerShdw>
          </a:effectLst>
        </p:spPr>
      </p:sp>
      <p:sp>
        <p:nvSpPr>
          <p:cNvPr id="25" name="Shape 23"/>
          <p:cNvSpPr/>
          <p:nvPr/>
        </p:nvSpPr>
        <p:spPr>
          <a:xfrm>
            <a:off x="3520440" y="1719072"/>
            <a:ext cx="502920" cy="685800"/>
          </a:xfrm>
          <a:prstGeom prst="rect">
            <a:avLst/>
          </a:prstGeom>
          <a:solidFill>
            <a:srgbClr val="D97706"/>
          </a:solidFill>
          <a:ln w="12700">
            <a:solidFill>
              <a:srgbClr val="D97706"/>
            </a:solidFill>
            <a:prstDash val="solid"/>
          </a:ln>
        </p:spPr>
      </p:sp>
      <p:sp>
        <p:nvSpPr>
          <p:cNvPr id="26" name="Text 24"/>
          <p:cNvSpPr/>
          <p:nvPr/>
        </p:nvSpPr>
        <p:spPr>
          <a:xfrm>
            <a:off x="3520440" y="1719072"/>
            <a:ext cx="502920" cy="685800"/>
          </a:xfrm>
          <a:prstGeom prst="rect">
            <a:avLst/>
          </a:prstGeom>
          <a:noFill/>
          <a:ln/>
        </p:spPr>
        <p:txBody>
          <a:bodyPr wrap="square" lIns="0" tIns="0" rIns="0" bIns="0" rtlCol="0" anchor="ctr"/>
          <a:lstStyle/>
          <a:p>
            <a:pPr algn="ctr" indent="0" marL="0">
              <a:buNone/>
            </a:pPr>
            <a:r>
              <a:rPr lang="en-US" sz="900" b="1" dirty="0">
                <a:solidFill>
                  <a:srgbClr val="FFFFFF"/>
                </a:solidFill>
              </a:rPr>
              <a:t>L2</a:t>
            </a:r>
            <a:endParaRPr lang="en-US" sz="900" dirty="0"/>
          </a:p>
        </p:txBody>
      </p:sp>
      <p:sp>
        <p:nvSpPr>
          <p:cNvPr id="27" name="Text 25"/>
          <p:cNvSpPr/>
          <p:nvPr/>
        </p:nvSpPr>
        <p:spPr>
          <a:xfrm>
            <a:off x="4114800" y="1719072"/>
            <a:ext cx="4572000" cy="320040"/>
          </a:xfrm>
          <a:prstGeom prst="rect">
            <a:avLst/>
          </a:prstGeom>
          <a:noFill/>
          <a:ln/>
        </p:spPr>
        <p:txBody>
          <a:bodyPr wrap="square" lIns="0" tIns="0" rIns="0" bIns="0" rtlCol="0" anchor="b"/>
          <a:lstStyle/>
          <a:p>
            <a:pPr indent="0" marL="0">
              <a:buNone/>
            </a:pPr>
            <a:r>
              <a:rPr lang="en-US" sz="1100" b="1" dirty="0">
                <a:solidFill>
                  <a:srgbClr val="0D1B2A"/>
                </a:solidFill>
              </a:rPr>
              <a:t>Modelo ML.NET estatico</a:t>
            </a:r>
            <a:endParaRPr lang="en-US" sz="1100" dirty="0"/>
          </a:p>
        </p:txBody>
      </p:sp>
      <p:sp>
        <p:nvSpPr>
          <p:cNvPr id="28" name="Text 26"/>
          <p:cNvSpPr/>
          <p:nvPr/>
        </p:nvSpPr>
        <p:spPr>
          <a:xfrm>
            <a:off x="4114800" y="2048256"/>
            <a:ext cx="4572000" cy="256032"/>
          </a:xfrm>
          <a:prstGeom prst="rect">
            <a:avLst/>
          </a:prstGeom>
          <a:noFill/>
          <a:ln/>
        </p:spPr>
        <p:txBody>
          <a:bodyPr wrap="square" lIns="0" tIns="0" rIns="0" bIns="0" rtlCol="0" anchor="t"/>
          <a:lstStyle/>
          <a:p>
            <a:pPr indent="0" marL="0">
              <a:buNone/>
            </a:pPr>
            <a:r>
              <a:rPr lang="en-US" sz="950" dirty="0">
                <a:solidFill>
                  <a:srgbClr val="475569"/>
                </a:solidFill>
              </a:rPr>
              <a:t>Reentrenamiento manual costoso; no mejora solo</a:t>
            </a:r>
            <a:endParaRPr lang="en-US" sz="950" dirty="0"/>
          </a:p>
        </p:txBody>
      </p:sp>
      <p:sp>
        <p:nvSpPr>
          <p:cNvPr id="29" name="Shape 27"/>
          <p:cNvSpPr/>
          <p:nvPr/>
        </p:nvSpPr>
        <p:spPr>
          <a:xfrm>
            <a:off x="3520440" y="2478024"/>
            <a:ext cx="5303520" cy="685800"/>
          </a:xfrm>
          <a:prstGeom prst="rect">
            <a:avLst/>
          </a:prstGeom>
          <a:solidFill>
            <a:srgbClr val="FFFFFF"/>
          </a:solidFill>
          <a:ln w="19050">
            <a:solidFill>
              <a:srgbClr val="DC2626"/>
            </a:solidFill>
            <a:prstDash val="solid"/>
          </a:ln>
          <a:effectLst>
            <a:outerShdw sx="100000" sy="100000" kx="0" ky="0" algn="bl" rotWithShape="0" blurRad="101600" dist="38100" dir="8100000">
              <a:srgbClr val="000000">
                <a:alpha val="18000"/>
              </a:srgbClr>
            </a:outerShdw>
          </a:effectLst>
        </p:spPr>
      </p:sp>
      <p:sp>
        <p:nvSpPr>
          <p:cNvPr id="30" name="Shape 28"/>
          <p:cNvSpPr/>
          <p:nvPr/>
        </p:nvSpPr>
        <p:spPr>
          <a:xfrm>
            <a:off x="3520440" y="2478024"/>
            <a:ext cx="502920" cy="685800"/>
          </a:xfrm>
          <a:prstGeom prst="rect">
            <a:avLst/>
          </a:prstGeom>
          <a:solidFill>
            <a:srgbClr val="DC2626"/>
          </a:solidFill>
          <a:ln w="12700">
            <a:solidFill>
              <a:srgbClr val="DC2626"/>
            </a:solidFill>
            <a:prstDash val="solid"/>
          </a:ln>
        </p:spPr>
      </p:sp>
      <p:sp>
        <p:nvSpPr>
          <p:cNvPr id="31" name="Text 29"/>
          <p:cNvSpPr/>
          <p:nvPr/>
        </p:nvSpPr>
        <p:spPr>
          <a:xfrm>
            <a:off x="3520440" y="2478024"/>
            <a:ext cx="502920" cy="685800"/>
          </a:xfrm>
          <a:prstGeom prst="rect">
            <a:avLst/>
          </a:prstGeom>
          <a:noFill/>
          <a:ln/>
        </p:spPr>
        <p:txBody>
          <a:bodyPr wrap="square" lIns="0" tIns="0" rIns="0" bIns="0" rtlCol="0" anchor="ctr"/>
          <a:lstStyle/>
          <a:p>
            <a:pPr algn="ctr" indent="0" marL="0">
              <a:buNone/>
            </a:pPr>
            <a:r>
              <a:rPr lang="en-US" sz="900" b="1" dirty="0">
                <a:solidFill>
                  <a:srgbClr val="FFFFFF"/>
                </a:solidFill>
              </a:rPr>
              <a:t>L3</a:t>
            </a:r>
            <a:endParaRPr lang="en-US" sz="900" dirty="0"/>
          </a:p>
        </p:txBody>
      </p:sp>
      <p:sp>
        <p:nvSpPr>
          <p:cNvPr id="32" name="Text 30"/>
          <p:cNvSpPr/>
          <p:nvPr/>
        </p:nvSpPr>
        <p:spPr>
          <a:xfrm>
            <a:off x="4114800" y="2478024"/>
            <a:ext cx="4572000" cy="320040"/>
          </a:xfrm>
          <a:prstGeom prst="rect">
            <a:avLst/>
          </a:prstGeom>
          <a:noFill/>
          <a:ln/>
        </p:spPr>
        <p:txBody>
          <a:bodyPr wrap="square" lIns="0" tIns="0" rIns="0" bIns="0" rtlCol="0" anchor="b"/>
          <a:lstStyle/>
          <a:p>
            <a:pPr indent="0" marL="0">
              <a:buNone/>
            </a:pPr>
            <a:r>
              <a:rPr lang="en-US" sz="1100" b="1" dirty="0">
                <a:solidFill>
                  <a:srgbClr val="0D1B2A"/>
                </a:solidFill>
              </a:rPr>
              <a:t>Switch fragil por nombre display</a:t>
            </a:r>
            <a:endParaRPr lang="en-US" sz="1100" dirty="0"/>
          </a:p>
        </p:txBody>
      </p:sp>
      <p:sp>
        <p:nvSpPr>
          <p:cNvPr id="33" name="Text 31"/>
          <p:cNvSpPr/>
          <p:nvPr/>
        </p:nvSpPr>
        <p:spPr>
          <a:xfrm>
            <a:off x="4114800" y="2807208"/>
            <a:ext cx="4572000" cy="256032"/>
          </a:xfrm>
          <a:prstGeom prst="rect">
            <a:avLst/>
          </a:prstGeom>
          <a:noFill/>
          <a:ln/>
        </p:spPr>
        <p:txBody>
          <a:bodyPr wrap="square" lIns="0" tIns="0" rIns="0" bIns="0" rtlCol="0" anchor="t"/>
          <a:lstStyle/>
          <a:p>
            <a:pPr indent="0" marL="0">
              <a:buNone/>
            </a:pPr>
            <a:r>
              <a:rPr lang="en-US" sz="950" dirty="0">
                <a:solidFill>
                  <a:srgbClr val="475569"/>
                </a:solidFill>
              </a:rPr>
              <a:t>Bug latente: renombrar 'Pago' en BD rompe el switch</a:t>
            </a:r>
            <a:endParaRPr lang="en-US" sz="950" dirty="0"/>
          </a:p>
        </p:txBody>
      </p:sp>
      <p:sp>
        <p:nvSpPr>
          <p:cNvPr id="34" name="Shape 32"/>
          <p:cNvSpPr/>
          <p:nvPr/>
        </p:nvSpPr>
        <p:spPr>
          <a:xfrm>
            <a:off x="3520440" y="3236976"/>
            <a:ext cx="5303520" cy="685800"/>
          </a:xfrm>
          <a:prstGeom prst="rect">
            <a:avLst/>
          </a:prstGeom>
          <a:solidFill>
            <a:srgbClr val="FFFFFF"/>
          </a:solidFill>
          <a:ln w="19050">
            <a:solidFill>
              <a:srgbClr val="DC2626"/>
            </a:solidFill>
            <a:prstDash val="solid"/>
          </a:ln>
          <a:effectLst>
            <a:outerShdw sx="100000" sy="100000" kx="0" ky="0" algn="bl" rotWithShape="0" blurRad="101600" dist="38100" dir="8100000">
              <a:srgbClr val="000000">
                <a:alpha val="18000"/>
              </a:srgbClr>
            </a:outerShdw>
          </a:effectLst>
        </p:spPr>
      </p:sp>
      <p:sp>
        <p:nvSpPr>
          <p:cNvPr id="35" name="Shape 33"/>
          <p:cNvSpPr/>
          <p:nvPr/>
        </p:nvSpPr>
        <p:spPr>
          <a:xfrm>
            <a:off x="3520440" y="3236976"/>
            <a:ext cx="502920" cy="685800"/>
          </a:xfrm>
          <a:prstGeom prst="rect">
            <a:avLst/>
          </a:prstGeom>
          <a:solidFill>
            <a:srgbClr val="DC2626"/>
          </a:solidFill>
          <a:ln w="12700">
            <a:solidFill>
              <a:srgbClr val="DC2626"/>
            </a:solidFill>
            <a:prstDash val="solid"/>
          </a:ln>
        </p:spPr>
      </p:sp>
      <p:sp>
        <p:nvSpPr>
          <p:cNvPr id="36" name="Text 34"/>
          <p:cNvSpPr/>
          <p:nvPr/>
        </p:nvSpPr>
        <p:spPr>
          <a:xfrm>
            <a:off x="3520440" y="3236976"/>
            <a:ext cx="502920" cy="685800"/>
          </a:xfrm>
          <a:prstGeom prst="rect">
            <a:avLst/>
          </a:prstGeom>
          <a:noFill/>
          <a:ln/>
        </p:spPr>
        <p:txBody>
          <a:bodyPr wrap="square" lIns="0" tIns="0" rIns="0" bIns="0" rtlCol="0" anchor="ctr"/>
          <a:lstStyle/>
          <a:p>
            <a:pPr algn="ctr" indent="0" marL="0">
              <a:buNone/>
            </a:pPr>
            <a:r>
              <a:rPr lang="en-US" sz="900" b="1" dirty="0">
                <a:solidFill>
                  <a:srgbClr val="FFFFFF"/>
                </a:solidFill>
              </a:rPr>
              <a:t>L4</a:t>
            </a:r>
            <a:endParaRPr lang="en-US" sz="900" dirty="0"/>
          </a:p>
        </p:txBody>
      </p:sp>
      <p:sp>
        <p:nvSpPr>
          <p:cNvPr id="37" name="Text 35"/>
          <p:cNvSpPr/>
          <p:nvPr/>
        </p:nvSpPr>
        <p:spPr>
          <a:xfrm>
            <a:off x="4114800" y="3236976"/>
            <a:ext cx="4572000" cy="320040"/>
          </a:xfrm>
          <a:prstGeom prst="rect">
            <a:avLst/>
          </a:prstGeom>
          <a:noFill/>
          <a:ln/>
        </p:spPr>
        <p:txBody>
          <a:bodyPr wrap="square" lIns="0" tIns="0" rIns="0" bIns="0" rtlCol="0" anchor="b"/>
          <a:lstStyle/>
          <a:p>
            <a:pPr indent="0" marL="0">
              <a:buNone/>
            </a:pPr>
            <a:r>
              <a:rPr lang="en-US" sz="1100" b="1" dirty="0">
                <a:solidFill>
                  <a:srgbClr val="0D1B2A"/>
                </a:solidFill>
              </a:rPr>
              <a:t>case 'Pago' vacio — BUG CRITICO</a:t>
            </a:r>
            <a:endParaRPr lang="en-US" sz="1100" dirty="0"/>
          </a:p>
        </p:txBody>
      </p:sp>
      <p:sp>
        <p:nvSpPr>
          <p:cNvPr id="38" name="Text 36"/>
          <p:cNvSpPr/>
          <p:nvPr/>
        </p:nvSpPr>
        <p:spPr>
          <a:xfrm>
            <a:off x="4114800" y="3566160"/>
            <a:ext cx="4572000" cy="256032"/>
          </a:xfrm>
          <a:prstGeom prst="rect">
            <a:avLst/>
          </a:prstGeom>
          <a:noFill/>
          <a:ln/>
        </p:spPr>
        <p:txBody>
          <a:bodyPr wrap="square" lIns="0" tIns="0" rIns="0" bIns="0" rtlCol="0" anchor="t"/>
          <a:lstStyle/>
          <a:p>
            <a:pPr indent="0" marL="0">
              <a:buNone/>
            </a:pPr>
            <a:r>
              <a:rPr lang="en-US" sz="950" dirty="0">
                <a:solidFill>
                  <a:srgbClr val="475569"/>
                </a:solidFill>
              </a:rPr>
              <a:t>Cobro no genera fccFolioPagoCliente — FU-008 sin cumplir</a:t>
            </a:r>
            <a:endParaRPr lang="en-US" sz="950" dirty="0"/>
          </a:p>
        </p:txBody>
      </p:sp>
      <p:sp>
        <p:nvSpPr>
          <p:cNvPr id="39" name="Shape 37"/>
          <p:cNvSpPr/>
          <p:nvPr/>
        </p:nvSpPr>
        <p:spPr>
          <a:xfrm>
            <a:off x="3520440" y="3995928"/>
            <a:ext cx="5303520" cy="685800"/>
          </a:xfrm>
          <a:prstGeom prst="rect">
            <a:avLst/>
          </a:prstGeom>
          <a:solidFill>
            <a:srgbClr val="FFFFFF"/>
          </a:solidFill>
          <a:ln w="19050">
            <a:solidFill>
              <a:srgbClr val="D97706"/>
            </a:solidFill>
            <a:prstDash val="solid"/>
          </a:ln>
          <a:effectLst>
            <a:outerShdw sx="100000" sy="100000" kx="0" ky="0" algn="bl" rotWithShape="0" blurRad="101600" dist="38100" dir="8100000">
              <a:srgbClr val="000000">
                <a:alpha val="18000"/>
              </a:srgbClr>
            </a:outerShdw>
          </a:effectLst>
        </p:spPr>
      </p:sp>
      <p:sp>
        <p:nvSpPr>
          <p:cNvPr id="40" name="Shape 38"/>
          <p:cNvSpPr/>
          <p:nvPr/>
        </p:nvSpPr>
        <p:spPr>
          <a:xfrm>
            <a:off x="3520440" y="3995928"/>
            <a:ext cx="502920" cy="685800"/>
          </a:xfrm>
          <a:prstGeom prst="rect">
            <a:avLst/>
          </a:prstGeom>
          <a:solidFill>
            <a:srgbClr val="D97706"/>
          </a:solidFill>
          <a:ln w="12700">
            <a:solidFill>
              <a:srgbClr val="D97706"/>
            </a:solidFill>
            <a:prstDash val="solid"/>
          </a:ln>
        </p:spPr>
      </p:sp>
      <p:sp>
        <p:nvSpPr>
          <p:cNvPr id="41" name="Text 39"/>
          <p:cNvSpPr/>
          <p:nvPr/>
        </p:nvSpPr>
        <p:spPr>
          <a:xfrm>
            <a:off x="3520440" y="3995928"/>
            <a:ext cx="502920" cy="685800"/>
          </a:xfrm>
          <a:prstGeom prst="rect">
            <a:avLst/>
          </a:prstGeom>
          <a:noFill/>
          <a:ln/>
        </p:spPr>
        <p:txBody>
          <a:bodyPr wrap="square" lIns="0" tIns="0" rIns="0" bIns="0" rtlCol="0" anchor="ctr"/>
          <a:lstStyle/>
          <a:p>
            <a:pPr algn="ctr" indent="0" marL="0">
              <a:buNone/>
            </a:pPr>
            <a:r>
              <a:rPr lang="en-US" sz="900" b="1" dirty="0">
                <a:solidFill>
                  <a:srgbClr val="FFFFFF"/>
                </a:solidFill>
              </a:rPr>
              <a:t>L5</a:t>
            </a:r>
            <a:endParaRPr lang="en-US" sz="900" dirty="0"/>
          </a:p>
        </p:txBody>
      </p:sp>
      <p:sp>
        <p:nvSpPr>
          <p:cNvPr id="42" name="Text 40"/>
          <p:cNvSpPr/>
          <p:nvPr/>
        </p:nvSpPr>
        <p:spPr>
          <a:xfrm>
            <a:off x="4114800" y="3995928"/>
            <a:ext cx="4572000" cy="320040"/>
          </a:xfrm>
          <a:prstGeom prst="rect">
            <a:avLst/>
          </a:prstGeom>
          <a:noFill/>
          <a:ln/>
        </p:spPr>
        <p:txBody>
          <a:bodyPr wrap="square" lIns="0" tIns="0" rIns="0" bIns="0" rtlCol="0" anchor="b"/>
          <a:lstStyle/>
          <a:p>
            <a:pPr indent="0" marL="0">
              <a:buNone/>
            </a:pPr>
            <a:r>
              <a:rPr lang="en-US" sz="1100" b="1" dirty="0">
                <a:solidFill>
                  <a:srgbClr val="0D1B2A"/>
                </a:solidFill>
              </a:rPr>
              <a:t>Sin MinIO para adjuntos</a:t>
            </a:r>
            <a:endParaRPr lang="en-US" sz="1100" dirty="0"/>
          </a:p>
        </p:txBody>
      </p:sp>
      <p:sp>
        <p:nvSpPr>
          <p:cNvPr id="43" name="Text 41"/>
          <p:cNvSpPr/>
          <p:nvPr/>
        </p:nvSpPr>
        <p:spPr>
          <a:xfrm>
            <a:off x="4114800" y="4325112"/>
            <a:ext cx="4572000" cy="256032"/>
          </a:xfrm>
          <a:prstGeom prst="rect">
            <a:avLst/>
          </a:prstGeom>
          <a:noFill/>
          <a:ln/>
        </p:spPr>
        <p:txBody>
          <a:bodyPr wrap="square" lIns="0" tIns="0" rIns="0" bIns="0" rtlCol="0" anchor="t"/>
          <a:lstStyle/>
          <a:p>
            <a:pPr indent="0" marL="0">
              <a:buNone/>
            </a:pPr>
            <a:r>
              <a:rPr lang="en-US" sz="950" dirty="0">
                <a:solidFill>
                  <a:srgbClr val="475569"/>
                </a:solidFill>
              </a:rPr>
              <a:t>Archivos del correo no persisten fuera de BD</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D1B2A"/>
          </a:solidFill>
          <a:ln w="12700">
            <a:solidFill>
              <a:srgbClr val="0D1B2A"/>
            </a:solidFill>
            <a:prstDash val="solid"/>
          </a:ln>
        </p:spPr>
      </p:sp>
      <p:sp>
        <p:nvSpPr>
          <p:cNvPr id="3" name="Shape 1"/>
          <p:cNvSpPr/>
          <p:nvPr/>
        </p:nvSpPr>
        <p:spPr>
          <a:xfrm>
            <a:off x="0" y="0"/>
            <a:ext cx="320040" cy="777240"/>
          </a:xfrm>
          <a:prstGeom prst="rect">
            <a:avLst/>
          </a:prstGeom>
          <a:solidFill>
            <a:srgbClr val="F97316"/>
          </a:solidFill>
          <a:ln w="12700">
            <a:solidFill>
              <a:srgbClr val="F97316"/>
            </a:solidFill>
            <a:prstDash val="solid"/>
          </a:ln>
        </p:spPr>
      </p:sp>
      <p:sp>
        <p:nvSpPr>
          <p:cNvPr id="4" name="Text 2"/>
          <p:cNvSpPr/>
          <p:nvPr/>
        </p:nvSpPr>
        <p:spPr>
          <a:xfrm>
            <a:off x="502920" y="0"/>
            <a:ext cx="8503920" cy="777240"/>
          </a:xfrm>
          <a:prstGeom prst="rect">
            <a:avLst/>
          </a:prstGeom>
          <a:noFill/>
          <a:ln/>
        </p:spPr>
        <p:txBody>
          <a:bodyPr wrap="square" lIns="0" tIns="0" rIns="0" bIns="0" rtlCol="0" anchor="ctr"/>
          <a:lstStyle/>
          <a:p>
            <a:pPr indent="0" marL="0">
              <a:buNone/>
            </a:pPr>
            <a:r>
              <a:rPr lang="en-US" sz="2000" b="1" dirty="0">
                <a:solidFill>
                  <a:srgbClr val="FFFFFF"/>
                </a:solidFill>
              </a:rPr>
              <a:t>Propuesta 1 — n8n + RabbitMQ + Worker .NET 10</a:t>
            </a:r>
            <a:endParaRPr lang="en-US" sz="2000" dirty="0"/>
          </a:p>
        </p:txBody>
      </p:sp>
      <p:sp>
        <p:nvSpPr>
          <p:cNvPr id="5" name="Shape 3"/>
          <p:cNvSpPr/>
          <p:nvPr/>
        </p:nvSpPr>
        <p:spPr>
          <a:xfrm>
            <a:off x="256032" y="914400"/>
            <a:ext cx="1298448" cy="868680"/>
          </a:xfrm>
          <a:prstGeom prst="rect">
            <a:avLst/>
          </a:prstGeom>
          <a:solidFill>
            <a:srgbClr val="F97316"/>
          </a:solidFill>
          <a:ln w="12700">
            <a:solidFill>
              <a:srgbClr val="F97316"/>
            </a:solidFill>
            <a:prstDash val="solid"/>
          </a:ln>
          <a:effectLst>
            <a:outerShdw sx="100000" sy="100000" kx="0" ky="0" algn="bl" rotWithShape="0" blurRad="101600" dist="38100" dir="8100000">
              <a:srgbClr val="000000">
                <a:alpha val="18000"/>
              </a:srgbClr>
            </a:outerShdw>
          </a:effectLst>
        </p:spPr>
      </p:sp>
      <p:sp>
        <p:nvSpPr>
          <p:cNvPr id="6" name="Text 4"/>
          <p:cNvSpPr/>
          <p:nvPr/>
        </p:nvSpPr>
        <p:spPr>
          <a:xfrm>
            <a:off x="256032" y="914400"/>
            <a:ext cx="1298448" cy="594360"/>
          </a:xfrm>
          <a:prstGeom prst="rect">
            <a:avLst/>
          </a:prstGeom>
          <a:noFill/>
          <a:ln/>
        </p:spPr>
        <p:txBody>
          <a:bodyPr wrap="square" lIns="0" tIns="0" rIns="0" bIns="0" rtlCol="0" anchor="b"/>
          <a:lstStyle/>
          <a:p>
            <a:pPr algn="ctr" indent="0" marL="0">
              <a:buNone/>
            </a:pPr>
            <a:r>
              <a:rPr lang="en-US" sz="1000" b="1" dirty="0">
                <a:solidFill>
                  <a:srgbClr val="FFFFFF"/>
                </a:solidFill>
              </a:rPr>
              <a:t>Gmail</a:t>
            </a:r>
            <a:endParaRPr lang="en-US" sz="1000" dirty="0"/>
          </a:p>
          <a:p>
            <a:pPr algn="ctr" indent="0" marL="0">
              <a:buNone/>
            </a:pPr>
            <a:r>
              <a:rPr lang="en-US" sz="1000" b="1" dirty="0">
                <a:solidFill>
                  <a:srgbClr val="FFFFFF"/>
                </a:solidFill>
              </a:rPr>
              <a:t>INBOX</a:t>
            </a:r>
            <a:endParaRPr lang="en-US" sz="1000" dirty="0"/>
          </a:p>
        </p:txBody>
      </p:sp>
      <p:sp>
        <p:nvSpPr>
          <p:cNvPr id="7" name="Text 5"/>
          <p:cNvSpPr/>
          <p:nvPr/>
        </p:nvSpPr>
        <p:spPr>
          <a:xfrm>
            <a:off x="256032" y="1508760"/>
            <a:ext cx="1298448" cy="274320"/>
          </a:xfrm>
          <a:prstGeom prst="rect">
            <a:avLst/>
          </a:prstGeom>
          <a:noFill/>
          <a:ln/>
        </p:spPr>
        <p:txBody>
          <a:bodyPr wrap="square" lIns="0" tIns="0" rIns="0" bIns="0" rtlCol="0" anchor="ctr"/>
          <a:lstStyle/>
          <a:p>
            <a:pPr algn="ctr" indent="0" marL="0">
              <a:buNone/>
            </a:pPr>
            <a:r>
              <a:rPr lang="en-US" sz="750" dirty="0">
                <a:solidFill>
                  <a:srgbClr val="DDDDDD"/>
                </a:solidFill>
              </a:rPr>
              <a:t>MEX / PER</a:t>
            </a:r>
            <a:endParaRPr lang="en-US" sz="750" dirty="0"/>
          </a:p>
        </p:txBody>
      </p:sp>
      <p:sp>
        <p:nvSpPr>
          <p:cNvPr id="8" name="Shape 6"/>
          <p:cNvSpPr/>
          <p:nvPr/>
        </p:nvSpPr>
        <p:spPr>
          <a:xfrm>
            <a:off x="1554480" y="1307592"/>
            <a:ext cx="164592" cy="73152"/>
          </a:xfrm>
          <a:prstGeom prst="rect">
            <a:avLst/>
          </a:prstGeom>
          <a:solidFill>
            <a:srgbClr val="475569"/>
          </a:solidFill>
          <a:ln w="12700">
            <a:solidFill>
              <a:srgbClr val="475569"/>
            </a:solidFill>
            <a:prstDash val="solid"/>
          </a:ln>
        </p:spPr>
      </p:sp>
      <p:sp>
        <p:nvSpPr>
          <p:cNvPr id="9" name="Shape 7"/>
          <p:cNvSpPr/>
          <p:nvPr/>
        </p:nvSpPr>
        <p:spPr>
          <a:xfrm>
            <a:off x="1719072" y="914400"/>
            <a:ext cx="1298448" cy="868680"/>
          </a:xfrm>
          <a:prstGeom prst="rect">
            <a:avLst/>
          </a:prstGeom>
          <a:solidFill>
            <a:srgbClr val="D97706"/>
          </a:solidFill>
          <a:ln w="12700">
            <a:solidFill>
              <a:srgbClr val="D97706"/>
            </a:solidFill>
            <a:prstDash val="solid"/>
          </a:ln>
          <a:effectLst>
            <a:outerShdw sx="100000" sy="100000" kx="0" ky="0" algn="bl" rotWithShape="0" blurRad="101600" dist="38100" dir="8100000">
              <a:srgbClr val="000000">
                <a:alpha val="18000"/>
              </a:srgbClr>
            </a:outerShdw>
          </a:effectLst>
        </p:spPr>
      </p:sp>
      <p:sp>
        <p:nvSpPr>
          <p:cNvPr id="10" name="Text 8"/>
          <p:cNvSpPr/>
          <p:nvPr/>
        </p:nvSpPr>
        <p:spPr>
          <a:xfrm>
            <a:off x="1719072" y="914400"/>
            <a:ext cx="1298448" cy="594360"/>
          </a:xfrm>
          <a:prstGeom prst="rect">
            <a:avLst/>
          </a:prstGeom>
          <a:noFill/>
          <a:ln/>
        </p:spPr>
        <p:txBody>
          <a:bodyPr wrap="square" lIns="0" tIns="0" rIns="0" bIns="0" rtlCol="0" anchor="b"/>
          <a:lstStyle/>
          <a:p>
            <a:pPr algn="ctr" indent="0" marL="0">
              <a:buNone/>
            </a:pPr>
            <a:r>
              <a:rPr lang="en-US" sz="1000" b="1" dirty="0">
                <a:solidFill>
                  <a:srgbClr val="FFFFFF"/>
                </a:solidFill>
              </a:rPr>
              <a:t>n8n</a:t>
            </a:r>
            <a:endParaRPr lang="en-US" sz="1000" dirty="0"/>
          </a:p>
          <a:p>
            <a:pPr algn="ctr" indent="0" marL="0">
              <a:buNone/>
            </a:pPr>
            <a:r>
              <a:rPr lang="en-US" sz="1000" b="1" dirty="0">
                <a:solidFill>
                  <a:srgbClr val="FFFFFF"/>
                </a:solidFill>
              </a:rPr>
              <a:t>Trigger</a:t>
            </a:r>
            <a:endParaRPr lang="en-US" sz="1000" dirty="0"/>
          </a:p>
        </p:txBody>
      </p:sp>
      <p:sp>
        <p:nvSpPr>
          <p:cNvPr id="11" name="Text 9"/>
          <p:cNvSpPr/>
          <p:nvPr/>
        </p:nvSpPr>
        <p:spPr>
          <a:xfrm>
            <a:off x="1719072" y="1508760"/>
            <a:ext cx="1298448" cy="274320"/>
          </a:xfrm>
          <a:prstGeom prst="rect">
            <a:avLst/>
          </a:prstGeom>
          <a:noFill/>
          <a:ln/>
        </p:spPr>
        <p:txBody>
          <a:bodyPr wrap="square" lIns="0" tIns="0" rIns="0" bIns="0" rtlCol="0" anchor="ctr"/>
          <a:lstStyle/>
          <a:p>
            <a:pPr algn="ctr" indent="0" marL="0">
              <a:buNone/>
            </a:pPr>
            <a:r>
              <a:rPr lang="en-US" sz="750" dirty="0">
                <a:solidFill>
                  <a:srgbClr val="DDDDDD"/>
                </a:solidFill>
              </a:rPr>
              <a:t>cada 1 min</a:t>
            </a:r>
            <a:endParaRPr lang="en-US" sz="750" dirty="0"/>
          </a:p>
        </p:txBody>
      </p:sp>
      <p:sp>
        <p:nvSpPr>
          <p:cNvPr id="12" name="Shape 10"/>
          <p:cNvSpPr/>
          <p:nvPr/>
        </p:nvSpPr>
        <p:spPr>
          <a:xfrm>
            <a:off x="3017520" y="1307592"/>
            <a:ext cx="164592" cy="73152"/>
          </a:xfrm>
          <a:prstGeom prst="rect">
            <a:avLst/>
          </a:prstGeom>
          <a:solidFill>
            <a:srgbClr val="475569"/>
          </a:solidFill>
          <a:ln w="12700">
            <a:solidFill>
              <a:srgbClr val="475569"/>
            </a:solidFill>
            <a:prstDash val="solid"/>
          </a:ln>
        </p:spPr>
      </p:sp>
      <p:sp>
        <p:nvSpPr>
          <p:cNvPr id="13" name="Shape 11"/>
          <p:cNvSpPr/>
          <p:nvPr/>
        </p:nvSpPr>
        <p:spPr>
          <a:xfrm>
            <a:off x="3182112" y="914400"/>
            <a:ext cx="1298448" cy="868680"/>
          </a:xfrm>
          <a:prstGeom prst="rect">
            <a:avLst/>
          </a:prstGeom>
          <a:solidFill>
            <a:srgbClr val="F97316"/>
          </a:solidFill>
          <a:ln w="12700">
            <a:solidFill>
              <a:srgbClr val="F97316"/>
            </a:solidFill>
            <a:prstDash val="solid"/>
          </a:ln>
          <a:effectLst>
            <a:outerShdw sx="100000" sy="100000" kx="0" ky="0" algn="bl" rotWithShape="0" blurRad="101600" dist="38100" dir="8100000">
              <a:srgbClr val="000000">
                <a:alpha val="18000"/>
              </a:srgbClr>
            </a:outerShdw>
          </a:effectLst>
        </p:spPr>
      </p:sp>
      <p:sp>
        <p:nvSpPr>
          <p:cNvPr id="14" name="Text 12"/>
          <p:cNvSpPr/>
          <p:nvPr/>
        </p:nvSpPr>
        <p:spPr>
          <a:xfrm>
            <a:off x="3182112" y="914400"/>
            <a:ext cx="1298448" cy="594360"/>
          </a:xfrm>
          <a:prstGeom prst="rect">
            <a:avLst/>
          </a:prstGeom>
          <a:noFill/>
          <a:ln/>
        </p:spPr>
        <p:txBody>
          <a:bodyPr wrap="square" lIns="0" tIns="0" rIns="0" bIns="0" rtlCol="0" anchor="b"/>
          <a:lstStyle/>
          <a:p>
            <a:pPr algn="ctr" indent="0" marL="0">
              <a:buNone/>
            </a:pPr>
            <a:r>
              <a:rPr lang="en-US" sz="1000" b="1" dirty="0">
                <a:solidFill>
                  <a:srgbClr val="FFFFFF"/>
                </a:solidFill>
              </a:rPr>
              <a:t>RabbitMQ</a:t>
            </a:r>
            <a:endParaRPr lang="en-US" sz="1000" dirty="0"/>
          </a:p>
          <a:p>
            <a:pPr algn="ctr" indent="0" marL="0">
              <a:buNone/>
            </a:pPr>
            <a:r>
              <a:rPr lang="en-US" sz="1000" b="1" dirty="0">
                <a:solidFill>
                  <a:srgbClr val="FFFFFF"/>
                </a:solidFill>
              </a:rPr>
              <a:t>Exchange</a:t>
            </a:r>
            <a:endParaRPr lang="en-US" sz="1000" dirty="0"/>
          </a:p>
        </p:txBody>
      </p:sp>
      <p:sp>
        <p:nvSpPr>
          <p:cNvPr id="15" name="Text 13"/>
          <p:cNvSpPr/>
          <p:nvPr/>
        </p:nvSpPr>
        <p:spPr>
          <a:xfrm>
            <a:off x="3182112" y="1508760"/>
            <a:ext cx="1298448" cy="274320"/>
          </a:xfrm>
          <a:prstGeom prst="rect">
            <a:avLst/>
          </a:prstGeom>
          <a:noFill/>
          <a:ln/>
        </p:spPr>
        <p:txBody>
          <a:bodyPr wrap="square" lIns="0" tIns="0" rIns="0" bIns="0" rtlCol="0" anchor="ctr"/>
          <a:lstStyle/>
          <a:p>
            <a:pPr algn="ctr" indent="0" marL="0">
              <a:buNone/>
            </a:pPr>
            <a:r>
              <a:rPr lang="en-US" sz="750" dirty="0">
                <a:solidFill>
                  <a:srgbClr val="DDDDDD"/>
                </a:solidFill>
              </a:rPr>
              <a:t>mailbot.correos</a:t>
            </a:r>
            <a:endParaRPr lang="en-US" sz="750" dirty="0"/>
          </a:p>
        </p:txBody>
      </p:sp>
      <p:sp>
        <p:nvSpPr>
          <p:cNvPr id="16" name="Shape 14"/>
          <p:cNvSpPr/>
          <p:nvPr/>
        </p:nvSpPr>
        <p:spPr>
          <a:xfrm>
            <a:off x="4480560" y="1307592"/>
            <a:ext cx="164592" cy="73152"/>
          </a:xfrm>
          <a:prstGeom prst="rect">
            <a:avLst/>
          </a:prstGeom>
          <a:solidFill>
            <a:srgbClr val="475569"/>
          </a:solidFill>
          <a:ln w="12700">
            <a:solidFill>
              <a:srgbClr val="475569"/>
            </a:solidFill>
            <a:prstDash val="solid"/>
          </a:ln>
        </p:spPr>
      </p:sp>
      <p:sp>
        <p:nvSpPr>
          <p:cNvPr id="17" name="Shape 15"/>
          <p:cNvSpPr/>
          <p:nvPr/>
        </p:nvSpPr>
        <p:spPr>
          <a:xfrm>
            <a:off x="4645152" y="914400"/>
            <a:ext cx="1298448" cy="868680"/>
          </a:xfrm>
          <a:prstGeom prst="rect">
            <a:avLst/>
          </a:prstGeom>
          <a:solidFill>
            <a:srgbClr val="F97316"/>
          </a:solidFill>
          <a:ln w="12700">
            <a:solidFill>
              <a:srgbClr val="F97316"/>
            </a:solidFill>
            <a:prstDash val="solid"/>
          </a:ln>
          <a:effectLst>
            <a:outerShdw sx="100000" sy="100000" kx="0" ky="0" algn="bl" rotWithShape="0" blurRad="101600" dist="38100" dir="8100000">
              <a:srgbClr val="000000">
                <a:alpha val="18000"/>
              </a:srgbClr>
            </a:outerShdw>
          </a:effectLst>
        </p:spPr>
      </p:sp>
      <p:sp>
        <p:nvSpPr>
          <p:cNvPr id="18" name="Text 16"/>
          <p:cNvSpPr/>
          <p:nvPr/>
        </p:nvSpPr>
        <p:spPr>
          <a:xfrm>
            <a:off x="4645152" y="914400"/>
            <a:ext cx="1298448" cy="594360"/>
          </a:xfrm>
          <a:prstGeom prst="rect">
            <a:avLst/>
          </a:prstGeom>
          <a:noFill/>
          <a:ln/>
        </p:spPr>
        <p:txBody>
          <a:bodyPr wrap="square" lIns="0" tIns="0" rIns="0" bIns="0" rtlCol="0" anchor="b"/>
          <a:lstStyle/>
          <a:p>
            <a:pPr algn="ctr" indent="0" marL="0">
              <a:buNone/>
            </a:pPr>
            <a:r>
              <a:rPr lang="en-US" sz="1000" b="1" dirty="0">
                <a:solidFill>
                  <a:srgbClr val="FFFFFF"/>
                </a:solidFill>
              </a:rPr>
              <a:t>Queue</a:t>
            </a:r>
            <a:endParaRPr lang="en-US" sz="1000" dirty="0"/>
          </a:p>
          <a:p>
            <a:pPr algn="ctr" indent="0" marL="0">
              <a:buNone/>
            </a:pPr>
            <a:r>
              <a:rPr lang="en-US" sz="1000" b="1" dirty="0">
                <a:solidFill>
                  <a:srgbClr val="FFFFFF"/>
                </a:solidFill>
              </a:rPr>
              <a:t>MEX + PER</a:t>
            </a:r>
            <a:endParaRPr lang="en-US" sz="1000" dirty="0"/>
          </a:p>
        </p:txBody>
      </p:sp>
      <p:sp>
        <p:nvSpPr>
          <p:cNvPr id="19" name="Text 17"/>
          <p:cNvSpPr/>
          <p:nvPr/>
        </p:nvSpPr>
        <p:spPr>
          <a:xfrm>
            <a:off x="4645152" y="1508760"/>
            <a:ext cx="1298448" cy="274320"/>
          </a:xfrm>
          <a:prstGeom prst="rect">
            <a:avLst/>
          </a:prstGeom>
          <a:noFill/>
          <a:ln/>
        </p:spPr>
        <p:txBody>
          <a:bodyPr wrap="square" lIns="0" tIns="0" rIns="0" bIns="0" rtlCol="0" anchor="ctr"/>
          <a:lstStyle/>
          <a:p>
            <a:pPr algn="ctr" indent="0" marL="0">
              <a:buNone/>
            </a:pPr>
            <a:r>
              <a:rPr lang="en-US" sz="750" dirty="0">
                <a:solidFill>
                  <a:srgbClr val="DDDDDD"/>
                </a:solidFill>
              </a:rPr>
              <a:t>+ DLQ backup</a:t>
            </a:r>
            <a:endParaRPr lang="en-US" sz="750" dirty="0"/>
          </a:p>
        </p:txBody>
      </p:sp>
      <p:sp>
        <p:nvSpPr>
          <p:cNvPr id="20" name="Shape 18"/>
          <p:cNvSpPr/>
          <p:nvPr/>
        </p:nvSpPr>
        <p:spPr>
          <a:xfrm>
            <a:off x="5943600" y="1307592"/>
            <a:ext cx="164592" cy="73152"/>
          </a:xfrm>
          <a:prstGeom prst="rect">
            <a:avLst/>
          </a:prstGeom>
          <a:solidFill>
            <a:srgbClr val="475569"/>
          </a:solidFill>
          <a:ln w="12700">
            <a:solidFill>
              <a:srgbClr val="475569"/>
            </a:solidFill>
            <a:prstDash val="solid"/>
          </a:ln>
        </p:spPr>
      </p:sp>
      <p:sp>
        <p:nvSpPr>
          <p:cNvPr id="21" name="Shape 19"/>
          <p:cNvSpPr/>
          <p:nvPr/>
        </p:nvSpPr>
        <p:spPr>
          <a:xfrm>
            <a:off x="6108192" y="914400"/>
            <a:ext cx="1298448" cy="868680"/>
          </a:xfrm>
          <a:prstGeom prst="rect">
            <a:avLst/>
          </a:prstGeom>
          <a:solidFill>
            <a:srgbClr val="1A3A5C"/>
          </a:solidFill>
          <a:ln w="12700">
            <a:solidFill>
              <a:srgbClr val="1A3A5C"/>
            </a:solidFill>
            <a:prstDash val="solid"/>
          </a:ln>
          <a:effectLst>
            <a:outerShdw sx="100000" sy="100000" kx="0" ky="0" algn="bl" rotWithShape="0" blurRad="101600" dist="38100" dir="8100000">
              <a:srgbClr val="000000">
                <a:alpha val="18000"/>
              </a:srgbClr>
            </a:outerShdw>
          </a:effectLst>
        </p:spPr>
      </p:sp>
      <p:sp>
        <p:nvSpPr>
          <p:cNvPr id="22" name="Text 20"/>
          <p:cNvSpPr/>
          <p:nvPr/>
        </p:nvSpPr>
        <p:spPr>
          <a:xfrm>
            <a:off x="6108192" y="914400"/>
            <a:ext cx="1298448" cy="594360"/>
          </a:xfrm>
          <a:prstGeom prst="rect">
            <a:avLst/>
          </a:prstGeom>
          <a:noFill/>
          <a:ln/>
        </p:spPr>
        <p:txBody>
          <a:bodyPr wrap="square" lIns="0" tIns="0" rIns="0" bIns="0" rtlCol="0" anchor="b"/>
          <a:lstStyle/>
          <a:p>
            <a:pPr algn="ctr" indent="0" marL="0">
              <a:buNone/>
            </a:pPr>
            <a:r>
              <a:rPr lang="en-US" sz="1000" b="1" dirty="0">
                <a:solidFill>
                  <a:srgbClr val="FFFFFF"/>
                </a:solidFill>
              </a:rPr>
              <a:t>Worker</a:t>
            </a:r>
            <a:endParaRPr lang="en-US" sz="1000" dirty="0"/>
          </a:p>
          <a:p>
            <a:pPr algn="ctr" indent="0" marL="0">
              <a:buNone/>
            </a:pPr>
            <a:r>
              <a:rPr lang="en-US" sz="1000" b="1" dirty="0">
                <a:solidFill>
                  <a:srgbClr val="FFFFFF"/>
                </a:solidFill>
              </a:rPr>
              <a:t>.NET 10</a:t>
            </a:r>
            <a:endParaRPr lang="en-US" sz="1000" dirty="0"/>
          </a:p>
        </p:txBody>
      </p:sp>
      <p:sp>
        <p:nvSpPr>
          <p:cNvPr id="23" name="Text 21"/>
          <p:cNvSpPr/>
          <p:nvPr/>
        </p:nvSpPr>
        <p:spPr>
          <a:xfrm>
            <a:off x="6108192" y="1508760"/>
            <a:ext cx="1298448" cy="274320"/>
          </a:xfrm>
          <a:prstGeom prst="rect">
            <a:avLst/>
          </a:prstGeom>
          <a:noFill/>
          <a:ln/>
        </p:spPr>
        <p:txBody>
          <a:bodyPr wrap="square" lIns="0" tIns="0" rIns="0" bIns="0" rtlCol="0" anchor="ctr"/>
          <a:lstStyle/>
          <a:p>
            <a:pPr algn="ctr" indent="0" marL="0">
              <a:buNone/>
            </a:pPr>
            <a:r>
              <a:rPr lang="en-US" sz="750" dirty="0">
                <a:solidFill>
                  <a:srgbClr val="DDDDDD"/>
                </a:solidFill>
              </a:rPr>
              <a:t>CorreoWorkerMex/Per</a:t>
            </a:r>
            <a:endParaRPr lang="en-US" sz="750" dirty="0"/>
          </a:p>
        </p:txBody>
      </p:sp>
      <p:sp>
        <p:nvSpPr>
          <p:cNvPr id="24" name="Shape 22"/>
          <p:cNvSpPr/>
          <p:nvPr/>
        </p:nvSpPr>
        <p:spPr>
          <a:xfrm>
            <a:off x="7406640" y="1307592"/>
            <a:ext cx="164592" cy="73152"/>
          </a:xfrm>
          <a:prstGeom prst="rect">
            <a:avLst/>
          </a:prstGeom>
          <a:solidFill>
            <a:srgbClr val="475569"/>
          </a:solidFill>
          <a:ln w="12700">
            <a:solidFill>
              <a:srgbClr val="475569"/>
            </a:solidFill>
            <a:prstDash val="solid"/>
          </a:ln>
        </p:spPr>
      </p:sp>
      <p:sp>
        <p:nvSpPr>
          <p:cNvPr id="25" name="Shape 23"/>
          <p:cNvSpPr/>
          <p:nvPr/>
        </p:nvSpPr>
        <p:spPr>
          <a:xfrm>
            <a:off x="7571232" y="914400"/>
            <a:ext cx="1298448" cy="868680"/>
          </a:xfrm>
          <a:prstGeom prst="rect">
            <a:avLst/>
          </a:prstGeom>
          <a:solidFill>
            <a:srgbClr val="0D9488"/>
          </a:solidFill>
          <a:ln w="12700">
            <a:solidFill>
              <a:srgbClr val="0D9488"/>
            </a:solidFill>
            <a:prstDash val="solid"/>
          </a:ln>
          <a:effectLst>
            <a:outerShdw sx="100000" sy="100000" kx="0" ky="0" algn="bl" rotWithShape="0" blurRad="101600" dist="38100" dir="8100000">
              <a:srgbClr val="000000">
                <a:alpha val="18000"/>
              </a:srgbClr>
            </a:outerShdw>
          </a:effectLst>
        </p:spPr>
      </p:sp>
      <p:sp>
        <p:nvSpPr>
          <p:cNvPr id="26" name="Text 24"/>
          <p:cNvSpPr/>
          <p:nvPr/>
        </p:nvSpPr>
        <p:spPr>
          <a:xfrm>
            <a:off x="7571232" y="914400"/>
            <a:ext cx="1298448" cy="594360"/>
          </a:xfrm>
          <a:prstGeom prst="rect">
            <a:avLst/>
          </a:prstGeom>
          <a:noFill/>
          <a:ln/>
        </p:spPr>
        <p:txBody>
          <a:bodyPr wrap="square" lIns="0" tIns="0" rIns="0" bIns="0" rtlCol="0" anchor="b"/>
          <a:lstStyle/>
          <a:p>
            <a:pPr algn="ctr" indent="0" marL="0">
              <a:buNone/>
            </a:pPr>
            <a:r>
              <a:rPr lang="en-US" sz="1000" b="1" dirty="0">
                <a:solidFill>
                  <a:srgbClr val="FFFFFF"/>
                </a:solidFill>
              </a:rPr>
              <a:t>Agente IA</a:t>
            </a:r>
            <a:endParaRPr lang="en-US" sz="1000" dirty="0"/>
          </a:p>
          <a:p>
            <a:pPr algn="ctr" indent="0" marL="0">
              <a:buNone/>
            </a:pPr>
            <a:r>
              <a:rPr lang="en-US" sz="1000" b="1" dirty="0">
                <a:solidFill>
                  <a:srgbClr val="FFFFFF"/>
                </a:solidFill>
              </a:rPr>
              <a:t>OpenAI</a:t>
            </a:r>
            <a:endParaRPr lang="en-US" sz="1000" dirty="0"/>
          </a:p>
        </p:txBody>
      </p:sp>
      <p:sp>
        <p:nvSpPr>
          <p:cNvPr id="27" name="Text 25"/>
          <p:cNvSpPr/>
          <p:nvPr/>
        </p:nvSpPr>
        <p:spPr>
          <a:xfrm>
            <a:off x="7571232" y="1508760"/>
            <a:ext cx="1298448" cy="274320"/>
          </a:xfrm>
          <a:prstGeom prst="rect">
            <a:avLst/>
          </a:prstGeom>
          <a:noFill/>
          <a:ln/>
        </p:spPr>
        <p:txBody>
          <a:bodyPr wrap="square" lIns="0" tIns="0" rIns="0" bIns="0" rtlCol="0" anchor="ctr"/>
          <a:lstStyle/>
          <a:p>
            <a:pPr algn="ctr" indent="0" marL="0">
              <a:buNone/>
            </a:pPr>
            <a:r>
              <a:rPr lang="en-US" sz="750" dirty="0">
                <a:solidFill>
                  <a:srgbClr val="DDDDDD"/>
                </a:solidFill>
              </a:rPr>
              <a:t>clasifica + extrae</a:t>
            </a:r>
            <a:endParaRPr lang="en-US" sz="750" dirty="0"/>
          </a:p>
        </p:txBody>
      </p:sp>
      <p:sp>
        <p:nvSpPr>
          <p:cNvPr id="28" name="Shape 26"/>
          <p:cNvSpPr/>
          <p:nvPr/>
        </p:nvSpPr>
        <p:spPr>
          <a:xfrm>
            <a:off x="256032" y="2057400"/>
            <a:ext cx="8631936" cy="54864"/>
          </a:xfrm>
          <a:prstGeom prst="rect">
            <a:avLst/>
          </a:prstGeom>
          <a:solidFill>
            <a:srgbClr val="0D9488"/>
          </a:solidFill>
          <a:ln w="12700">
            <a:solidFill>
              <a:srgbClr val="0D9488"/>
            </a:solidFill>
            <a:prstDash val="solid"/>
          </a:ln>
        </p:spPr>
      </p:sp>
      <p:sp>
        <p:nvSpPr>
          <p:cNvPr id="29" name="Shape 27"/>
          <p:cNvSpPr/>
          <p:nvPr/>
        </p:nvSpPr>
        <p:spPr>
          <a:xfrm>
            <a:off x="256032" y="2286000"/>
            <a:ext cx="4224528" cy="1115568"/>
          </a:xfrm>
          <a:prstGeom prst="rect">
            <a:avLst/>
          </a:prstGeom>
          <a:solidFill>
            <a:srgbClr val="FFFFFF"/>
          </a:solidFill>
          <a:ln w="19050">
            <a:solidFill>
              <a:srgbClr val="F97316"/>
            </a:solidFill>
            <a:prstDash val="solid"/>
          </a:ln>
          <a:effectLst>
            <a:outerShdw sx="100000" sy="100000" kx="0" ky="0" algn="bl" rotWithShape="0" blurRad="101600" dist="38100" dir="8100000">
              <a:srgbClr val="000000">
                <a:alpha val="18000"/>
              </a:srgbClr>
            </a:outerShdw>
          </a:effectLst>
        </p:spPr>
      </p:sp>
      <p:sp>
        <p:nvSpPr>
          <p:cNvPr id="30" name="Shape 28"/>
          <p:cNvSpPr/>
          <p:nvPr/>
        </p:nvSpPr>
        <p:spPr>
          <a:xfrm>
            <a:off x="256032" y="2286000"/>
            <a:ext cx="4224528" cy="347472"/>
          </a:xfrm>
          <a:prstGeom prst="rect">
            <a:avLst/>
          </a:prstGeom>
          <a:solidFill>
            <a:srgbClr val="F97316"/>
          </a:solidFill>
          <a:ln w="12700">
            <a:solidFill>
              <a:srgbClr val="F97316"/>
            </a:solidFill>
            <a:prstDash val="solid"/>
          </a:ln>
        </p:spPr>
      </p:sp>
      <p:sp>
        <p:nvSpPr>
          <p:cNvPr id="31" name="Text 29"/>
          <p:cNvSpPr/>
          <p:nvPr/>
        </p:nvSpPr>
        <p:spPr>
          <a:xfrm>
            <a:off x="256032" y="2286000"/>
            <a:ext cx="4224528" cy="347472"/>
          </a:xfrm>
          <a:prstGeom prst="rect">
            <a:avLst/>
          </a:prstGeom>
          <a:noFill/>
          <a:ln/>
        </p:spPr>
        <p:txBody>
          <a:bodyPr wrap="square" lIns="0" tIns="0" rIns="0" bIns="0" rtlCol="0" anchor="ctr"/>
          <a:lstStyle/>
          <a:p>
            <a:pPr algn="ctr" indent="0" marL="0">
              <a:buNone/>
            </a:pPr>
            <a:r>
              <a:rPr lang="en-US" sz="1100" b="1" dirty="0">
                <a:solidFill>
                  <a:srgbClr val="FFFFFF"/>
                </a:solidFill>
              </a:rPr>
              <a:t>n8n (Orquestador)</a:t>
            </a:r>
            <a:endParaRPr lang="en-US" sz="1100" dirty="0"/>
          </a:p>
        </p:txBody>
      </p:sp>
      <p:sp>
        <p:nvSpPr>
          <p:cNvPr id="32" name="Text 30"/>
          <p:cNvSpPr/>
          <p:nvPr/>
        </p:nvSpPr>
        <p:spPr>
          <a:xfrm>
            <a:off x="347472" y="2670048"/>
            <a:ext cx="4041648" cy="694944"/>
          </a:xfrm>
          <a:prstGeom prst="rect">
            <a:avLst/>
          </a:prstGeom>
          <a:noFill/>
          <a:ln/>
        </p:spPr>
        <p:txBody>
          <a:bodyPr wrap="square" lIns="25400" tIns="50800" rIns="50800" bIns="25400" rtlCol="0" anchor="t"/>
          <a:lstStyle/>
          <a:p>
            <a:pPr indent="0" marL="0">
              <a:buNone/>
            </a:pPr>
            <a:r>
              <a:rPr lang="en-US" sz="1000" dirty="0">
                <a:solidFill>
                  <a:srgbClr val="475569"/>
                </a:solidFill>
              </a:rPr>
              <a:t>Gmail Trigger cada 1 min publica en RabbitMQ Exchange. Self-hosted (gratis) o Cloud.</a:t>
            </a:r>
            <a:endParaRPr lang="en-US" sz="1000" dirty="0"/>
          </a:p>
        </p:txBody>
      </p:sp>
      <p:sp>
        <p:nvSpPr>
          <p:cNvPr id="33" name="Shape 31"/>
          <p:cNvSpPr/>
          <p:nvPr/>
        </p:nvSpPr>
        <p:spPr>
          <a:xfrm>
            <a:off x="4709160" y="2286000"/>
            <a:ext cx="4224528" cy="1115568"/>
          </a:xfrm>
          <a:prstGeom prst="rect">
            <a:avLst/>
          </a:prstGeom>
          <a:solidFill>
            <a:srgbClr val="FFFFFF"/>
          </a:solidFill>
          <a:ln w="19050">
            <a:solidFill>
              <a:srgbClr val="F97316"/>
            </a:solidFill>
            <a:prstDash val="solid"/>
          </a:ln>
          <a:effectLst>
            <a:outerShdw sx="100000" sy="100000" kx="0" ky="0" algn="bl" rotWithShape="0" blurRad="101600" dist="38100" dir="8100000">
              <a:srgbClr val="000000">
                <a:alpha val="18000"/>
              </a:srgbClr>
            </a:outerShdw>
          </a:effectLst>
        </p:spPr>
      </p:sp>
      <p:sp>
        <p:nvSpPr>
          <p:cNvPr id="34" name="Shape 32"/>
          <p:cNvSpPr/>
          <p:nvPr/>
        </p:nvSpPr>
        <p:spPr>
          <a:xfrm>
            <a:off x="4709160" y="2286000"/>
            <a:ext cx="4224528" cy="347472"/>
          </a:xfrm>
          <a:prstGeom prst="rect">
            <a:avLst/>
          </a:prstGeom>
          <a:solidFill>
            <a:srgbClr val="F97316"/>
          </a:solidFill>
          <a:ln w="12700">
            <a:solidFill>
              <a:srgbClr val="F97316"/>
            </a:solidFill>
            <a:prstDash val="solid"/>
          </a:ln>
        </p:spPr>
      </p:sp>
      <p:sp>
        <p:nvSpPr>
          <p:cNvPr id="35" name="Text 33"/>
          <p:cNvSpPr/>
          <p:nvPr/>
        </p:nvSpPr>
        <p:spPr>
          <a:xfrm>
            <a:off x="4709160" y="2286000"/>
            <a:ext cx="4224528" cy="347472"/>
          </a:xfrm>
          <a:prstGeom prst="rect">
            <a:avLst/>
          </a:prstGeom>
          <a:noFill/>
          <a:ln/>
        </p:spPr>
        <p:txBody>
          <a:bodyPr wrap="square" lIns="0" tIns="0" rIns="0" bIns="0" rtlCol="0" anchor="ctr"/>
          <a:lstStyle/>
          <a:p>
            <a:pPr algn="ctr" indent="0" marL="0">
              <a:buNone/>
            </a:pPr>
            <a:r>
              <a:rPr lang="en-US" sz="1100" b="1" dirty="0">
                <a:solidFill>
                  <a:srgbClr val="FFFFFF"/>
                </a:solidFill>
              </a:rPr>
              <a:t>RabbitMQ</a:t>
            </a:r>
            <a:endParaRPr lang="en-US" sz="1100" dirty="0"/>
          </a:p>
        </p:txBody>
      </p:sp>
      <p:sp>
        <p:nvSpPr>
          <p:cNvPr id="36" name="Text 34"/>
          <p:cNvSpPr/>
          <p:nvPr/>
        </p:nvSpPr>
        <p:spPr>
          <a:xfrm>
            <a:off x="4800600" y="2670048"/>
            <a:ext cx="4041648" cy="694944"/>
          </a:xfrm>
          <a:prstGeom prst="rect">
            <a:avLst/>
          </a:prstGeom>
          <a:noFill/>
          <a:ln/>
        </p:spPr>
        <p:txBody>
          <a:bodyPr wrap="square" lIns="25400" tIns="50800" rIns="50800" bIns="25400" rtlCol="0" anchor="t"/>
          <a:lstStyle/>
          <a:p>
            <a:pPr indent="0" marL="0">
              <a:buNone/>
            </a:pPr>
            <a:r>
              <a:rPr lang="en-US" sz="1000" dirty="0">
                <a:solidFill>
                  <a:srgbClr val="475569"/>
                </a:solidFill>
              </a:rPr>
              <a:t>Exchange mailbot.correos -&gt; Queue MEX + Queue PER + Dead Letter Queue para reintentos.</a:t>
            </a:r>
            <a:endParaRPr lang="en-US" sz="1000" dirty="0"/>
          </a:p>
        </p:txBody>
      </p:sp>
      <p:sp>
        <p:nvSpPr>
          <p:cNvPr id="37" name="Shape 35"/>
          <p:cNvSpPr/>
          <p:nvPr/>
        </p:nvSpPr>
        <p:spPr>
          <a:xfrm>
            <a:off x="256032" y="3547872"/>
            <a:ext cx="4224528" cy="1115568"/>
          </a:xfrm>
          <a:prstGeom prst="rect">
            <a:avLst/>
          </a:prstGeom>
          <a:solidFill>
            <a:srgbClr val="FFFFFF"/>
          </a:solidFill>
          <a:ln w="19050">
            <a:solidFill>
              <a:srgbClr val="1A3A5C"/>
            </a:solidFill>
            <a:prstDash val="solid"/>
          </a:ln>
          <a:effectLst>
            <a:outerShdw sx="100000" sy="100000" kx="0" ky="0" algn="bl" rotWithShape="0" blurRad="101600" dist="38100" dir="8100000">
              <a:srgbClr val="000000">
                <a:alpha val="18000"/>
              </a:srgbClr>
            </a:outerShdw>
          </a:effectLst>
        </p:spPr>
      </p:sp>
      <p:sp>
        <p:nvSpPr>
          <p:cNvPr id="38" name="Shape 36"/>
          <p:cNvSpPr/>
          <p:nvPr/>
        </p:nvSpPr>
        <p:spPr>
          <a:xfrm>
            <a:off x="256032" y="3547872"/>
            <a:ext cx="4224528" cy="347472"/>
          </a:xfrm>
          <a:prstGeom prst="rect">
            <a:avLst/>
          </a:prstGeom>
          <a:solidFill>
            <a:srgbClr val="1A3A5C"/>
          </a:solidFill>
          <a:ln w="12700">
            <a:solidFill>
              <a:srgbClr val="1A3A5C"/>
            </a:solidFill>
            <a:prstDash val="solid"/>
          </a:ln>
        </p:spPr>
      </p:sp>
      <p:sp>
        <p:nvSpPr>
          <p:cNvPr id="39" name="Text 37"/>
          <p:cNvSpPr/>
          <p:nvPr/>
        </p:nvSpPr>
        <p:spPr>
          <a:xfrm>
            <a:off x="256032" y="3547872"/>
            <a:ext cx="4224528" cy="347472"/>
          </a:xfrm>
          <a:prstGeom prst="rect">
            <a:avLst/>
          </a:prstGeom>
          <a:noFill/>
          <a:ln/>
        </p:spPr>
        <p:txBody>
          <a:bodyPr wrap="square" lIns="0" tIns="0" rIns="0" bIns="0" rtlCol="0" anchor="ctr"/>
          <a:lstStyle/>
          <a:p>
            <a:pPr algn="ctr" indent="0" marL="0">
              <a:buNone/>
            </a:pPr>
            <a:r>
              <a:rPr lang="en-US" sz="1100" b="1" dirty="0">
                <a:solidFill>
                  <a:srgbClr val="FFFFFF"/>
                </a:solidFill>
              </a:rPr>
              <a:t>MailbotWorker.sln (.NET 10)</a:t>
            </a:r>
            <a:endParaRPr lang="en-US" sz="1100" dirty="0"/>
          </a:p>
        </p:txBody>
      </p:sp>
      <p:sp>
        <p:nvSpPr>
          <p:cNvPr id="40" name="Text 38"/>
          <p:cNvSpPr/>
          <p:nvPr/>
        </p:nvSpPr>
        <p:spPr>
          <a:xfrm>
            <a:off x="347472" y="3931920"/>
            <a:ext cx="4041648" cy="694944"/>
          </a:xfrm>
          <a:prstGeom prst="rect">
            <a:avLst/>
          </a:prstGeom>
          <a:noFill/>
          <a:ln/>
        </p:spPr>
        <p:txBody>
          <a:bodyPr wrap="square" lIns="25400" tIns="50800" rIns="50800" bIns="25400" rtlCol="0" anchor="t"/>
          <a:lstStyle/>
          <a:p>
            <a:pPr indent="0" marL="0">
              <a:buNone/>
            </a:pPr>
            <a:r>
              <a:rPr lang="en-US" sz="1000" dirty="0">
                <a:solidFill>
                  <a:srgbClr val="475569"/>
                </a:solidFill>
              </a:rPr>
              <a:t>CorreoWorkerMex/Per consumen queues por region. Clasificacion con Agente IA OpenAI/Azure.</a:t>
            </a:r>
            <a:endParaRPr lang="en-US" sz="1000" dirty="0"/>
          </a:p>
        </p:txBody>
      </p:sp>
      <p:sp>
        <p:nvSpPr>
          <p:cNvPr id="41" name="Shape 39"/>
          <p:cNvSpPr/>
          <p:nvPr/>
        </p:nvSpPr>
        <p:spPr>
          <a:xfrm>
            <a:off x="4709160" y="3547872"/>
            <a:ext cx="4224528" cy="1115568"/>
          </a:xfrm>
          <a:prstGeom prst="rect">
            <a:avLst/>
          </a:prstGeom>
          <a:solidFill>
            <a:srgbClr val="FFFFFF"/>
          </a:solidFill>
          <a:ln w="19050">
            <a:solidFill>
              <a:srgbClr val="0D9488"/>
            </a:solidFill>
            <a:prstDash val="solid"/>
          </a:ln>
          <a:effectLst>
            <a:outerShdw sx="100000" sy="100000" kx="0" ky="0" algn="bl" rotWithShape="0" blurRad="101600" dist="38100" dir="8100000">
              <a:srgbClr val="000000">
                <a:alpha val="18000"/>
              </a:srgbClr>
            </a:outerShdw>
          </a:effectLst>
        </p:spPr>
      </p:sp>
      <p:sp>
        <p:nvSpPr>
          <p:cNvPr id="42" name="Shape 40"/>
          <p:cNvSpPr/>
          <p:nvPr/>
        </p:nvSpPr>
        <p:spPr>
          <a:xfrm>
            <a:off x="4709160" y="3547872"/>
            <a:ext cx="4224528" cy="347472"/>
          </a:xfrm>
          <a:prstGeom prst="rect">
            <a:avLst/>
          </a:prstGeom>
          <a:solidFill>
            <a:srgbClr val="0D9488"/>
          </a:solidFill>
          <a:ln w="12700">
            <a:solidFill>
              <a:srgbClr val="0D9488"/>
            </a:solidFill>
            <a:prstDash val="solid"/>
          </a:ln>
        </p:spPr>
      </p:sp>
      <p:sp>
        <p:nvSpPr>
          <p:cNvPr id="43" name="Text 41"/>
          <p:cNvSpPr/>
          <p:nvPr/>
        </p:nvSpPr>
        <p:spPr>
          <a:xfrm>
            <a:off x="4709160" y="3547872"/>
            <a:ext cx="4224528" cy="347472"/>
          </a:xfrm>
          <a:prstGeom prst="rect">
            <a:avLst/>
          </a:prstGeom>
          <a:noFill/>
          <a:ln/>
        </p:spPr>
        <p:txBody>
          <a:bodyPr wrap="square" lIns="0" tIns="0" rIns="0" bIns="0" rtlCol="0" anchor="ctr"/>
          <a:lstStyle/>
          <a:p>
            <a:pPr algn="ctr" indent="0" marL="0">
              <a:buNone/>
            </a:pPr>
            <a:r>
              <a:rPr lang="en-US" sz="1100" b="1" dirty="0">
                <a:solidFill>
                  <a:srgbClr val="FFFFFF"/>
                </a:solidFill>
              </a:rPr>
              <a:t>Integraciones</a:t>
            </a:r>
            <a:endParaRPr lang="en-US" sz="1100" dirty="0"/>
          </a:p>
        </p:txBody>
      </p:sp>
      <p:sp>
        <p:nvSpPr>
          <p:cNvPr id="44" name="Text 42"/>
          <p:cNvSpPr/>
          <p:nvPr/>
        </p:nvSpPr>
        <p:spPr>
          <a:xfrm>
            <a:off x="4800600" y="3931920"/>
            <a:ext cx="4041648" cy="694944"/>
          </a:xfrm>
          <a:prstGeom prst="rect">
            <a:avLst/>
          </a:prstGeom>
          <a:noFill/>
          <a:ln/>
        </p:spPr>
        <p:txBody>
          <a:bodyPr wrap="square" lIns="25400" tIns="50800" rIns="50800" bIns="25400" rtlCol="0" anchor="t"/>
          <a:lstStyle/>
          <a:p>
            <a:pPr indent="0" marL="0">
              <a:buNone/>
            </a:pPr>
            <a:r>
              <a:rPr lang="en-US" sz="1000" dirty="0">
                <a:solidFill>
                  <a:srgbClr val="475569"/>
                </a:solidFill>
              </a:rPr>
              <a:t>MinIO bucket:mailbot — adjuntos persistidos. Brevo — alertas en DLQ. IdentityServer — auth.</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D1B2A"/>
          </a:solidFill>
          <a:ln w="12700">
            <a:solidFill>
              <a:srgbClr val="0D1B2A"/>
            </a:solidFill>
            <a:prstDash val="solid"/>
          </a:ln>
        </p:spPr>
      </p:sp>
      <p:sp>
        <p:nvSpPr>
          <p:cNvPr id="3" name="Shape 1"/>
          <p:cNvSpPr/>
          <p:nvPr/>
        </p:nvSpPr>
        <p:spPr>
          <a:xfrm>
            <a:off x="0" y="0"/>
            <a:ext cx="320040" cy="777240"/>
          </a:xfrm>
          <a:prstGeom prst="rect">
            <a:avLst/>
          </a:prstGeom>
          <a:solidFill>
            <a:srgbClr val="7C3AED"/>
          </a:solidFill>
          <a:ln w="12700">
            <a:solidFill>
              <a:srgbClr val="7C3AED"/>
            </a:solidFill>
            <a:prstDash val="solid"/>
          </a:ln>
        </p:spPr>
      </p:sp>
      <p:sp>
        <p:nvSpPr>
          <p:cNvPr id="4" name="Text 2"/>
          <p:cNvSpPr/>
          <p:nvPr/>
        </p:nvSpPr>
        <p:spPr>
          <a:xfrm>
            <a:off x="502920" y="0"/>
            <a:ext cx="8503920" cy="777240"/>
          </a:xfrm>
          <a:prstGeom prst="rect">
            <a:avLst/>
          </a:prstGeom>
          <a:noFill/>
          <a:ln/>
        </p:spPr>
        <p:txBody>
          <a:bodyPr wrap="square" lIns="0" tIns="0" rIns="0" bIns="0" rtlCol="0" anchor="ctr"/>
          <a:lstStyle/>
          <a:p>
            <a:pPr indent="0" marL="0">
              <a:buNone/>
            </a:pPr>
            <a:r>
              <a:rPr lang="en-US" sz="1900" b="1" dirty="0">
                <a:solidFill>
                  <a:srgbClr val="FFFFFF"/>
                </a:solidFill>
              </a:rPr>
              <a:t>Propuesta 2 — Gmail Push + Google Cloud Pub/Sub + Worker .NET 10</a:t>
            </a:r>
            <a:endParaRPr lang="en-US" sz="1900" dirty="0"/>
          </a:p>
        </p:txBody>
      </p:sp>
      <p:sp>
        <p:nvSpPr>
          <p:cNvPr id="5" name="Shape 3"/>
          <p:cNvSpPr/>
          <p:nvPr/>
        </p:nvSpPr>
        <p:spPr>
          <a:xfrm>
            <a:off x="256032" y="914400"/>
            <a:ext cx="1298448" cy="868680"/>
          </a:xfrm>
          <a:prstGeom prst="rect">
            <a:avLst/>
          </a:prstGeom>
          <a:solidFill>
            <a:srgbClr val="7C3AED"/>
          </a:solidFill>
          <a:ln w="12700">
            <a:solidFill>
              <a:srgbClr val="7C3AED"/>
            </a:solidFill>
            <a:prstDash val="solid"/>
          </a:ln>
          <a:effectLst>
            <a:outerShdw sx="100000" sy="100000" kx="0" ky="0" algn="bl" rotWithShape="0" blurRad="101600" dist="38100" dir="8100000">
              <a:srgbClr val="000000">
                <a:alpha val="18000"/>
              </a:srgbClr>
            </a:outerShdw>
          </a:effectLst>
        </p:spPr>
      </p:sp>
      <p:sp>
        <p:nvSpPr>
          <p:cNvPr id="6" name="Text 4"/>
          <p:cNvSpPr/>
          <p:nvPr/>
        </p:nvSpPr>
        <p:spPr>
          <a:xfrm>
            <a:off x="256032" y="914400"/>
            <a:ext cx="1298448" cy="594360"/>
          </a:xfrm>
          <a:prstGeom prst="rect">
            <a:avLst/>
          </a:prstGeom>
          <a:noFill/>
          <a:ln/>
        </p:spPr>
        <p:txBody>
          <a:bodyPr wrap="square" lIns="0" tIns="0" rIns="0" bIns="0" rtlCol="0" anchor="b"/>
          <a:lstStyle/>
          <a:p>
            <a:pPr algn="ctr" indent="0" marL="0">
              <a:buNone/>
            </a:pPr>
            <a:r>
              <a:rPr lang="en-US" sz="1000" b="1" dirty="0">
                <a:solidFill>
                  <a:srgbClr val="FFFFFF"/>
                </a:solidFill>
              </a:rPr>
              <a:t>Gmail</a:t>
            </a:r>
            <a:endParaRPr lang="en-US" sz="1000" dirty="0"/>
          </a:p>
          <a:p>
            <a:pPr algn="ctr" indent="0" marL="0">
              <a:buNone/>
            </a:pPr>
            <a:r>
              <a:rPr lang="en-US" sz="1000" b="1" dirty="0">
                <a:solidFill>
                  <a:srgbClr val="FFFFFF"/>
                </a:solidFill>
              </a:rPr>
              <a:t>INBOX</a:t>
            </a:r>
            <a:endParaRPr lang="en-US" sz="1000" dirty="0"/>
          </a:p>
        </p:txBody>
      </p:sp>
      <p:sp>
        <p:nvSpPr>
          <p:cNvPr id="7" name="Text 5"/>
          <p:cNvSpPr/>
          <p:nvPr/>
        </p:nvSpPr>
        <p:spPr>
          <a:xfrm>
            <a:off x="256032" y="1508760"/>
            <a:ext cx="1298448" cy="274320"/>
          </a:xfrm>
          <a:prstGeom prst="rect">
            <a:avLst/>
          </a:prstGeom>
          <a:noFill/>
          <a:ln/>
        </p:spPr>
        <p:txBody>
          <a:bodyPr wrap="square" lIns="0" tIns="0" rIns="0" bIns="0" rtlCol="0" anchor="ctr"/>
          <a:lstStyle/>
          <a:p>
            <a:pPr algn="ctr" indent="0" marL="0">
              <a:buNone/>
            </a:pPr>
            <a:r>
              <a:rPr lang="en-US" sz="750" dirty="0">
                <a:solidFill>
                  <a:srgbClr val="DDDDDD"/>
                </a:solidFill>
              </a:rPr>
              <a:t>watch activo</a:t>
            </a:r>
            <a:endParaRPr lang="en-US" sz="750" dirty="0"/>
          </a:p>
        </p:txBody>
      </p:sp>
      <p:sp>
        <p:nvSpPr>
          <p:cNvPr id="8" name="Shape 6"/>
          <p:cNvSpPr/>
          <p:nvPr/>
        </p:nvSpPr>
        <p:spPr>
          <a:xfrm>
            <a:off x="1554480" y="1307592"/>
            <a:ext cx="164592" cy="73152"/>
          </a:xfrm>
          <a:prstGeom prst="rect">
            <a:avLst/>
          </a:prstGeom>
          <a:solidFill>
            <a:srgbClr val="475569"/>
          </a:solidFill>
          <a:ln w="12700">
            <a:solidFill>
              <a:srgbClr val="475569"/>
            </a:solidFill>
            <a:prstDash val="solid"/>
          </a:ln>
        </p:spPr>
      </p:sp>
      <p:sp>
        <p:nvSpPr>
          <p:cNvPr id="9" name="Shape 7"/>
          <p:cNvSpPr/>
          <p:nvPr/>
        </p:nvSpPr>
        <p:spPr>
          <a:xfrm>
            <a:off x="1719072" y="914400"/>
            <a:ext cx="1298448" cy="868680"/>
          </a:xfrm>
          <a:prstGeom prst="rect">
            <a:avLst/>
          </a:prstGeom>
          <a:solidFill>
            <a:srgbClr val="7C3AED"/>
          </a:solidFill>
          <a:ln w="12700">
            <a:solidFill>
              <a:srgbClr val="7C3AED"/>
            </a:solidFill>
            <a:prstDash val="solid"/>
          </a:ln>
          <a:effectLst>
            <a:outerShdw sx="100000" sy="100000" kx="0" ky="0" algn="bl" rotWithShape="0" blurRad="101600" dist="38100" dir="8100000">
              <a:srgbClr val="000000">
                <a:alpha val="18000"/>
              </a:srgbClr>
            </a:outerShdw>
          </a:effectLst>
        </p:spPr>
      </p:sp>
      <p:sp>
        <p:nvSpPr>
          <p:cNvPr id="10" name="Text 8"/>
          <p:cNvSpPr/>
          <p:nvPr/>
        </p:nvSpPr>
        <p:spPr>
          <a:xfrm>
            <a:off x="1719072" y="914400"/>
            <a:ext cx="1298448" cy="594360"/>
          </a:xfrm>
          <a:prstGeom prst="rect">
            <a:avLst/>
          </a:prstGeom>
          <a:noFill/>
          <a:ln/>
        </p:spPr>
        <p:txBody>
          <a:bodyPr wrap="square" lIns="0" tIns="0" rIns="0" bIns="0" rtlCol="0" anchor="b"/>
          <a:lstStyle/>
          <a:p>
            <a:pPr algn="ctr" indent="0" marL="0">
              <a:buNone/>
            </a:pPr>
            <a:r>
              <a:rPr lang="en-US" sz="1000" b="1" dirty="0">
                <a:solidFill>
                  <a:srgbClr val="FFFFFF"/>
                </a:solidFill>
              </a:rPr>
              <a:t>GCloud</a:t>
            </a:r>
            <a:endParaRPr lang="en-US" sz="1000" dirty="0"/>
          </a:p>
          <a:p>
            <a:pPr algn="ctr" indent="0" marL="0">
              <a:buNone/>
            </a:pPr>
            <a:r>
              <a:rPr lang="en-US" sz="1000" b="1" dirty="0">
                <a:solidFill>
                  <a:srgbClr val="FFFFFF"/>
                </a:solidFill>
              </a:rPr>
              <a:t>Pub/Sub</a:t>
            </a:r>
            <a:endParaRPr lang="en-US" sz="1000" dirty="0"/>
          </a:p>
        </p:txBody>
      </p:sp>
      <p:sp>
        <p:nvSpPr>
          <p:cNvPr id="11" name="Text 9"/>
          <p:cNvSpPr/>
          <p:nvPr/>
        </p:nvSpPr>
        <p:spPr>
          <a:xfrm>
            <a:off x="1719072" y="1508760"/>
            <a:ext cx="1298448" cy="274320"/>
          </a:xfrm>
          <a:prstGeom prst="rect">
            <a:avLst/>
          </a:prstGeom>
          <a:noFill/>
          <a:ln/>
        </p:spPr>
        <p:txBody>
          <a:bodyPr wrap="square" lIns="0" tIns="0" rIns="0" bIns="0" rtlCol="0" anchor="ctr"/>
          <a:lstStyle/>
          <a:p>
            <a:pPr algn="ctr" indent="0" marL="0">
              <a:buNone/>
            </a:pPr>
            <a:r>
              <a:rPr lang="en-US" sz="750" dirty="0">
                <a:solidFill>
                  <a:srgbClr val="DDDDDD"/>
                </a:solidFill>
              </a:rPr>
              <a:t>mailbot-mex/per</a:t>
            </a:r>
            <a:endParaRPr lang="en-US" sz="750" dirty="0"/>
          </a:p>
        </p:txBody>
      </p:sp>
      <p:sp>
        <p:nvSpPr>
          <p:cNvPr id="12" name="Shape 10"/>
          <p:cNvSpPr/>
          <p:nvPr/>
        </p:nvSpPr>
        <p:spPr>
          <a:xfrm>
            <a:off x="3017520" y="1307592"/>
            <a:ext cx="164592" cy="73152"/>
          </a:xfrm>
          <a:prstGeom prst="rect">
            <a:avLst/>
          </a:prstGeom>
          <a:solidFill>
            <a:srgbClr val="475569"/>
          </a:solidFill>
          <a:ln w="12700">
            <a:solidFill>
              <a:srgbClr val="475569"/>
            </a:solidFill>
            <a:prstDash val="solid"/>
          </a:ln>
        </p:spPr>
      </p:sp>
      <p:sp>
        <p:nvSpPr>
          <p:cNvPr id="13" name="Shape 11"/>
          <p:cNvSpPr/>
          <p:nvPr/>
        </p:nvSpPr>
        <p:spPr>
          <a:xfrm>
            <a:off x="3182112" y="914400"/>
            <a:ext cx="1298448" cy="868680"/>
          </a:xfrm>
          <a:prstGeom prst="rect">
            <a:avLst/>
          </a:prstGeom>
          <a:solidFill>
            <a:srgbClr val="1A3A5C"/>
          </a:solidFill>
          <a:ln w="12700">
            <a:solidFill>
              <a:srgbClr val="1A3A5C"/>
            </a:solidFill>
            <a:prstDash val="solid"/>
          </a:ln>
          <a:effectLst>
            <a:outerShdw sx="100000" sy="100000" kx="0" ky="0" algn="bl" rotWithShape="0" blurRad="101600" dist="38100" dir="8100000">
              <a:srgbClr val="000000">
                <a:alpha val="18000"/>
              </a:srgbClr>
            </a:outerShdw>
          </a:effectLst>
        </p:spPr>
      </p:sp>
      <p:sp>
        <p:nvSpPr>
          <p:cNvPr id="14" name="Text 12"/>
          <p:cNvSpPr/>
          <p:nvPr/>
        </p:nvSpPr>
        <p:spPr>
          <a:xfrm>
            <a:off x="3182112" y="914400"/>
            <a:ext cx="1298448" cy="594360"/>
          </a:xfrm>
          <a:prstGeom prst="rect">
            <a:avLst/>
          </a:prstGeom>
          <a:noFill/>
          <a:ln/>
        </p:spPr>
        <p:txBody>
          <a:bodyPr wrap="square" lIns="0" tIns="0" rIns="0" bIns="0" rtlCol="0" anchor="b"/>
          <a:lstStyle/>
          <a:p>
            <a:pPr algn="ctr" indent="0" marL="0">
              <a:buNone/>
            </a:pPr>
            <a:r>
              <a:rPr lang="en-US" sz="1000" b="1" dirty="0">
                <a:solidFill>
                  <a:srgbClr val="FFFFFF"/>
                </a:solidFill>
              </a:rPr>
              <a:t>Mailbot.Api</a:t>
            </a:r>
            <a:endParaRPr lang="en-US" sz="1000" dirty="0"/>
          </a:p>
          <a:p>
            <a:pPr algn="ctr" indent="0" marL="0">
              <a:buNone/>
            </a:pPr>
            <a:r>
              <a:rPr lang="en-US" sz="1000" b="1" dirty="0">
                <a:solidFill>
                  <a:srgbClr val="FFFFFF"/>
                </a:solidFill>
              </a:rPr>
              <a:t>.NET 10</a:t>
            </a:r>
            <a:endParaRPr lang="en-US" sz="1000" dirty="0"/>
          </a:p>
        </p:txBody>
      </p:sp>
      <p:sp>
        <p:nvSpPr>
          <p:cNvPr id="15" name="Text 13"/>
          <p:cNvSpPr/>
          <p:nvPr/>
        </p:nvSpPr>
        <p:spPr>
          <a:xfrm>
            <a:off x="3182112" y="1508760"/>
            <a:ext cx="1298448" cy="274320"/>
          </a:xfrm>
          <a:prstGeom prst="rect">
            <a:avLst/>
          </a:prstGeom>
          <a:noFill/>
          <a:ln/>
        </p:spPr>
        <p:txBody>
          <a:bodyPr wrap="square" lIns="0" tIns="0" rIns="0" bIns="0" rtlCol="0" anchor="ctr"/>
          <a:lstStyle/>
          <a:p>
            <a:pPr algn="ctr" indent="0" marL="0">
              <a:buNone/>
            </a:pPr>
            <a:r>
              <a:rPr lang="en-US" sz="750" dirty="0">
                <a:solidFill>
                  <a:srgbClr val="DDDDDD"/>
                </a:solidFill>
              </a:rPr>
              <a:t>POST /webhook</a:t>
            </a:r>
            <a:endParaRPr lang="en-US" sz="750" dirty="0"/>
          </a:p>
        </p:txBody>
      </p:sp>
      <p:sp>
        <p:nvSpPr>
          <p:cNvPr id="16" name="Shape 14"/>
          <p:cNvSpPr/>
          <p:nvPr/>
        </p:nvSpPr>
        <p:spPr>
          <a:xfrm>
            <a:off x="4480560" y="1307592"/>
            <a:ext cx="164592" cy="73152"/>
          </a:xfrm>
          <a:prstGeom prst="rect">
            <a:avLst/>
          </a:prstGeom>
          <a:solidFill>
            <a:srgbClr val="475569"/>
          </a:solidFill>
          <a:ln w="12700">
            <a:solidFill>
              <a:srgbClr val="475569"/>
            </a:solidFill>
            <a:prstDash val="solid"/>
          </a:ln>
        </p:spPr>
      </p:sp>
      <p:sp>
        <p:nvSpPr>
          <p:cNvPr id="17" name="Shape 15"/>
          <p:cNvSpPr/>
          <p:nvPr/>
        </p:nvSpPr>
        <p:spPr>
          <a:xfrm>
            <a:off x="4645152" y="914400"/>
            <a:ext cx="1298448" cy="868680"/>
          </a:xfrm>
          <a:prstGeom prst="rect">
            <a:avLst/>
          </a:prstGeom>
          <a:solidFill>
            <a:srgbClr val="1A3A5C"/>
          </a:solidFill>
          <a:ln w="12700">
            <a:solidFill>
              <a:srgbClr val="1A3A5C"/>
            </a:solidFill>
            <a:prstDash val="solid"/>
          </a:ln>
          <a:effectLst>
            <a:outerShdw sx="100000" sy="100000" kx="0" ky="0" algn="bl" rotWithShape="0" blurRad="101600" dist="38100" dir="8100000">
              <a:srgbClr val="000000">
                <a:alpha val="18000"/>
              </a:srgbClr>
            </a:outerShdw>
          </a:effectLst>
        </p:spPr>
      </p:sp>
      <p:sp>
        <p:nvSpPr>
          <p:cNvPr id="18" name="Text 16"/>
          <p:cNvSpPr/>
          <p:nvPr/>
        </p:nvSpPr>
        <p:spPr>
          <a:xfrm>
            <a:off x="4645152" y="914400"/>
            <a:ext cx="1298448" cy="594360"/>
          </a:xfrm>
          <a:prstGeom prst="rect">
            <a:avLst/>
          </a:prstGeom>
          <a:noFill/>
          <a:ln/>
        </p:spPr>
        <p:txBody>
          <a:bodyPr wrap="square" lIns="0" tIns="0" rIns="0" bIns="0" rtlCol="0" anchor="b"/>
          <a:lstStyle/>
          <a:p>
            <a:pPr algn="ctr" indent="0" marL="0">
              <a:buNone/>
            </a:pPr>
            <a:r>
              <a:rPr lang="en-US" sz="1000" b="1" dirty="0">
                <a:solidFill>
                  <a:srgbClr val="FFFFFF"/>
                </a:solidFill>
              </a:rPr>
              <a:t>Channel</a:t>
            </a:r>
            <a:endParaRPr lang="en-US" sz="1000" dirty="0"/>
          </a:p>
          <a:p>
            <a:pPr algn="ctr" indent="0" marL="0">
              <a:buNone/>
            </a:pPr>
            <a:r>
              <a:rPr lang="en-US" sz="1000" b="1" dirty="0">
                <a:solidFill>
                  <a:srgbClr val="FFFFFF"/>
                </a:solidFill>
              </a:rPr>
              <a:t>Interno</a:t>
            </a:r>
            <a:endParaRPr lang="en-US" sz="1000" dirty="0"/>
          </a:p>
        </p:txBody>
      </p:sp>
      <p:sp>
        <p:nvSpPr>
          <p:cNvPr id="19" name="Text 17"/>
          <p:cNvSpPr/>
          <p:nvPr/>
        </p:nvSpPr>
        <p:spPr>
          <a:xfrm>
            <a:off x="4645152" y="1508760"/>
            <a:ext cx="1298448" cy="274320"/>
          </a:xfrm>
          <a:prstGeom prst="rect">
            <a:avLst/>
          </a:prstGeom>
          <a:noFill/>
          <a:ln/>
        </p:spPr>
        <p:txBody>
          <a:bodyPr wrap="square" lIns="0" tIns="0" rIns="0" bIns="0" rtlCol="0" anchor="ctr"/>
          <a:lstStyle/>
          <a:p>
            <a:pPr algn="ctr" indent="0" marL="0">
              <a:buNone/>
            </a:pPr>
            <a:r>
              <a:rPr lang="en-US" sz="750" dirty="0">
                <a:solidFill>
                  <a:srgbClr val="DDDDDD"/>
                </a:solidFill>
              </a:rPr>
              <a:t>System.Threading</a:t>
            </a:r>
            <a:endParaRPr lang="en-US" sz="750" dirty="0"/>
          </a:p>
        </p:txBody>
      </p:sp>
      <p:sp>
        <p:nvSpPr>
          <p:cNvPr id="20" name="Shape 18"/>
          <p:cNvSpPr/>
          <p:nvPr/>
        </p:nvSpPr>
        <p:spPr>
          <a:xfrm>
            <a:off x="5943600" y="1307592"/>
            <a:ext cx="164592" cy="73152"/>
          </a:xfrm>
          <a:prstGeom prst="rect">
            <a:avLst/>
          </a:prstGeom>
          <a:solidFill>
            <a:srgbClr val="475569"/>
          </a:solidFill>
          <a:ln w="12700">
            <a:solidFill>
              <a:srgbClr val="475569"/>
            </a:solidFill>
            <a:prstDash val="solid"/>
          </a:ln>
        </p:spPr>
      </p:sp>
      <p:sp>
        <p:nvSpPr>
          <p:cNvPr id="21" name="Shape 19"/>
          <p:cNvSpPr/>
          <p:nvPr/>
        </p:nvSpPr>
        <p:spPr>
          <a:xfrm>
            <a:off x="6108192" y="914400"/>
            <a:ext cx="1298448" cy="868680"/>
          </a:xfrm>
          <a:prstGeom prst="rect">
            <a:avLst/>
          </a:prstGeom>
          <a:solidFill>
            <a:srgbClr val="1A3A5C"/>
          </a:solidFill>
          <a:ln w="12700">
            <a:solidFill>
              <a:srgbClr val="1A3A5C"/>
            </a:solidFill>
            <a:prstDash val="solid"/>
          </a:ln>
          <a:effectLst>
            <a:outerShdw sx="100000" sy="100000" kx="0" ky="0" algn="bl" rotWithShape="0" blurRad="101600" dist="38100" dir="8100000">
              <a:srgbClr val="000000">
                <a:alpha val="18000"/>
              </a:srgbClr>
            </a:outerShdw>
          </a:effectLst>
        </p:spPr>
      </p:sp>
      <p:sp>
        <p:nvSpPr>
          <p:cNvPr id="22" name="Text 20"/>
          <p:cNvSpPr/>
          <p:nvPr/>
        </p:nvSpPr>
        <p:spPr>
          <a:xfrm>
            <a:off x="6108192" y="914400"/>
            <a:ext cx="1298448" cy="594360"/>
          </a:xfrm>
          <a:prstGeom prst="rect">
            <a:avLst/>
          </a:prstGeom>
          <a:noFill/>
          <a:ln/>
        </p:spPr>
        <p:txBody>
          <a:bodyPr wrap="square" lIns="0" tIns="0" rIns="0" bIns="0" rtlCol="0" anchor="b"/>
          <a:lstStyle/>
          <a:p>
            <a:pPr algn="ctr" indent="0" marL="0">
              <a:buNone/>
            </a:pPr>
            <a:r>
              <a:rPr lang="en-US" sz="1000" b="1" dirty="0">
                <a:solidFill>
                  <a:srgbClr val="FFFFFF"/>
                </a:solidFill>
              </a:rPr>
              <a:t>Worker</a:t>
            </a:r>
            <a:endParaRPr lang="en-US" sz="1000" dirty="0"/>
          </a:p>
          <a:p>
            <a:pPr algn="ctr" indent="0" marL="0">
              <a:buNone/>
            </a:pPr>
            <a:r>
              <a:rPr lang="en-US" sz="1000" b="1" dirty="0">
                <a:solidFill>
                  <a:srgbClr val="FFFFFF"/>
                </a:solidFill>
              </a:rPr>
              <a:t>.NET 10</a:t>
            </a:r>
            <a:endParaRPr lang="en-US" sz="1000" dirty="0"/>
          </a:p>
        </p:txBody>
      </p:sp>
      <p:sp>
        <p:nvSpPr>
          <p:cNvPr id="23" name="Text 21"/>
          <p:cNvSpPr/>
          <p:nvPr/>
        </p:nvSpPr>
        <p:spPr>
          <a:xfrm>
            <a:off x="6108192" y="1508760"/>
            <a:ext cx="1298448" cy="274320"/>
          </a:xfrm>
          <a:prstGeom prst="rect">
            <a:avLst/>
          </a:prstGeom>
          <a:noFill/>
          <a:ln/>
        </p:spPr>
        <p:txBody>
          <a:bodyPr wrap="square" lIns="0" tIns="0" rIns="0" bIns="0" rtlCol="0" anchor="ctr"/>
          <a:lstStyle/>
          <a:p>
            <a:pPr algn="ctr" indent="0" marL="0">
              <a:buNone/>
            </a:pPr>
            <a:r>
              <a:rPr lang="en-US" sz="750" dirty="0">
                <a:solidFill>
                  <a:srgbClr val="DDDDDD"/>
                </a:solidFill>
              </a:rPr>
              <a:t>CorreoWorkerMex/Per</a:t>
            </a:r>
            <a:endParaRPr lang="en-US" sz="750" dirty="0"/>
          </a:p>
        </p:txBody>
      </p:sp>
      <p:sp>
        <p:nvSpPr>
          <p:cNvPr id="24" name="Shape 22"/>
          <p:cNvSpPr/>
          <p:nvPr/>
        </p:nvSpPr>
        <p:spPr>
          <a:xfrm>
            <a:off x="7406640" y="1307592"/>
            <a:ext cx="164592" cy="73152"/>
          </a:xfrm>
          <a:prstGeom prst="rect">
            <a:avLst/>
          </a:prstGeom>
          <a:solidFill>
            <a:srgbClr val="475569"/>
          </a:solidFill>
          <a:ln w="12700">
            <a:solidFill>
              <a:srgbClr val="475569"/>
            </a:solidFill>
            <a:prstDash val="solid"/>
          </a:ln>
        </p:spPr>
      </p:sp>
      <p:sp>
        <p:nvSpPr>
          <p:cNvPr id="25" name="Shape 23"/>
          <p:cNvSpPr/>
          <p:nvPr/>
        </p:nvSpPr>
        <p:spPr>
          <a:xfrm>
            <a:off x="7571232" y="914400"/>
            <a:ext cx="1298448" cy="868680"/>
          </a:xfrm>
          <a:prstGeom prst="rect">
            <a:avLst/>
          </a:prstGeom>
          <a:solidFill>
            <a:srgbClr val="0D9488"/>
          </a:solidFill>
          <a:ln w="12700">
            <a:solidFill>
              <a:srgbClr val="0D9488"/>
            </a:solidFill>
            <a:prstDash val="solid"/>
          </a:ln>
          <a:effectLst>
            <a:outerShdw sx="100000" sy="100000" kx="0" ky="0" algn="bl" rotWithShape="0" blurRad="101600" dist="38100" dir="8100000">
              <a:srgbClr val="000000">
                <a:alpha val="18000"/>
              </a:srgbClr>
            </a:outerShdw>
          </a:effectLst>
        </p:spPr>
      </p:sp>
      <p:sp>
        <p:nvSpPr>
          <p:cNvPr id="26" name="Text 24"/>
          <p:cNvSpPr/>
          <p:nvPr/>
        </p:nvSpPr>
        <p:spPr>
          <a:xfrm>
            <a:off x="7571232" y="914400"/>
            <a:ext cx="1298448" cy="594360"/>
          </a:xfrm>
          <a:prstGeom prst="rect">
            <a:avLst/>
          </a:prstGeom>
          <a:noFill/>
          <a:ln/>
        </p:spPr>
        <p:txBody>
          <a:bodyPr wrap="square" lIns="0" tIns="0" rIns="0" bIns="0" rtlCol="0" anchor="b"/>
          <a:lstStyle/>
          <a:p>
            <a:pPr algn="ctr" indent="0" marL="0">
              <a:buNone/>
            </a:pPr>
            <a:r>
              <a:rPr lang="en-US" sz="1000" b="1" dirty="0">
                <a:solidFill>
                  <a:srgbClr val="FFFFFF"/>
                </a:solidFill>
              </a:rPr>
              <a:t>Agente IA</a:t>
            </a:r>
            <a:endParaRPr lang="en-US" sz="1000" dirty="0"/>
          </a:p>
          <a:p>
            <a:pPr algn="ctr" indent="0" marL="0">
              <a:buNone/>
            </a:pPr>
            <a:r>
              <a:rPr lang="en-US" sz="1000" b="1" dirty="0">
                <a:solidFill>
                  <a:srgbClr val="FFFFFF"/>
                </a:solidFill>
              </a:rPr>
              <a:t>OpenAI</a:t>
            </a:r>
            <a:endParaRPr lang="en-US" sz="1000" dirty="0"/>
          </a:p>
        </p:txBody>
      </p:sp>
      <p:sp>
        <p:nvSpPr>
          <p:cNvPr id="27" name="Text 25"/>
          <p:cNvSpPr/>
          <p:nvPr/>
        </p:nvSpPr>
        <p:spPr>
          <a:xfrm>
            <a:off x="7571232" y="1508760"/>
            <a:ext cx="1298448" cy="274320"/>
          </a:xfrm>
          <a:prstGeom prst="rect">
            <a:avLst/>
          </a:prstGeom>
          <a:noFill/>
          <a:ln/>
        </p:spPr>
        <p:txBody>
          <a:bodyPr wrap="square" lIns="0" tIns="0" rIns="0" bIns="0" rtlCol="0" anchor="ctr"/>
          <a:lstStyle/>
          <a:p>
            <a:pPr algn="ctr" indent="0" marL="0">
              <a:buNone/>
            </a:pPr>
            <a:r>
              <a:rPr lang="en-US" sz="750" dirty="0">
                <a:solidFill>
                  <a:srgbClr val="DDDDDD"/>
                </a:solidFill>
              </a:rPr>
              <a:t>clasifica + extrae</a:t>
            </a:r>
            <a:endParaRPr lang="en-US" sz="750" dirty="0"/>
          </a:p>
        </p:txBody>
      </p:sp>
      <p:sp>
        <p:nvSpPr>
          <p:cNvPr id="28" name="Shape 26"/>
          <p:cNvSpPr/>
          <p:nvPr/>
        </p:nvSpPr>
        <p:spPr>
          <a:xfrm>
            <a:off x="256032" y="2057400"/>
            <a:ext cx="8631936" cy="54864"/>
          </a:xfrm>
          <a:prstGeom prst="rect">
            <a:avLst/>
          </a:prstGeom>
          <a:solidFill>
            <a:srgbClr val="7C3AED"/>
          </a:solidFill>
          <a:ln w="12700">
            <a:solidFill>
              <a:srgbClr val="7C3AED"/>
            </a:solidFill>
            <a:prstDash val="solid"/>
          </a:ln>
        </p:spPr>
      </p:sp>
      <p:sp>
        <p:nvSpPr>
          <p:cNvPr id="29" name="Shape 27"/>
          <p:cNvSpPr/>
          <p:nvPr/>
        </p:nvSpPr>
        <p:spPr>
          <a:xfrm>
            <a:off x="256032" y="2286000"/>
            <a:ext cx="4224528" cy="1115568"/>
          </a:xfrm>
          <a:prstGeom prst="rect">
            <a:avLst/>
          </a:prstGeom>
          <a:solidFill>
            <a:srgbClr val="FFFFFF"/>
          </a:solidFill>
          <a:ln w="19050">
            <a:solidFill>
              <a:srgbClr val="7C3AED"/>
            </a:solidFill>
            <a:prstDash val="solid"/>
          </a:ln>
          <a:effectLst>
            <a:outerShdw sx="100000" sy="100000" kx="0" ky="0" algn="bl" rotWithShape="0" blurRad="101600" dist="38100" dir="8100000">
              <a:srgbClr val="000000">
                <a:alpha val="18000"/>
              </a:srgbClr>
            </a:outerShdw>
          </a:effectLst>
        </p:spPr>
      </p:sp>
      <p:sp>
        <p:nvSpPr>
          <p:cNvPr id="30" name="Shape 28"/>
          <p:cNvSpPr/>
          <p:nvPr/>
        </p:nvSpPr>
        <p:spPr>
          <a:xfrm>
            <a:off x="256032" y="2286000"/>
            <a:ext cx="4224528" cy="347472"/>
          </a:xfrm>
          <a:prstGeom prst="rect">
            <a:avLst/>
          </a:prstGeom>
          <a:solidFill>
            <a:srgbClr val="7C3AED"/>
          </a:solidFill>
          <a:ln w="12700">
            <a:solidFill>
              <a:srgbClr val="7C3AED"/>
            </a:solidFill>
            <a:prstDash val="solid"/>
          </a:ln>
        </p:spPr>
      </p:sp>
      <p:sp>
        <p:nvSpPr>
          <p:cNvPr id="31" name="Text 29"/>
          <p:cNvSpPr/>
          <p:nvPr/>
        </p:nvSpPr>
        <p:spPr>
          <a:xfrm>
            <a:off x="256032" y="2286000"/>
            <a:ext cx="4224528" cy="347472"/>
          </a:xfrm>
          <a:prstGeom prst="rect">
            <a:avLst/>
          </a:prstGeom>
          <a:noFill/>
          <a:ln/>
        </p:spPr>
        <p:txBody>
          <a:bodyPr wrap="square" lIns="0" tIns="0" rIns="0" bIns="0" rtlCol="0" anchor="ctr"/>
          <a:lstStyle/>
          <a:p>
            <a:pPr algn="ctr" indent="0" marL="0">
              <a:buNone/>
            </a:pPr>
            <a:r>
              <a:rPr lang="en-US" sz="1100" b="1" dirty="0">
                <a:solidFill>
                  <a:srgbClr val="FFFFFF"/>
                </a:solidFill>
              </a:rPr>
              <a:t>Gmail API watch</a:t>
            </a:r>
            <a:endParaRPr lang="en-US" sz="1100" dirty="0"/>
          </a:p>
        </p:txBody>
      </p:sp>
      <p:sp>
        <p:nvSpPr>
          <p:cNvPr id="32" name="Text 30"/>
          <p:cNvSpPr/>
          <p:nvPr/>
        </p:nvSpPr>
        <p:spPr>
          <a:xfrm>
            <a:off x="347472" y="2670048"/>
            <a:ext cx="4041648" cy="694944"/>
          </a:xfrm>
          <a:prstGeom prst="rect">
            <a:avLst/>
          </a:prstGeom>
          <a:noFill/>
          <a:ln/>
        </p:spPr>
        <p:txBody>
          <a:bodyPr wrap="square" lIns="25400" tIns="50800" rIns="50800" bIns="25400" rtlCol="0" anchor="t"/>
          <a:lstStyle/>
          <a:p>
            <a:pPr indent="0" marL="0">
              <a:buNone/>
            </a:pPr>
            <a:r>
              <a:rPr lang="en-US" sz="1000" dirty="0">
                <a:solidFill>
                  <a:srgbClr val="475569"/>
                </a:solidFill>
              </a:rPr>
              <a:t>watch.create suscribe INBOX a Pub/Sub. GmailWatchRenovacionWorker renueva cada 6 dias (expira c/7).</a:t>
            </a:r>
            <a:endParaRPr lang="en-US" sz="1000" dirty="0"/>
          </a:p>
        </p:txBody>
      </p:sp>
      <p:sp>
        <p:nvSpPr>
          <p:cNvPr id="33" name="Shape 31"/>
          <p:cNvSpPr/>
          <p:nvPr/>
        </p:nvSpPr>
        <p:spPr>
          <a:xfrm>
            <a:off x="4709160" y="2286000"/>
            <a:ext cx="4224528" cy="1115568"/>
          </a:xfrm>
          <a:prstGeom prst="rect">
            <a:avLst/>
          </a:prstGeom>
          <a:solidFill>
            <a:srgbClr val="FFFFFF"/>
          </a:solidFill>
          <a:ln w="19050">
            <a:solidFill>
              <a:srgbClr val="7C3AED"/>
            </a:solidFill>
            <a:prstDash val="solid"/>
          </a:ln>
          <a:effectLst>
            <a:outerShdw sx="100000" sy="100000" kx="0" ky="0" algn="bl" rotWithShape="0" blurRad="101600" dist="38100" dir="8100000">
              <a:srgbClr val="000000">
                <a:alpha val="18000"/>
              </a:srgbClr>
            </a:outerShdw>
          </a:effectLst>
        </p:spPr>
      </p:sp>
      <p:sp>
        <p:nvSpPr>
          <p:cNvPr id="34" name="Shape 32"/>
          <p:cNvSpPr/>
          <p:nvPr/>
        </p:nvSpPr>
        <p:spPr>
          <a:xfrm>
            <a:off x="4709160" y="2286000"/>
            <a:ext cx="4224528" cy="347472"/>
          </a:xfrm>
          <a:prstGeom prst="rect">
            <a:avLst/>
          </a:prstGeom>
          <a:solidFill>
            <a:srgbClr val="7C3AED"/>
          </a:solidFill>
          <a:ln w="12700">
            <a:solidFill>
              <a:srgbClr val="7C3AED"/>
            </a:solidFill>
            <a:prstDash val="solid"/>
          </a:ln>
        </p:spPr>
      </p:sp>
      <p:sp>
        <p:nvSpPr>
          <p:cNvPr id="35" name="Text 33"/>
          <p:cNvSpPr/>
          <p:nvPr/>
        </p:nvSpPr>
        <p:spPr>
          <a:xfrm>
            <a:off x="4709160" y="2286000"/>
            <a:ext cx="4224528" cy="347472"/>
          </a:xfrm>
          <a:prstGeom prst="rect">
            <a:avLst/>
          </a:prstGeom>
          <a:noFill/>
          <a:ln/>
        </p:spPr>
        <p:txBody>
          <a:bodyPr wrap="square" lIns="0" tIns="0" rIns="0" bIns="0" rtlCol="0" anchor="ctr"/>
          <a:lstStyle/>
          <a:p>
            <a:pPr algn="ctr" indent="0" marL="0">
              <a:buNone/>
            </a:pPr>
            <a:r>
              <a:rPr lang="en-US" sz="1100" b="1" dirty="0">
                <a:solidFill>
                  <a:srgbClr val="FFFFFF"/>
                </a:solidFill>
              </a:rPr>
              <a:t>Google Cloud Pub/Sub</a:t>
            </a:r>
            <a:endParaRPr lang="en-US" sz="1100" dirty="0"/>
          </a:p>
        </p:txBody>
      </p:sp>
      <p:sp>
        <p:nvSpPr>
          <p:cNvPr id="36" name="Text 34"/>
          <p:cNvSpPr/>
          <p:nvPr/>
        </p:nvSpPr>
        <p:spPr>
          <a:xfrm>
            <a:off x="4800600" y="2670048"/>
            <a:ext cx="4041648" cy="694944"/>
          </a:xfrm>
          <a:prstGeom prst="rect">
            <a:avLst/>
          </a:prstGeom>
          <a:noFill/>
          <a:ln/>
        </p:spPr>
        <p:txBody>
          <a:bodyPr wrap="square" lIns="25400" tIns="50800" rIns="50800" bIns="25400" rtlCol="0" anchor="t"/>
          <a:lstStyle/>
          <a:p>
            <a:pPr indent="0" marL="0">
              <a:buNone/>
            </a:pPr>
            <a:r>
              <a:rPr lang="en-US" sz="1000" dirty="0">
                <a:solidFill>
                  <a:srgbClr val="475569"/>
                </a:solidFill>
              </a:rPr>
              <a:t>Topics mailbot-mex / mailbot-per con push HTTP. DLQ mailbot-dlq. Sin RabbitMQ ni n8n.</a:t>
            </a:r>
            <a:endParaRPr lang="en-US" sz="1000" dirty="0"/>
          </a:p>
        </p:txBody>
      </p:sp>
      <p:sp>
        <p:nvSpPr>
          <p:cNvPr id="37" name="Shape 35"/>
          <p:cNvSpPr/>
          <p:nvPr/>
        </p:nvSpPr>
        <p:spPr>
          <a:xfrm>
            <a:off x="256032" y="3547872"/>
            <a:ext cx="4224528" cy="1115568"/>
          </a:xfrm>
          <a:prstGeom prst="rect">
            <a:avLst/>
          </a:prstGeom>
          <a:solidFill>
            <a:srgbClr val="FFFFFF"/>
          </a:solidFill>
          <a:ln w="19050">
            <a:solidFill>
              <a:srgbClr val="1A3A5C"/>
            </a:solidFill>
            <a:prstDash val="solid"/>
          </a:ln>
          <a:effectLst>
            <a:outerShdw sx="100000" sy="100000" kx="0" ky="0" algn="bl" rotWithShape="0" blurRad="101600" dist="38100" dir="8100000">
              <a:srgbClr val="000000">
                <a:alpha val="18000"/>
              </a:srgbClr>
            </a:outerShdw>
          </a:effectLst>
        </p:spPr>
      </p:sp>
      <p:sp>
        <p:nvSpPr>
          <p:cNvPr id="38" name="Shape 36"/>
          <p:cNvSpPr/>
          <p:nvPr/>
        </p:nvSpPr>
        <p:spPr>
          <a:xfrm>
            <a:off x="256032" y="3547872"/>
            <a:ext cx="4224528" cy="347472"/>
          </a:xfrm>
          <a:prstGeom prst="rect">
            <a:avLst/>
          </a:prstGeom>
          <a:solidFill>
            <a:srgbClr val="1A3A5C"/>
          </a:solidFill>
          <a:ln w="12700">
            <a:solidFill>
              <a:srgbClr val="1A3A5C"/>
            </a:solidFill>
            <a:prstDash val="solid"/>
          </a:ln>
        </p:spPr>
      </p:sp>
      <p:sp>
        <p:nvSpPr>
          <p:cNvPr id="39" name="Text 37"/>
          <p:cNvSpPr/>
          <p:nvPr/>
        </p:nvSpPr>
        <p:spPr>
          <a:xfrm>
            <a:off x="256032" y="3547872"/>
            <a:ext cx="4224528" cy="347472"/>
          </a:xfrm>
          <a:prstGeom prst="rect">
            <a:avLst/>
          </a:prstGeom>
          <a:noFill/>
          <a:ln/>
        </p:spPr>
        <p:txBody>
          <a:bodyPr wrap="square" lIns="0" tIns="0" rIns="0" bIns="0" rtlCol="0" anchor="ctr"/>
          <a:lstStyle/>
          <a:p>
            <a:pPr algn="ctr" indent="0" marL="0">
              <a:buNone/>
            </a:pPr>
            <a:r>
              <a:rPr lang="en-US" sz="1100" b="1" dirty="0">
                <a:solidFill>
                  <a:srgbClr val="FFFFFF"/>
                </a:solidFill>
              </a:rPr>
              <a:t>Mailbot.Api + Channel interno</a:t>
            </a:r>
            <a:endParaRPr lang="en-US" sz="1100" dirty="0"/>
          </a:p>
        </p:txBody>
      </p:sp>
      <p:sp>
        <p:nvSpPr>
          <p:cNvPr id="40" name="Text 38"/>
          <p:cNvSpPr/>
          <p:nvPr/>
        </p:nvSpPr>
        <p:spPr>
          <a:xfrm>
            <a:off x="347472" y="3931920"/>
            <a:ext cx="4041648" cy="694944"/>
          </a:xfrm>
          <a:prstGeom prst="rect">
            <a:avLst/>
          </a:prstGeom>
          <a:noFill/>
          <a:ln/>
        </p:spPr>
        <p:txBody>
          <a:bodyPr wrap="square" lIns="25400" tIns="50800" rIns="50800" bIns="25400" rtlCol="0" anchor="t"/>
          <a:lstStyle/>
          <a:p>
            <a:pPr indent="0" marL="0">
              <a:buNone/>
            </a:pPr>
            <a:r>
              <a:rPr lang="en-US" sz="1000" dirty="0">
                <a:solidFill>
                  <a:srgbClr val="475569"/>
                </a:solidFill>
              </a:rPr>
              <a:t>POST /webhook recibe push de Pub/Sub, valida token Google, encola en Channel&lt;T&gt; interno .NET.</a:t>
            </a:r>
            <a:endParaRPr lang="en-US" sz="1000" dirty="0"/>
          </a:p>
        </p:txBody>
      </p:sp>
      <p:sp>
        <p:nvSpPr>
          <p:cNvPr id="41" name="Shape 39"/>
          <p:cNvSpPr/>
          <p:nvPr/>
        </p:nvSpPr>
        <p:spPr>
          <a:xfrm>
            <a:off x="4709160" y="3547872"/>
            <a:ext cx="4224528" cy="1115568"/>
          </a:xfrm>
          <a:prstGeom prst="rect">
            <a:avLst/>
          </a:prstGeom>
          <a:solidFill>
            <a:srgbClr val="FFFFFF"/>
          </a:solidFill>
          <a:ln w="19050">
            <a:solidFill>
              <a:srgbClr val="0D9488"/>
            </a:solidFill>
            <a:prstDash val="solid"/>
          </a:ln>
          <a:effectLst>
            <a:outerShdw sx="100000" sy="100000" kx="0" ky="0" algn="bl" rotWithShape="0" blurRad="101600" dist="38100" dir="8100000">
              <a:srgbClr val="000000">
                <a:alpha val="18000"/>
              </a:srgbClr>
            </a:outerShdw>
          </a:effectLst>
        </p:spPr>
      </p:sp>
      <p:sp>
        <p:nvSpPr>
          <p:cNvPr id="42" name="Shape 40"/>
          <p:cNvSpPr/>
          <p:nvPr/>
        </p:nvSpPr>
        <p:spPr>
          <a:xfrm>
            <a:off x="4709160" y="3547872"/>
            <a:ext cx="4224528" cy="347472"/>
          </a:xfrm>
          <a:prstGeom prst="rect">
            <a:avLst/>
          </a:prstGeom>
          <a:solidFill>
            <a:srgbClr val="0D9488"/>
          </a:solidFill>
          <a:ln w="12700">
            <a:solidFill>
              <a:srgbClr val="0D9488"/>
            </a:solidFill>
            <a:prstDash val="solid"/>
          </a:ln>
        </p:spPr>
      </p:sp>
      <p:sp>
        <p:nvSpPr>
          <p:cNvPr id="43" name="Text 41"/>
          <p:cNvSpPr/>
          <p:nvPr/>
        </p:nvSpPr>
        <p:spPr>
          <a:xfrm>
            <a:off x="4709160" y="3547872"/>
            <a:ext cx="4224528" cy="347472"/>
          </a:xfrm>
          <a:prstGeom prst="rect">
            <a:avLst/>
          </a:prstGeom>
          <a:noFill/>
          <a:ln/>
        </p:spPr>
        <p:txBody>
          <a:bodyPr wrap="square" lIns="0" tIns="0" rIns="0" bIns="0" rtlCol="0" anchor="ctr"/>
          <a:lstStyle/>
          <a:p>
            <a:pPr algn="ctr" indent="0" marL="0">
              <a:buNone/>
            </a:pPr>
            <a:r>
              <a:rPr lang="en-US" sz="1100" b="1" dirty="0">
                <a:solidFill>
                  <a:srgbClr val="FFFFFF"/>
                </a:solidFill>
              </a:rPr>
              <a:t>Integraciones</a:t>
            </a:r>
            <a:endParaRPr lang="en-US" sz="1100" dirty="0"/>
          </a:p>
        </p:txBody>
      </p:sp>
      <p:sp>
        <p:nvSpPr>
          <p:cNvPr id="44" name="Text 42"/>
          <p:cNvSpPr/>
          <p:nvPr/>
        </p:nvSpPr>
        <p:spPr>
          <a:xfrm>
            <a:off x="4800600" y="3931920"/>
            <a:ext cx="4041648" cy="694944"/>
          </a:xfrm>
          <a:prstGeom prst="rect">
            <a:avLst/>
          </a:prstGeom>
          <a:noFill/>
          <a:ln/>
        </p:spPr>
        <p:txBody>
          <a:bodyPr wrap="square" lIns="25400" tIns="50800" rIns="50800" bIns="25400" rtlCol="0" anchor="t"/>
          <a:lstStyle/>
          <a:p>
            <a:pPr indent="0" marL="0">
              <a:buNone/>
            </a:pPr>
            <a:r>
              <a:rPr lang="en-US" sz="1000" dirty="0">
                <a:solidFill>
                  <a:srgbClr val="475569"/>
                </a:solidFill>
              </a:rPr>
              <a:t>Agente IA OpenAI/Azure. ProquifaDotNet EF Core Scaffold. Endpoint HTTPS publico requerido (SSL).</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D1B2A"/>
          </a:solidFill>
          <a:ln w="12700">
            <a:solidFill>
              <a:srgbClr val="0D1B2A"/>
            </a:solidFill>
            <a:prstDash val="solid"/>
          </a:ln>
        </p:spPr>
      </p:sp>
      <p:sp>
        <p:nvSpPr>
          <p:cNvPr id="3" name="Shape 1"/>
          <p:cNvSpPr/>
          <p:nvPr/>
        </p:nvSpPr>
        <p:spPr>
          <a:xfrm>
            <a:off x="0" y="0"/>
            <a:ext cx="320040" cy="777240"/>
          </a:xfrm>
          <a:prstGeom prst="rect">
            <a:avLst/>
          </a:prstGeom>
          <a:solidFill>
            <a:srgbClr val="0D9488"/>
          </a:solidFill>
          <a:ln w="12700">
            <a:solidFill>
              <a:srgbClr val="0D9488"/>
            </a:solidFill>
            <a:prstDash val="solid"/>
          </a:ln>
        </p:spPr>
      </p:sp>
      <p:sp>
        <p:nvSpPr>
          <p:cNvPr id="4" name="Text 2"/>
          <p:cNvSpPr/>
          <p:nvPr/>
        </p:nvSpPr>
        <p:spPr>
          <a:xfrm>
            <a:off x="502920" y="0"/>
            <a:ext cx="8503920" cy="777240"/>
          </a:xfrm>
          <a:prstGeom prst="rect">
            <a:avLst/>
          </a:prstGeom>
          <a:noFill/>
          <a:ln/>
        </p:spPr>
        <p:txBody>
          <a:bodyPr wrap="square" lIns="0" tIns="0" rIns="0" bIns="0" rtlCol="0" anchor="ctr"/>
          <a:lstStyle/>
          <a:p>
            <a:pPr indent="0" marL="0">
              <a:buNone/>
            </a:pPr>
            <a:r>
              <a:rPr lang="en-US" sz="2100" b="1" dirty="0">
                <a:solidFill>
                  <a:srgbClr val="FFFFFF"/>
                </a:solidFill>
              </a:rPr>
              <a:t>Comparativa: Propuesta 1 vs Propuesta 2</a:t>
            </a:r>
            <a:endParaRPr lang="en-US" sz="2100" dirty="0"/>
          </a:p>
        </p:txBody>
      </p:sp>
      <p:sp>
        <p:nvSpPr>
          <p:cNvPr id="5" name="Shape 3"/>
          <p:cNvSpPr/>
          <p:nvPr/>
        </p:nvSpPr>
        <p:spPr>
          <a:xfrm>
            <a:off x="320040" y="914400"/>
            <a:ext cx="2468880" cy="502920"/>
          </a:xfrm>
          <a:prstGeom prst="rect">
            <a:avLst/>
          </a:prstGeom>
          <a:solidFill>
            <a:srgbClr val="0D1B2A"/>
          </a:solidFill>
          <a:ln w="12700">
            <a:solidFill>
              <a:srgbClr val="0D1B2A"/>
            </a:solidFill>
            <a:prstDash val="solid"/>
          </a:ln>
        </p:spPr>
      </p:sp>
      <p:sp>
        <p:nvSpPr>
          <p:cNvPr id="6" name="Text 4"/>
          <p:cNvSpPr/>
          <p:nvPr/>
        </p:nvSpPr>
        <p:spPr>
          <a:xfrm>
            <a:off x="320040" y="914400"/>
            <a:ext cx="2468880" cy="502920"/>
          </a:xfrm>
          <a:prstGeom prst="rect">
            <a:avLst/>
          </a:prstGeom>
          <a:noFill/>
          <a:ln/>
        </p:spPr>
        <p:txBody>
          <a:bodyPr wrap="square" lIns="0" tIns="0" rIns="0" bIns="0" rtlCol="0" anchor="ctr"/>
          <a:lstStyle/>
          <a:p>
            <a:pPr algn="ctr" indent="0" marL="0">
              <a:buNone/>
            </a:pPr>
            <a:r>
              <a:rPr lang="en-US" sz="1050" b="1" dirty="0">
                <a:solidFill>
                  <a:srgbClr val="FFFFFF"/>
                </a:solidFill>
              </a:rPr>
              <a:t>Criterio</a:t>
            </a:r>
            <a:endParaRPr lang="en-US" sz="1050" dirty="0"/>
          </a:p>
        </p:txBody>
      </p:sp>
      <p:sp>
        <p:nvSpPr>
          <p:cNvPr id="7" name="Shape 5"/>
          <p:cNvSpPr/>
          <p:nvPr/>
        </p:nvSpPr>
        <p:spPr>
          <a:xfrm>
            <a:off x="2834640" y="914400"/>
            <a:ext cx="3108960" cy="502920"/>
          </a:xfrm>
          <a:prstGeom prst="rect">
            <a:avLst/>
          </a:prstGeom>
          <a:solidFill>
            <a:srgbClr val="F97316"/>
          </a:solidFill>
          <a:ln w="12700">
            <a:solidFill>
              <a:srgbClr val="F97316"/>
            </a:solidFill>
            <a:prstDash val="solid"/>
          </a:ln>
        </p:spPr>
      </p:sp>
      <p:sp>
        <p:nvSpPr>
          <p:cNvPr id="8" name="Text 6"/>
          <p:cNvSpPr/>
          <p:nvPr/>
        </p:nvSpPr>
        <p:spPr>
          <a:xfrm>
            <a:off x="2834640" y="914400"/>
            <a:ext cx="3108960" cy="502920"/>
          </a:xfrm>
          <a:prstGeom prst="rect">
            <a:avLst/>
          </a:prstGeom>
          <a:noFill/>
          <a:ln/>
        </p:spPr>
        <p:txBody>
          <a:bodyPr wrap="square" lIns="0" tIns="0" rIns="0" bIns="0" rtlCol="0" anchor="ctr"/>
          <a:lstStyle/>
          <a:p>
            <a:pPr algn="ctr" indent="0" marL="0">
              <a:buNone/>
            </a:pPr>
            <a:r>
              <a:rPr lang="en-US" sz="1050" b="1" dirty="0">
                <a:solidFill>
                  <a:srgbClr val="FFFFFF"/>
                </a:solidFill>
              </a:rPr>
              <a:t>Propuesta 1</a:t>
            </a:r>
            <a:endParaRPr lang="en-US" sz="1050" dirty="0"/>
          </a:p>
          <a:p>
            <a:pPr algn="ctr" indent="0" marL="0">
              <a:buNone/>
            </a:pPr>
            <a:r>
              <a:rPr lang="en-US" sz="1050" b="1" dirty="0">
                <a:solidFill>
                  <a:srgbClr val="FFFFFF"/>
                </a:solidFill>
              </a:rPr>
              <a:t>n8n + RabbitMQ</a:t>
            </a:r>
            <a:endParaRPr lang="en-US" sz="1050" dirty="0"/>
          </a:p>
        </p:txBody>
      </p:sp>
      <p:sp>
        <p:nvSpPr>
          <p:cNvPr id="9" name="Shape 7"/>
          <p:cNvSpPr/>
          <p:nvPr/>
        </p:nvSpPr>
        <p:spPr>
          <a:xfrm>
            <a:off x="5989320" y="914400"/>
            <a:ext cx="3108960" cy="502920"/>
          </a:xfrm>
          <a:prstGeom prst="rect">
            <a:avLst/>
          </a:prstGeom>
          <a:solidFill>
            <a:srgbClr val="7C3AED"/>
          </a:solidFill>
          <a:ln w="12700">
            <a:solidFill>
              <a:srgbClr val="7C3AED"/>
            </a:solidFill>
            <a:prstDash val="solid"/>
          </a:ln>
        </p:spPr>
      </p:sp>
      <p:sp>
        <p:nvSpPr>
          <p:cNvPr id="10" name="Text 8"/>
          <p:cNvSpPr/>
          <p:nvPr/>
        </p:nvSpPr>
        <p:spPr>
          <a:xfrm>
            <a:off x="5989320" y="914400"/>
            <a:ext cx="3108960" cy="502920"/>
          </a:xfrm>
          <a:prstGeom prst="rect">
            <a:avLst/>
          </a:prstGeom>
          <a:noFill/>
          <a:ln/>
        </p:spPr>
        <p:txBody>
          <a:bodyPr wrap="square" lIns="0" tIns="0" rIns="0" bIns="0" rtlCol="0" anchor="ctr"/>
          <a:lstStyle/>
          <a:p>
            <a:pPr algn="ctr" indent="0" marL="0">
              <a:buNone/>
            </a:pPr>
            <a:r>
              <a:rPr lang="en-US" sz="1050" b="1" dirty="0">
                <a:solidFill>
                  <a:srgbClr val="FFFFFF"/>
                </a:solidFill>
              </a:rPr>
              <a:t>Propuesta 2</a:t>
            </a:r>
            <a:endParaRPr lang="en-US" sz="1050" dirty="0"/>
          </a:p>
          <a:p>
            <a:pPr algn="ctr" indent="0" marL="0">
              <a:buNone/>
            </a:pPr>
            <a:r>
              <a:rPr lang="en-US" sz="1050" b="1" dirty="0">
                <a:solidFill>
                  <a:srgbClr val="FFFFFF"/>
                </a:solidFill>
              </a:rPr>
              <a:t>Gmail Push</a:t>
            </a:r>
            <a:endParaRPr lang="en-US" sz="1050" dirty="0"/>
          </a:p>
        </p:txBody>
      </p:sp>
      <p:sp>
        <p:nvSpPr>
          <p:cNvPr id="11" name="Shape 9"/>
          <p:cNvSpPr/>
          <p:nvPr/>
        </p:nvSpPr>
        <p:spPr>
          <a:xfrm>
            <a:off x="320040" y="1463040"/>
            <a:ext cx="2468880" cy="411480"/>
          </a:xfrm>
          <a:prstGeom prst="rect">
            <a:avLst/>
          </a:prstGeom>
          <a:solidFill>
            <a:srgbClr val="FFFFFF"/>
          </a:solidFill>
          <a:ln w="12700">
            <a:solidFill>
              <a:srgbClr val="E2E8F0"/>
            </a:solidFill>
            <a:prstDash val="solid"/>
          </a:ln>
        </p:spPr>
      </p:sp>
      <p:sp>
        <p:nvSpPr>
          <p:cNvPr id="12" name="Text 10"/>
          <p:cNvSpPr/>
          <p:nvPr/>
        </p:nvSpPr>
        <p:spPr>
          <a:xfrm>
            <a:off x="393192" y="1463040"/>
            <a:ext cx="2322576" cy="411480"/>
          </a:xfrm>
          <a:prstGeom prst="rect">
            <a:avLst/>
          </a:prstGeom>
          <a:noFill/>
          <a:ln/>
        </p:spPr>
        <p:txBody>
          <a:bodyPr wrap="square" lIns="0" tIns="0" rIns="0" bIns="0" rtlCol="0" anchor="ctr"/>
          <a:lstStyle/>
          <a:p>
            <a:pPr indent="0" marL="0">
              <a:buNone/>
            </a:pPr>
            <a:r>
              <a:rPr lang="en-US" sz="1000" b="1" dirty="0">
                <a:solidFill>
                  <a:srgbClr val="0D1B2A"/>
                </a:solidFill>
              </a:rPr>
              <a:t>Componentes adicionales</a:t>
            </a:r>
            <a:endParaRPr lang="en-US" sz="1000" dirty="0"/>
          </a:p>
        </p:txBody>
      </p:sp>
      <p:sp>
        <p:nvSpPr>
          <p:cNvPr id="13" name="Shape 11"/>
          <p:cNvSpPr/>
          <p:nvPr/>
        </p:nvSpPr>
        <p:spPr>
          <a:xfrm>
            <a:off x="2834640" y="1463040"/>
            <a:ext cx="3108960" cy="411480"/>
          </a:xfrm>
          <a:prstGeom prst="rect">
            <a:avLst/>
          </a:prstGeom>
          <a:solidFill>
            <a:srgbClr val="FFFFFF"/>
          </a:solidFill>
          <a:ln w="12700">
            <a:solidFill>
              <a:srgbClr val="E2E8F0"/>
            </a:solidFill>
            <a:prstDash val="solid"/>
          </a:ln>
        </p:spPr>
      </p:sp>
      <p:sp>
        <p:nvSpPr>
          <p:cNvPr id="14" name="Text 12"/>
          <p:cNvSpPr/>
          <p:nvPr/>
        </p:nvSpPr>
        <p:spPr>
          <a:xfrm>
            <a:off x="2907792" y="1463040"/>
            <a:ext cx="2962656" cy="411480"/>
          </a:xfrm>
          <a:prstGeom prst="rect">
            <a:avLst/>
          </a:prstGeom>
          <a:noFill/>
          <a:ln/>
        </p:spPr>
        <p:txBody>
          <a:bodyPr wrap="square" lIns="0" tIns="0" rIns="0" bIns="0" rtlCol="0" anchor="ctr"/>
          <a:lstStyle/>
          <a:p>
            <a:pPr indent="0" marL="0">
              <a:buNone/>
            </a:pPr>
            <a:r>
              <a:rPr lang="en-US" sz="1000" dirty="0">
                <a:solidFill>
                  <a:srgbClr val="475569"/>
                </a:solidFill>
              </a:rPr>
              <a:t>n8n + RabbitMQ + Worker</a:t>
            </a:r>
            <a:endParaRPr lang="en-US" sz="1000" dirty="0"/>
          </a:p>
        </p:txBody>
      </p:sp>
      <p:sp>
        <p:nvSpPr>
          <p:cNvPr id="15" name="Shape 13"/>
          <p:cNvSpPr/>
          <p:nvPr/>
        </p:nvSpPr>
        <p:spPr>
          <a:xfrm>
            <a:off x="5989320" y="1463040"/>
            <a:ext cx="3108960" cy="411480"/>
          </a:xfrm>
          <a:prstGeom prst="rect">
            <a:avLst/>
          </a:prstGeom>
          <a:solidFill>
            <a:srgbClr val="EDE9FE"/>
          </a:solidFill>
          <a:ln w="12700">
            <a:solidFill>
              <a:srgbClr val="E2E8F0"/>
            </a:solidFill>
            <a:prstDash val="solid"/>
          </a:ln>
        </p:spPr>
      </p:sp>
      <p:sp>
        <p:nvSpPr>
          <p:cNvPr id="16" name="Text 14"/>
          <p:cNvSpPr/>
          <p:nvPr/>
        </p:nvSpPr>
        <p:spPr>
          <a:xfrm>
            <a:off x="6062472" y="1463040"/>
            <a:ext cx="2962656" cy="411480"/>
          </a:xfrm>
          <a:prstGeom prst="rect">
            <a:avLst/>
          </a:prstGeom>
          <a:noFill/>
          <a:ln/>
        </p:spPr>
        <p:txBody>
          <a:bodyPr wrap="square" lIns="0" tIns="0" rIns="0" bIns="0" rtlCol="0" anchor="ctr"/>
          <a:lstStyle/>
          <a:p>
            <a:pPr indent="0" marL="0">
              <a:buNone/>
            </a:pPr>
            <a:r>
              <a:rPr lang="en-US" sz="1000" dirty="0">
                <a:solidFill>
                  <a:srgbClr val="7C3AED"/>
                </a:solidFill>
              </a:rPr>
              <a:t>Solo Google Cloud Pub/Sub</a:t>
            </a:r>
            <a:endParaRPr lang="en-US" sz="1000" dirty="0"/>
          </a:p>
        </p:txBody>
      </p:sp>
      <p:sp>
        <p:nvSpPr>
          <p:cNvPr id="17" name="Shape 15"/>
          <p:cNvSpPr/>
          <p:nvPr/>
        </p:nvSpPr>
        <p:spPr>
          <a:xfrm>
            <a:off x="320040" y="1901952"/>
            <a:ext cx="2468880" cy="411480"/>
          </a:xfrm>
          <a:prstGeom prst="rect">
            <a:avLst/>
          </a:prstGeom>
          <a:solidFill>
            <a:srgbClr val="E2E8F0"/>
          </a:solidFill>
          <a:ln w="12700">
            <a:solidFill>
              <a:srgbClr val="E2E8F0"/>
            </a:solidFill>
            <a:prstDash val="solid"/>
          </a:ln>
        </p:spPr>
      </p:sp>
      <p:sp>
        <p:nvSpPr>
          <p:cNvPr id="18" name="Text 16"/>
          <p:cNvSpPr/>
          <p:nvPr/>
        </p:nvSpPr>
        <p:spPr>
          <a:xfrm>
            <a:off x="393192" y="1901952"/>
            <a:ext cx="2322576" cy="411480"/>
          </a:xfrm>
          <a:prstGeom prst="rect">
            <a:avLst/>
          </a:prstGeom>
          <a:noFill/>
          <a:ln/>
        </p:spPr>
        <p:txBody>
          <a:bodyPr wrap="square" lIns="0" tIns="0" rIns="0" bIns="0" rtlCol="0" anchor="ctr"/>
          <a:lstStyle/>
          <a:p>
            <a:pPr indent="0" marL="0">
              <a:buNone/>
            </a:pPr>
            <a:r>
              <a:rPr lang="en-US" sz="1000" b="1" dirty="0">
                <a:solidFill>
                  <a:srgbClr val="0D1B2A"/>
                </a:solidFill>
              </a:rPr>
              <a:t>Latencia</a:t>
            </a:r>
            <a:endParaRPr lang="en-US" sz="1000" dirty="0"/>
          </a:p>
        </p:txBody>
      </p:sp>
      <p:sp>
        <p:nvSpPr>
          <p:cNvPr id="19" name="Shape 17"/>
          <p:cNvSpPr/>
          <p:nvPr/>
        </p:nvSpPr>
        <p:spPr>
          <a:xfrm>
            <a:off x="2834640" y="1901952"/>
            <a:ext cx="3108960" cy="411480"/>
          </a:xfrm>
          <a:prstGeom prst="rect">
            <a:avLst/>
          </a:prstGeom>
          <a:solidFill>
            <a:srgbClr val="E2E8F0"/>
          </a:solidFill>
          <a:ln w="12700">
            <a:solidFill>
              <a:srgbClr val="E2E8F0"/>
            </a:solidFill>
            <a:prstDash val="solid"/>
          </a:ln>
        </p:spPr>
      </p:sp>
      <p:sp>
        <p:nvSpPr>
          <p:cNvPr id="20" name="Text 18"/>
          <p:cNvSpPr/>
          <p:nvPr/>
        </p:nvSpPr>
        <p:spPr>
          <a:xfrm>
            <a:off x="2907792" y="1901952"/>
            <a:ext cx="2962656" cy="411480"/>
          </a:xfrm>
          <a:prstGeom prst="rect">
            <a:avLst/>
          </a:prstGeom>
          <a:noFill/>
          <a:ln/>
        </p:spPr>
        <p:txBody>
          <a:bodyPr wrap="square" lIns="0" tIns="0" rIns="0" bIns="0" rtlCol="0" anchor="ctr"/>
          <a:lstStyle/>
          <a:p>
            <a:pPr indent="0" marL="0">
              <a:buNone/>
            </a:pPr>
            <a:r>
              <a:rPr lang="en-US" sz="1000" dirty="0">
                <a:solidFill>
                  <a:srgbClr val="475569"/>
                </a:solidFill>
              </a:rPr>
              <a:t>Segundos (polling n8n)</a:t>
            </a:r>
            <a:endParaRPr lang="en-US" sz="1000" dirty="0"/>
          </a:p>
        </p:txBody>
      </p:sp>
      <p:sp>
        <p:nvSpPr>
          <p:cNvPr id="21" name="Shape 19"/>
          <p:cNvSpPr/>
          <p:nvPr/>
        </p:nvSpPr>
        <p:spPr>
          <a:xfrm>
            <a:off x="5989320" y="1901952"/>
            <a:ext cx="3108960" cy="411480"/>
          </a:xfrm>
          <a:prstGeom prst="rect">
            <a:avLst/>
          </a:prstGeom>
          <a:solidFill>
            <a:srgbClr val="EDE9FE"/>
          </a:solidFill>
          <a:ln w="12700">
            <a:solidFill>
              <a:srgbClr val="E2E8F0"/>
            </a:solidFill>
            <a:prstDash val="solid"/>
          </a:ln>
        </p:spPr>
      </p:sp>
      <p:sp>
        <p:nvSpPr>
          <p:cNvPr id="22" name="Text 20"/>
          <p:cNvSpPr/>
          <p:nvPr/>
        </p:nvSpPr>
        <p:spPr>
          <a:xfrm>
            <a:off x="6062472" y="1901952"/>
            <a:ext cx="2962656" cy="411480"/>
          </a:xfrm>
          <a:prstGeom prst="rect">
            <a:avLst/>
          </a:prstGeom>
          <a:noFill/>
          <a:ln/>
        </p:spPr>
        <p:txBody>
          <a:bodyPr wrap="square" lIns="0" tIns="0" rIns="0" bIns="0" rtlCol="0" anchor="ctr"/>
          <a:lstStyle/>
          <a:p>
            <a:pPr indent="0" marL="0">
              <a:buNone/>
            </a:pPr>
            <a:r>
              <a:rPr lang="en-US" sz="1000" dirty="0">
                <a:solidFill>
                  <a:srgbClr val="7C3AED"/>
                </a:solidFill>
              </a:rPr>
              <a:t>~1-2 seg. (push nativo)</a:t>
            </a:r>
            <a:endParaRPr lang="en-US" sz="1000" dirty="0"/>
          </a:p>
        </p:txBody>
      </p:sp>
      <p:sp>
        <p:nvSpPr>
          <p:cNvPr id="23" name="Shape 21"/>
          <p:cNvSpPr/>
          <p:nvPr/>
        </p:nvSpPr>
        <p:spPr>
          <a:xfrm>
            <a:off x="320040" y="2340864"/>
            <a:ext cx="2468880" cy="411480"/>
          </a:xfrm>
          <a:prstGeom prst="rect">
            <a:avLst/>
          </a:prstGeom>
          <a:solidFill>
            <a:srgbClr val="FFFFFF"/>
          </a:solidFill>
          <a:ln w="12700">
            <a:solidFill>
              <a:srgbClr val="E2E8F0"/>
            </a:solidFill>
            <a:prstDash val="solid"/>
          </a:ln>
        </p:spPr>
      </p:sp>
      <p:sp>
        <p:nvSpPr>
          <p:cNvPr id="24" name="Text 22"/>
          <p:cNvSpPr/>
          <p:nvPr/>
        </p:nvSpPr>
        <p:spPr>
          <a:xfrm>
            <a:off x="393192" y="2340864"/>
            <a:ext cx="2322576" cy="411480"/>
          </a:xfrm>
          <a:prstGeom prst="rect">
            <a:avLst/>
          </a:prstGeom>
          <a:noFill/>
          <a:ln/>
        </p:spPr>
        <p:txBody>
          <a:bodyPr wrap="square" lIns="0" tIns="0" rIns="0" bIns="0" rtlCol="0" anchor="ctr"/>
          <a:lstStyle/>
          <a:p>
            <a:pPr indent="0" marL="0">
              <a:buNone/>
            </a:pPr>
            <a:r>
              <a:rPr lang="en-US" sz="1000" b="1" dirty="0">
                <a:solidFill>
                  <a:srgbClr val="0D1B2A"/>
                </a:solidFill>
              </a:rPr>
              <a:t>Costo infraestructura</a:t>
            </a:r>
            <a:endParaRPr lang="en-US" sz="1000" dirty="0"/>
          </a:p>
        </p:txBody>
      </p:sp>
      <p:sp>
        <p:nvSpPr>
          <p:cNvPr id="25" name="Shape 23"/>
          <p:cNvSpPr/>
          <p:nvPr/>
        </p:nvSpPr>
        <p:spPr>
          <a:xfrm>
            <a:off x="2834640" y="2340864"/>
            <a:ext cx="3108960" cy="411480"/>
          </a:xfrm>
          <a:prstGeom prst="rect">
            <a:avLst/>
          </a:prstGeom>
          <a:solidFill>
            <a:srgbClr val="FFFFFF"/>
          </a:solidFill>
          <a:ln w="12700">
            <a:solidFill>
              <a:srgbClr val="E2E8F0"/>
            </a:solidFill>
            <a:prstDash val="solid"/>
          </a:ln>
        </p:spPr>
      </p:sp>
      <p:sp>
        <p:nvSpPr>
          <p:cNvPr id="26" name="Text 24"/>
          <p:cNvSpPr/>
          <p:nvPr/>
        </p:nvSpPr>
        <p:spPr>
          <a:xfrm>
            <a:off x="2907792" y="2340864"/>
            <a:ext cx="2962656" cy="411480"/>
          </a:xfrm>
          <a:prstGeom prst="rect">
            <a:avLst/>
          </a:prstGeom>
          <a:noFill/>
          <a:ln/>
        </p:spPr>
        <p:txBody>
          <a:bodyPr wrap="square" lIns="0" tIns="0" rIns="0" bIns="0" rtlCol="0" anchor="ctr"/>
          <a:lstStyle/>
          <a:p>
            <a:pPr indent="0" marL="0">
              <a:buNone/>
            </a:pPr>
            <a:r>
              <a:rPr lang="en-US" sz="1000" dirty="0">
                <a:solidFill>
                  <a:srgbClr val="475569"/>
                </a:solidFill>
              </a:rPr>
              <a:t>Licencia n8n + RabbitMQ server</a:t>
            </a:r>
            <a:endParaRPr lang="en-US" sz="1000" dirty="0"/>
          </a:p>
        </p:txBody>
      </p:sp>
      <p:sp>
        <p:nvSpPr>
          <p:cNvPr id="27" name="Shape 25"/>
          <p:cNvSpPr/>
          <p:nvPr/>
        </p:nvSpPr>
        <p:spPr>
          <a:xfrm>
            <a:off x="5989320" y="2340864"/>
            <a:ext cx="3108960" cy="411480"/>
          </a:xfrm>
          <a:prstGeom prst="rect">
            <a:avLst/>
          </a:prstGeom>
          <a:solidFill>
            <a:srgbClr val="EDE9FE"/>
          </a:solidFill>
          <a:ln w="12700">
            <a:solidFill>
              <a:srgbClr val="E2E8F0"/>
            </a:solidFill>
            <a:prstDash val="solid"/>
          </a:ln>
        </p:spPr>
      </p:sp>
      <p:sp>
        <p:nvSpPr>
          <p:cNvPr id="28" name="Text 26"/>
          <p:cNvSpPr/>
          <p:nvPr/>
        </p:nvSpPr>
        <p:spPr>
          <a:xfrm>
            <a:off x="6062472" y="2340864"/>
            <a:ext cx="2962656" cy="411480"/>
          </a:xfrm>
          <a:prstGeom prst="rect">
            <a:avLst/>
          </a:prstGeom>
          <a:noFill/>
          <a:ln/>
        </p:spPr>
        <p:txBody>
          <a:bodyPr wrap="square" lIns="0" tIns="0" rIns="0" bIns="0" rtlCol="0" anchor="ctr"/>
          <a:lstStyle/>
          <a:p>
            <a:pPr indent="0" marL="0">
              <a:buNone/>
            </a:pPr>
            <a:r>
              <a:rPr lang="en-US" sz="1000" dirty="0">
                <a:solidFill>
                  <a:srgbClr val="7C3AED"/>
                </a:solidFill>
              </a:rPr>
              <a:t>GCP (tier gratuito generoso)</a:t>
            </a:r>
            <a:endParaRPr lang="en-US" sz="1000" dirty="0"/>
          </a:p>
        </p:txBody>
      </p:sp>
      <p:sp>
        <p:nvSpPr>
          <p:cNvPr id="29" name="Shape 27"/>
          <p:cNvSpPr/>
          <p:nvPr/>
        </p:nvSpPr>
        <p:spPr>
          <a:xfrm>
            <a:off x="320040" y="2779776"/>
            <a:ext cx="2468880" cy="411480"/>
          </a:xfrm>
          <a:prstGeom prst="rect">
            <a:avLst/>
          </a:prstGeom>
          <a:solidFill>
            <a:srgbClr val="E2E8F0"/>
          </a:solidFill>
          <a:ln w="12700">
            <a:solidFill>
              <a:srgbClr val="E2E8F0"/>
            </a:solidFill>
            <a:prstDash val="solid"/>
          </a:ln>
        </p:spPr>
      </p:sp>
      <p:sp>
        <p:nvSpPr>
          <p:cNvPr id="30" name="Text 28"/>
          <p:cNvSpPr/>
          <p:nvPr/>
        </p:nvSpPr>
        <p:spPr>
          <a:xfrm>
            <a:off x="393192" y="2779776"/>
            <a:ext cx="2322576" cy="411480"/>
          </a:xfrm>
          <a:prstGeom prst="rect">
            <a:avLst/>
          </a:prstGeom>
          <a:noFill/>
          <a:ln/>
        </p:spPr>
        <p:txBody>
          <a:bodyPr wrap="square" lIns="0" tIns="0" rIns="0" bIns="0" rtlCol="0" anchor="ctr"/>
          <a:lstStyle/>
          <a:p>
            <a:pPr indent="0" marL="0">
              <a:buNone/>
            </a:pPr>
            <a:r>
              <a:rPr lang="en-US" sz="1000" b="1" dirty="0">
                <a:solidFill>
                  <a:srgbClr val="0D1B2A"/>
                </a:solidFill>
              </a:rPr>
              <a:t>Complejidad config</a:t>
            </a:r>
            <a:endParaRPr lang="en-US" sz="1000" dirty="0"/>
          </a:p>
        </p:txBody>
      </p:sp>
      <p:sp>
        <p:nvSpPr>
          <p:cNvPr id="31" name="Shape 29"/>
          <p:cNvSpPr/>
          <p:nvPr/>
        </p:nvSpPr>
        <p:spPr>
          <a:xfrm>
            <a:off x="2834640" y="2779776"/>
            <a:ext cx="3108960" cy="411480"/>
          </a:xfrm>
          <a:prstGeom prst="rect">
            <a:avLst/>
          </a:prstGeom>
          <a:solidFill>
            <a:srgbClr val="E2E8F0"/>
          </a:solidFill>
          <a:ln w="12700">
            <a:solidFill>
              <a:srgbClr val="E2E8F0"/>
            </a:solidFill>
            <a:prstDash val="solid"/>
          </a:ln>
        </p:spPr>
      </p:sp>
      <p:sp>
        <p:nvSpPr>
          <p:cNvPr id="32" name="Text 30"/>
          <p:cNvSpPr/>
          <p:nvPr/>
        </p:nvSpPr>
        <p:spPr>
          <a:xfrm>
            <a:off x="2907792" y="2779776"/>
            <a:ext cx="2962656" cy="411480"/>
          </a:xfrm>
          <a:prstGeom prst="rect">
            <a:avLst/>
          </a:prstGeom>
          <a:noFill/>
          <a:ln/>
        </p:spPr>
        <p:txBody>
          <a:bodyPr wrap="square" lIns="0" tIns="0" rIns="0" bIns="0" rtlCol="0" anchor="ctr"/>
          <a:lstStyle/>
          <a:p>
            <a:pPr indent="0" marL="0">
              <a:buNone/>
            </a:pPr>
            <a:r>
              <a:rPr lang="en-US" sz="1000" dirty="0">
                <a:solidFill>
                  <a:srgbClr val="475569"/>
                </a:solidFill>
              </a:rPr>
              <a:t>Alta (n8n workflow + queues)</a:t>
            </a:r>
            <a:endParaRPr lang="en-US" sz="1000" dirty="0"/>
          </a:p>
        </p:txBody>
      </p:sp>
      <p:sp>
        <p:nvSpPr>
          <p:cNvPr id="33" name="Shape 31"/>
          <p:cNvSpPr/>
          <p:nvPr/>
        </p:nvSpPr>
        <p:spPr>
          <a:xfrm>
            <a:off x="5989320" y="2779776"/>
            <a:ext cx="3108960" cy="411480"/>
          </a:xfrm>
          <a:prstGeom prst="rect">
            <a:avLst/>
          </a:prstGeom>
          <a:solidFill>
            <a:srgbClr val="EDE9FE"/>
          </a:solidFill>
          <a:ln w="12700">
            <a:solidFill>
              <a:srgbClr val="E2E8F0"/>
            </a:solidFill>
            <a:prstDash val="solid"/>
          </a:ln>
        </p:spPr>
      </p:sp>
      <p:sp>
        <p:nvSpPr>
          <p:cNvPr id="34" name="Text 32"/>
          <p:cNvSpPr/>
          <p:nvPr/>
        </p:nvSpPr>
        <p:spPr>
          <a:xfrm>
            <a:off x="6062472" y="2779776"/>
            <a:ext cx="2962656" cy="411480"/>
          </a:xfrm>
          <a:prstGeom prst="rect">
            <a:avLst/>
          </a:prstGeom>
          <a:noFill/>
          <a:ln/>
        </p:spPr>
        <p:txBody>
          <a:bodyPr wrap="square" lIns="0" tIns="0" rIns="0" bIns="0" rtlCol="0" anchor="ctr"/>
          <a:lstStyle/>
          <a:p>
            <a:pPr indent="0" marL="0">
              <a:buNone/>
            </a:pPr>
            <a:r>
              <a:rPr lang="en-US" sz="1000" dirty="0">
                <a:solidFill>
                  <a:srgbClr val="7C3AED"/>
                </a:solidFill>
              </a:rPr>
              <a:t>Media (watch + PubSub + IAM)</a:t>
            </a:r>
            <a:endParaRPr lang="en-US" sz="1000" dirty="0"/>
          </a:p>
        </p:txBody>
      </p:sp>
      <p:sp>
        <p:nvSpPr>
          <p:cNvPr id="35" name="Shape 33"/>
          <p:cNvSpPr/>
          <p:nvPr/>
        </p:nvSpPr>
        <p:spPr>
          <a:xfrm>
            <a:off x="320040" y="3218688"/>
            <a:ext cx="2468880" cy="411480"/>
          </a:xfrm>
          <a:prstGeom prst="rect">
            <a:avLst/>
          </a:prstGeom>
          <a:solidFill>
            <a:srgbClr val="FFFFFF"/>
          </a:solidFill>
          <a:ln w="12700">
            <a:solidFill>
              <a:srgbClr val="E2E8F0"/>
            </a:solidFill>
            <a:prstDash val="solid"/>
          </a:ln>
        </p:spPr>
      </p:sp>
      <p:sp>
        <p:nvSpPr>
          <p:cNvPr id="36" name="Text 34"/>
          <p:cNvSpPr/>
          <p:nvPr/>
        </p:nvSpPr>
        <p:spPr>
          <a:xfrm>
            <a:off x="393192" y="3218688"/>
            <a:ext cx="2322576" cy="411480"/>
          </a:xfrm>
          <a:prstGeom prst="rect">
            <a:avLst/>
          </a:prstGeom>
          <a:noFill/>
          <a:ln/>
        </p:spPr>
        <p:txBody>
          <a:bodyPr wrap="square" lIns="0" tIns="0" rIns="0" bIns="0" rtlCol="0" anchor="ctr"/>
          <a:lstStyle/>
          <a:p>
            <a:pPr indent="0" marL="0">
              <a:buNone/>
            </a:pPr>
            <a:r>
              <a:rPr lang="en-US" sz="1000" b="1" dirty="0">
                <a:solidFill>
                  <a:srgbClr val="0D1B2A"/>
                </a:solidFill>
              </a:rPr>
              <a:t>Endpoint HTTPS publico</a:t>
            </a:r>
            <a:endParaRPr lang="en-US" sz="1000" dirty="0"/>
          </a:p>
        </p:txBody>
      </p:sp>
      <p:sp>
        <p:nvSpPr>
          <p:cNvPr id="37" name="Shape 35"/>
          <p:cNvSpPr/>
          <p:nvPr/>
        </p:nvSpPr>
        <p:spPr>
          <a:xfrm>
            <a:off x="2834640" y="3218688"/>
            <a:ext cx="3108960" cy="411480"/>
          </a:xfrm>
          <a:prstGeom prst="rect">
            <a:avLst/>
          </a:prstGeom>
          <a:solidFill>
            <a:srgbClr val="FFF4E6"/>
          </a:solidFill>
          <a:ln w="12700">
            <a:solidFill>
              <a:srgbClr val="E2E8F0"/>
            </a:solidFill>
            <a:prstDash val="solid"/>
          </a:ln>
        </p:spPr>
      </p:sp>
      <p:sp>
        <p:nvSpPr>
          <p:cNvPr id="38" name="Text 36"/>
          <p:cNvSpPr/>
          <p:nvPr/>
        </p:nvSpPr>
        <p:spPr>
          <a:xfrm>
            <a:off x="2907792" y="3218688"/>
            <a:ext cx="2962656" cy="411480"/>
          </a:xfrm>
          <a:prstGeom prst="rect">
            <a:avLst/>
          </a:prstGeom>
          <a:noFill/>
          <a:ln/>
        </p:spPr>
        <p:txBody>
          <a:bodyPr wrap="square" lIns="0" tIns="0" rIns="0" bIns="0" rtlCol="0" anchor="ctr"/>
          <a:lstStyle/>
          <a:p>
            <a:pPr indent="0" marL="0">
              <a:buNone/>
            </a:pPr>
            <a:r>
              <a:rPr lang="en-US" sz="1000" dirty="0">
                <a:solidFill>
                  <a:srgbClr val="F97316"/>
                </a:solidFill>
              </a:rPr>
              <a:t>No requerido</a:t>
            </a:r>
            <a:endParaRPr lang="en-US" sz="1000" dirty="0"/>
          </a:p>
        </p:txBody>
      </p:sp>
      <p:sp>
        <p:nvSpPr>
          <p:cNvPr id="39" name="Shape 37"/>
          <p:cNvSpPr/>
          <p:nvPr/>
        </p:nvSpPr>
        <p:spPr>
          <a:xfrm>
            <a:off x="5989320" y="3218688"/>
            <a:ext cx="3108960" cy="411480"/>
          </a:xfrm>
          <a:prstGeom prst="rect">
            <a:avLst/>
          </a:prstGeom>
          <a:solidFill>
            <a:srgbClr val="FFFFFF"/>
          </a:solidFill>
          <a:ln w="12700">
            <a:solidFill>
              <a:srgbClr val="E2E8F0"/>
            </a:solidFill>
            <a:prstDash val="solid"/>
          </a:ln>
        </p:spPr>
      </p:sp>
      <p:sp>
        <p:nvSpPr>
          <p:cNvPr id="40" name="Text 38"/>
          <p:cNvSpPr/>
          <p:nvPr/>
        </p:nvSpPr>
        <p:spPr>
          <a:xfrm>
            <a:off x="6062472" y="3218688"/>
            <a:ext cx="2962656" cy="411480"/>
          </a:xfrm>
          <a:prstGeom prst="rect">
            <a:avLst/>
          </a:prstGeom>
          <a:noFill/>
          <a:ln/>
        </p:spPr>
        <p:txBody>
          <a:bodyPr wrap="square" lIns="0" tIns="0" rIns="0" bIns="0" rtlCol="0" anchor="ctr"/>
          <a:lstStyle/>
          <a:p>
            <a:pPr indent="0" marL="0">
              <a:buNone/>
            </a:pPr>
            <a:r>
              <a:rPr lang="en-US" sz="1000" dirty="0">
                <a:solidFill>
                  <a:srgbClr val="475569"/>
                </a:solidFill>
              </a:rPr>
              <a:t>Requerido (SSL)</a:t>
            </a:r>
            <a:endParaRPr lang="en-US" sz="1000" dirty="0"/>
          </a:p>
        </p:txBody>
      </p:sp>
      <p:sp>
        <p:nvSpPr>
          <p:cNvPr id="41" name="Shape 39"/>
          <p:cNvSpPr/>
          <p:nvPr/>
        </p:nvSpPr>
        <p:spPr>
          <a:xfrm>
            <a:off x="320040" y="3657600"/>
            <a:ext cx="2468880" cy="411480"/>
          </a:xfrm>
          <a:prstGeom prst="rect">
            <a:avLst/>
          </a:prstGeom>
          <a:solidFill>
            <a:srgbClr val="E2E8F0"/>
          </a:solidFill>
          <a:ln w="12700">
            <a:solidFill>
              <a:srgbClr val="E2E8F0"/>
            </a:solidFill>
            <a:prstDash val="solid"/>
          </a:ln>
        </p:spPr>
      </p:sp>
      <p:sp>
        <p:nvSpPr>
          <p:cNvPr id="42" name="Text 40"/>
          <p:cNvSpPr/>
          <p:nvPr/>
        </p:nvSpPr>
        <p:spPr>
          <a:xfrm>
            <a:off x="393192" y="3657600"/>
            <a:ext cx="2322576" cy="411480"/>
          </a:xfrm>
          <a:prstGeom prst="rect">
            <a:avLst/>
          </a:prstGeom>
          <a:noFill/>
          <a:ln/>
        </p:spPr>
        <p:txBody>
          <a:bodyPr wrap="square" lIns="0" tIns="0" rIns="0" bIns="0" rtlCol="0" anchor="ctr"/>
          <a:lstStyle/>
          <a:p>
            <a:pPr indent="0" marL="0">
              <a:buNone/>
            </a:pPr>
            <a:r>
              <a:rPr lang="en-US" sz="1000" b="1" dirty="0">
                <a:solidFill>
                  <a:srgbClr val="0D1B2A"/>
                </a:solidFill>
              </a:rPr>
              <a:t>Mantenimiento</a:t>
            </a:r>
            <a:endParaRPr lang="en-US" sz="1000" dirty="0"/>
          </a:p>
        </p:txBody>
      </p:sp>
      <p:sp>
        <p:nvSpPr>
          <p:cNvPr id="43" name="Shape 41"/>
          <p:cNvSpPr/>
          <p:nvPr/>
        </p:nvSpPr>
        <p:spPr>
          <a:xfrm>
            <a:off x="2834640" y="3657600"/>
            <a:ext cx="3108960" cy="411480"/>
          </a:xfrm>
          <a:prstGeom prst="rect">
            <a:avLst/>
          </a:prstGeom>
          <a:solidFill>
            <a:srgbClr val="FFF4E6"/>
          </a:solidFill>
          <a:ln w="12700">
            <a:solidFill>
              <a:srgbClr val="E2E8F0"/>
            </a:solidFill>
            <a:prstDash val="solid"/>
          </a:ln>
        </p:spPr>
      </p:sp>
      <p:sp>
        <p:nvSpPr>
          <p:cNvPr id="44" name="Text 42"/>
          <p:cNvSpPr/>
          <p:nvPr/>
        </p:nvSpPr>
        <p:spPr>
          <a:xfrm>
            <a:off x="2907792" y="3657600"/>
            <a:ext cx="2962656" cy="411480"/>
          </a:xfrm>
          <a:prstGeom prst="rect">
            <a:avLst/>
          </a:prstGeom>
          <a:noFill/>
          <a:ln/>
        </p:spPr>
        <p:txBody>
          <a:bodyPr wrap="square" lIns="0" tIns="0" rIns="0" bIns="0" rtlCol="0" anchor="ctr"/>
          <a:lstStyle/>
          <a:p>
            <a:pPr indent="0" marL="0">
              <a:buNone/>
            </a:pPr>
            <a:r>
              <a:rPr lang="en-US" sz="1000" dirty="0">
                <a:solidFill>
                  <a:srgbClr val="F97316"/>
                </a:solidFill>
              </a:rPr>
              <a:t>DLQ en RabbitMQ</a:t>
            </a:r>
            <a:endParaRPr lang="en-US" sz="1000" dirty="0"/>
          </a:p>
        </p:txBody>
      </p:sp>
      <p:sp>
        <p:nvSpPr>
          <p:cNvPr id="45" name="Shape 43"/>
          <p:cNvSpPr/>
          <p:nvPr/>
        </p:nvSpPr>
        <p:spPr>
          <a:xfrm>
            <a:off x="5989320" y="3657600"/>
            <a:ext cx="3108960" cy="411480"/>
          </a:xfrm>
          <a:prstGeom prst="rect">
            <a:avLst/>
          </a:prstGeom>
          <a:solidFill>
            <a:srgbClr val="E2E8F0"/>
          </a:solidFill>
          <a:ln w="12700">
            <a:solidFill>
              <a:srgbClr val="E2E8F0"/>
            </a:solidFill>
            <a:prstDash val="solid"/>
          </a:ln>
        </p:spPr>
      </p:sp>
      <p:sp>
        <p:nvSpPr>
          <p:cNvPr id="46" name="Text 44"/>
          <p:cNvSpPr/>
          <p:nvPr/>
        </p:nvSpPr>
        <p:spPr>
          <a:xfrm>
            <a:off x="6062472" y="3657600"/>
            <a:ext cx="2962656" cy="411480"/>
          </a:xfrm>
          <a:prstGeom prst="rect">
            <a:avLst/>
          </a:prstGeom>
          <a:noFill/>
          <a:ln/>
        </p:spPr>
        <p:txBody>
          <a:bodyPr wrap="square" lIns="0" tIns="0" rIns="0" bIns="0" rtlCol="0" anchor="ctr"/>
          <a:lstStyle/>
          <a:p>
            <a:pPr indent="0" marL="0">
              <a:buNone/>
            </a:pPr>
            <a:r>
              <a:rPr lang="en-US" sz="1000" dirty="0">
                <a:solidFill>
                  <a:srgbClr val="475569"/>
                </a:solidFill>
              </a:rPr>
              <a:t>Watch expira c/7d; renovar c/6d</a:t>
            </a:r>
            <a:endParaRPr lang="en-US" sz="1000" dirty="0"/>
          </a:p>
        </p:txBody>
      </p:sp>
      <p:sp>
        <p:nvSpPr>
          <p:cNvPr id="47" name="Shape 45"/>
          <p:cNvSpPr/>
          <p:nvPr/>
        </p:nvSpPr>
        <p:spPr>
          <a:xfrm>
            <a:off x="320040" y="4096512"/>
            <a:ext cx="2468880" cy="411480"/>
          </a:xfrm>
          <a:prstGeom prst="rect">
            <a:avLst/>
          </a:prstGeom>
          <a:solidFill>
            <a:srgbClr val="FFFFFF"/>
          </a:solidFill>
          <a:ln w="12700">
            <a:solidFill>
              <a:srgbClr val="E2E8F0"/>
            </a:solidFill>
            <a:prstDash val="solid"/>
          </a:ln>
        </p:spPr>
      </p:sp>
      <p:sp>
        <p:nvSpPr>
          <p:cNvPr id="48" name="Text 46"/>
          <p:cNvSpPr/>
          <p:nvPr/>
        </p:nvSpPr>
        <p:spPr>
          <a:xfrm>
            <a:off x="393192" y="4096512"/>
            <a:ext cx="2322576" cy="411480"/>
          </a:xfrm>
          <a:prstGeom prst="rect">
            <a:avLst/>
          </a:prstGeom>
          <a:noFill/>
          <a:ln/>
        </p:spPr>
        <p:txBody>
          <a:bodyPr wrap="square" lIns="0" tIns="0" rIns="0" bIns="0" rtlCol="0" anchor="ctr"/>
          <a:lstStyle/>
          <a:p>
            <a:pPr indent="0" marL="0">
              <a:buNone/>
            </a:pPr>
            <a:r>
              <a:rPr lang="en-US" sz="1000" b="1" dirty="0">
                <a:solidFill>
                  <a:srgbClr val="0D1B2A"/>
                </a:solidFill>
              </a:rPr>
              <a:t>Escalabilidad</a:t>
            </a:r>
            <a:endParaRPr lang="en-US" sz="1000" dirty="0"/>
          </a:p>
        </p:txBody>
      </p:sp>
      <p:sp>
        <p:nvSpPr>
          <p:cNvPr id="49" name="Shape 47"/>
          <p:cNvSpPr/>
          <p:nvPr/>
        </p:nvSpPr>
        <p:spPr>
          <a:xfrm>
            <a:off x="2834640" y="4096512"/>
            <a:ext cx="3108960" cy="411480"/>
          </a:xfrm>
          <a:prstGeom prst="rect">
            <a:avLst/>
          </a:prstGeom>
          <a:solidFill>
            <a:srgbClr val="FFFFFF"/>
          </a:solidFill>
          <a:ln w="12700">
            <a:solidFill>
              <a:srgbClr val="E2E8F0"/>
            </a:solidFill>
            <a:prstDash val="solid"/>
          </a:ln>
        </p:spPr>
      </p:sp>
      <p:sp>
        <p:nvSpPr>
          <p:cNvPr id="50" name="Text 48"/>
          <p:cNvSpPr/>
          <p:nvPr/>
        </p:nvSpPr>
        <p:spPr>
          <a:xfrm>
            <a:off x="2907792" y="4096512"/>
            <a:ext cx="2962656" cy="411480"/>
          </a:xfrm>
          <a:prstGeom prst="rect">
            <a:avLst/>
          </a:prstGeom>
          <a:noFill/>
          <a:ln/>
        </p:spPr>
        <p:txBody>
          <a:bodyPr wrap="square" lIns="0" tIns="0" rIns="0" bIns="0" rtlCol="0" anchor="ctr"/>
          <a:lstStyle/>
          <a:p>
            <a:pPr indent="0" marL="0">
              <a:buNone/>
            </a:pPr>
            <a:r>
              <a:rPr lang="en-US" sz="1000" dirty="0">
                <a:solidFill>
                  <a:srgbClr val="475569"/>
                </a:solidFill>
              </a:rPr>
              <a:t>Alta</a:t>
            </a:r>
            <a:endParaRPr lang="en-US" sz="1000" dirty="0"/>
          </a:p>
        </p:txBody>
      </p:sp>
      <p:sp>
        <p:nvSpPr>
          <p:cNvPr id="51" name="Shape 49"/>
          <p:cNvSpPr/>
          <p:nvPr/>
        </p:nvSpPr>
        <p:spPr>
          <a:xfrm>
            <a:off x="5989320" y="4096512"/>
            <a:ext cx="3108960" cy="411480"/>
          </a:xfrm>
          <a:prstGeom prst="rect">
            <a:avLst/>
          </a:prstGeom>
          <a:solidFill>
            <a:srgbClr val="FFFFFF"/>
          </a:solidFill>
          <a:ln w="12700">
            <a:solidFill>
              <a:srgbClr val="E2E8F0"/>
            </a:solidFill>
            <a:prstDash val="solid"/>
          </a:ln>
        </p:spPr>
      </p:sp>
      <p:sp>
        <p:nvSpPr>
          <p:cNvPr id="52" name="Text 50"/>
          <p:cNvSpPr/>
          <p:nvPr/>
        </p:nvSpPr>
        <p:spPr>
          <a:xfrm>
            <a:off x="6062472" y="4096512"/>
            <a:ext cx="2962656" cy="411480"/>
          </a:xfrm>
          <a:prstGeom prst="rect">
            <a:avLst/>
          </a:prstGeom>
          <a:noFill/>
          <a:ln/>
        </p:spPr>
        <p:txBody>
          <a:bodyPr wrap="square" lIns="0" tIns="0" rIns="0" bIns="0" rtlCol="0" anchor="ctr"/>
          <a:lstStyle/>
          <a:p>
            <a:pPr indent="0" marL="0">
              <a:buNone/>
            </a:pPr>
            <a:r>
              <a:rPr lang="en-US" sz="1000" dirty="0">
                <a:solidFill>
                  <a:srgbClr val="475569"/>
                </a:solidFill>
              </a:rPr>
              <a:t>Alta</a:t>
            </a:r>
            <a:endParaRPr lang="en-US" sz="1000" dirty="0"/>
          </a:p>
        </p:txBody>
      </p:sp>
      <p:sp>
        <p:nvSpPr>
          <p:cNvPr id="53" name="Shape 51"/>
          <p:cNvSpPr/>
          <p:nvPr/>
        </p:nvSpPr>
        <p:spPr>
          <a:xfrm>
            <a:off x="320040" y="4535424"/>
            <a:ext cx="2468880" cy="411480"/>
          </a:xfrm>
          <a:prstGeom prst="rect">
            <a:avLst/>
          </a:prstGeom>
          <a:solidFill>
            <a:srgbClr val="E2E8F0"/>
          </a:solidFill>
          <a:ln w="12700">
            <a:solidFill>
              <a:srgbClr val="E2E8F0"/>
            </a:solidFill>
            <a:prstDash val="solid"/>
          </a:ln>
        </p:spPr>
      </p:sp>
      <p:sp>
        <p:nvSpPr>
          <p:cNvPr id="54" name="Text 52"/>
          <p:cNvSpPr/>
          <p:nvPr/>
        </p:nvSpPr>
        <p:spPr>
          <a:xfrm>
            <a:off x="393192" y="4535424"/>
            <a:ext cx="2322576" cy="411480"/>
          </a:xfrm>
          <a:prstGeom prst="rect">
            <a:avLst/>
          </a:prstGeom>
          <a:noFill/>
          <a:ln/>
        </p:spPr>
        <p:txBody>
          <a:bodyPr wrap="square" lIns="0" tIns="0" rIns="0" bIns="0" rtlCol="0" anchor="ctr"/>
          <a:lstStyle/>
          <a:p>
            <a:pPr indent="0" marL="0">
              <a:buNone/>
            </a:pPr>
            <a:r>
              <a:rPr lang="en-US" sz="1000" b="1" dirty="0">
                <a:solidFill>
                  <a:srgbClr val="0D1B2A"/>
                </a:solidFill>
              </a:rPr>
              <a:t>Recomendado cuando</a:t>
            </a:r>
            <a:endParaRPr lang="en-US" sz="1000" dirty="0"/>
          </a:p>
        </p:txBody>
      </p:sp>
      <p:sp>
        <p:nvSpPr>
          <p:cNvPr id="55" name="Shape 53"/>
          <p:cNvSpPr/>
          <p:nvPr/>
        </p:nvSpPr>
        <p:spPr>
          <a:xfrm>
            <a:off x="2834640" y="4535424"/>
            <a:ext cx="3108960" cy="411480"/>
          </a:xfrm>
          <a:prstGeom prst="rect">
            <a:avLst/>
          </a:prstGeom>
          <a:solidFill>
            <a:srgbClr val="E2E8F0"/>
          </a:solidFill>
          <a:ln w="12700">
            <a:solidFill>
              <a:srgbClr val="E2E8F0"/>
            </a:solidFill>
            <a:prstDash val="solid"/>
          </a:ln>
        </p:spPr>
      </p:sp>
      <p:sp>
        <p:nvSpPr>
          <p:cNvPr id="56" name="Text 54"/>
          <p:cNvSpPr/>
          <p:nvPr/>
        </p:nvSpPr>
        <p:spPr>
          <a:xfrm>
            <a:off x="2907792" y="4535424"/>
            <a:ext cx="2962656" cy="411480"/>
          </a:xfrm>
          <a:prstGeom prst="rect">
            <a:avLst/>
          </a:prstGeom>
          <a:noFill/>
          <a:ln/>
        </p:spPr>
        <p:txBody>
          <a:bodyPr wrap="square" lIns="0" tIns="0" rIns="0" bIns="0" rtlCol="0" anchor="ctr"/>
          <a:lstStyle/>
          <a:p>
            <a:pPr indent="0" marL="0">
              <a:buNone/>
            </a:pPr>
            <a:r>
              <a:rPr lang="en-US" sz="1000" dirty="0">
                <a:solidFill>
                  <a:srgbClr val="475569"/>
                </a:solidFill>
              </a:rPr>
              <a:t>Ya se usa n8n en empresa</a:t>
            </a:r>
            <a:endParaRPr lang="en-US" sz="1000" dirty="0"/>
          </a:p>
        </p:txBody>
      </p:sp>
      <p:sp>
        <p:nvSpPr>
          <p:cNvPr id="57" name="Shape 55"/>
          <p:cNvSpPr/>
          <p:nvPr/>
        </p:nvSpPr>
        <p:spPr>
          <a:xfrm>
            <a:off x="5989320" y="4535424"/>
            <a:ext cx="3108960" cy="411480"/>
          </a:xfrm>
          <a:prstGeom prst="rect">
            <a:avLst/>
          </a:prstGeom>
          <a:solidFill>
            <a:srgbClr val="E2E8F0"/>
          </a:solidFill>
          <a:ln w="12700">
            <a:solidFill>
              <a:srgbClr val="E2E8F0"/>
            </a:solidFill>
            <a:prstDash val="solid"/>
          </a:ln>
        </p:spPr>
      </p:sp>
      <p:sp>
        <p:nvSpPr>
          <p:cNvPr id="58" name="Text 56"/>
          <p:cNvSpPr/>
          <p:nvPr/>
        </p:nvSpPr>
        <p:spPr>
          <a:xfrm>
            <a:off x="6062472" y="4535424"/>
            <a:ext cx="2962656" cy="411480"/>
          </a:xfrm>
          <a:prstGeom prst="rect">
            <a:avLst/>
          </a:prstGeom>
          <a:noFill/>
          <a:ln/>
        </p:spPr>
        <p:txBody>
          <a:bodyPr wrap="square" lIns="0" tIns="0" rIns="0" bIns="0" rtlCol="0" anchor="ctr"/>
          <a:lstStyle/>
          <a:p>
            <a:pPr indent="0" marL="0">
              <a:buNone/>
            </a:pPr>
            <a:r>
              <a:rPr lang="en-US" sz="1000" dirty="0">
                <a:solidFill>
                  <a:srgbClr val="475569"/>
                </a:solidFill>
              </a:rPr>
              <a:t>Se prefiere menos infraestructura</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D1B2A"/>
          </a:solidFill>
          <a:ln w="12700">
            <a:solidFill>
              <a:srgbClr val="0D1B2A"/>
            </a:solidFill>
            <a:prstDash val="solid"/>
          </a:ln>
        </p:spPr>
      </p:sp>
      <p:sp>
        <p:nvSpPr>
          <p:cNvPr id="3" name="Shape 1"/>
          <p:cNvSpPr/>
          <p:nvPr/>
        </p:nvSpPr>
        <p:spPr>
          <a:xfrm>
            <a:off x="0" y="0"/>
            <a:ext cx="320040" cy="777240"/>
          </a:xfrm>
          <a:prstGeom prst="rect">
            <a:avLst/>
          </a:prstGeom>
          <a:solidFill>
            <a:srgbClr val="0D9488"/>
          </a:solidFill>
          <a:ln w="12700">
            <a:solidFill>
              <a:srgbClr val="0D9488"/>
            </a:solidFill>
            <a:prstDash val="solid"/>
          </a:ln>
        </p:spPr>
      </p:sp>
      <p:sp>
        <p:nvSpPr>
          <p:cNvPr id="4" name="Text 2"/>
          <p:cNvSpPr/>
          <p:nvPr/>
        </p:nvSpPr>
        <p:spPr>
          <a:xfrm>
            <a:off x="502920" y="0"/>
            <a:ext cx="8503920" cy="777240"/>
          </a:xfrm>
          <a:prstGeom prst="rect">
            <a:avLst/>
          </a:prstGeom>
          <a:noFill/>
          <a:ln/>
        </p:spPr>
        <p:txBody>
          <a:bodyPr wrap="square" lIns="0" tIns="0" rIns="0" bIns="0" rtlCol="0" anchor="ctr"/>
          <a:lstStyle/>
          <a:p>
            <a:pPr indent="0" marL="0">
              <a:buNone/>
            </a:pPr>
            <a:r>
              <a:rPr lang="en-US" sz="1800" b="1" dirty="0">
                <a:solidFill>
                  <a:srgbClr val="FFFFFF"/>
                </a:solidFill>
              </a:rPr>
              <a:t>Impacto en ProquifaDotNet: Cambios comunes a ambas propuestas</a:t>
            </a:r>
            <a:endParaRPr lang="en-US" sz="1800" dirty="0"/>
          </a:p>
        </p:txBody>
      </p:sp>
      <p:sp>
        <p:nvSpPr>
          <p:cNvPr id="5" name="Shape 3"/>
          <p:cNvSpPr/>
          <p:nvPr/>
        </p:nvSpPr>
        <p:spPr>
          <a:xfrm>
            <a:off x="320040" y="914400"/>
            <a:ext cx="4160520" cy="365760"/>
          </a:xfrm>
          <a:prstGeom prst="rect">
            <a:avLst/>
          </a:prstGeom>
          <a:solidFill>
            <a:srgbClr val="0D9488"/>
          </a:solidFill>
          <a:ln w="12700">
            <a:solidFill>
              <a:srgbClr val="0D9488"/>
            </a:solidFill>
            <a:prstDash val="solid"/>
          </a:ln>
        </p:spPr>
      </p:sp>
      <p:sp>
        <p:nvSpPr>
          <p:cNvPr id="6" name="Text 4"/>
          <p:cNvSpPr/>
          <p:nvPr/>
        </p:nvSpPr>
        <p:spPr>
          <a:xfrm>
            <a:off x="320040" y="914400"/>
            <a:ext cx="4160520" cy="365760"/>
          </a:xfrm>
          <a:prstGeom prst="rect">
            <a:avLst/>
          </a:prstGeom>
          <a:noFill/>
          <a:ln/>
        </p:spPr>
        <p:txBody>
          <a:bodyPr wrap="square" lIns="0" tIns="0" rIns="0" bIns="0" rtlCol="0" anchor="ctr"/>
          <a:lstStyle/>
          <a:p>
            <a:pPr algn="ctr" indent="0" marL="0">
              <a:buNone/>
            </a:pPr>
            <a:r>
              <a:rPr lang="en-US" sz="1200" b="1" dirty="0">
                <a:solidFill>
                  <a:srgbClr val="FFFFFF"/>
                </a:solidFill>
              </a:rPr>
              <a:t>Base de Datos</a:t>
            </a:r>
            <a:endParaRPr lang="en-US" sz="1200" dirty="0"/>
          </a:p>
        </p:txBody>
      </p:sp>
      <p:sp>
        <p:nvSpPr>
          <p:cNvPr id="7" name="Shape 5"/>
          <p:cNvSpPr/>
          <p:nvPr/>
        </p:nvSpPr>
        <p:spPr>
          <a:xfrm>
            <a:off x="320040" y="1344168"/>
            <a:ext cx="4160520" cy="548640"/>
          </a:xfrm>
          <a:prstGeom prst="rect">
            <a:avLst/>
          </a:prstGeom>
          <a:solidFill>
            <a:srgbClr val="FFFFFF"/>
          </a:solidFill>
          <a:ln w="12700">
            <a:solidFill>
              <a:srgbClr val="DC2626"/>
            </a:solidFill>
            <a:prstDash val="solid"/>
          </a:ln>
          <a:effectLst>
            <a:outerShdw sx="100000" sy="100000" kx="0" ky="0" algn="bl" rotWithShape="0" blurRad="101600" dist="38100" dir="8100000">
              <a:srgbClr val="000000">
                <a:alpha val="18000"/>
              </a:srgbClr>
            </a:outerShdw>
          </a:effectLst>
        </p:spPr>
      </p:sp>
      <p:sp>
        <p:nvSpPr>
          <p:cNvPr id="8" name="Shape 6"/>
          <p:cNvSpPr/>
          <p:nvPr/>
        </p:nvSpPr>
        <p:spPr>
          <a:xfrm>
            <a:off x="320040" y="1344168"/>
            <a:ext cx="713232" cy="548640"/>
          </a:xfrm>
          <a:prstGeom prst="rect">
            <a:avLst/>
          </a:prstGeom>
          <a:solidFill>
            <a:srgbClr val="DC2626"/>
          </a:solidFill>
          <a:ln w="12700">
            <a:solidFill>
              <a:srgbClr val="DC2626"/>
            </a:solidFill>
            <a:prstDash val="solid"/>
          </a:ln>
        </p:spPr>
      </p:sp>
      <p:sp>
        <p:nvSpPr>
          <p:cNvPr id="9" name="Text 7"/>
          <p:cNvSpPr/>
          <p:nvPr/>
        </p:nvSpPr>
        <p:spPr>
          <a:xfrm>
            <a:off x="320040" y="1344168"/>
            <a:ext cx="713232" cy="548640"/>
          </a:xfrm>
          <a:prstGeom prst="rect">
            <a:avLst/>
          </a:prstGeom>
          <a:noFill/>
          <a:ln/>
        </p:spPr>
        <p:txBody>
          <a:bodyPr wrap="square" lIns="0" tIns="0" rIns="0" bIns="0" rtlCol="0" anchor="ctr"/>
          <a:lstStyle/>
          <a:p>
            <a:pPr algn="ctr" indent="0" marL="0">
              <a:buNone/>
            </a:pPr>
            <a:r>
              <a:rPr lang="en-US" sz="850" b="1" dirty="0">
                <a:solidFill>
                  <a:srgbClr val="FFFFFF"/>
                </a:solidFill>
              </a:rPr>
              <a:t>UPDATE</a:t>
            </a:r>
            <a:endParaRPr lang="en-US" sz="850" dirty="0"/>
          </a:p>
        </p:txBody>
      </p:sp>
      <p:sp>
        <p:nvSpPr>
          <p:cNvPr id="10" name="Text 8"/>
          <p:cNvSpPr/>
          <p:nvPr/>
        </p:nvSpPr>
        <p:spPr>
          <a:xfrm>
            <a:off x="1097280" y="1344168"/>
            <a:ext cx="3310128" cy="274320"/>
          </a:xfrm>
          <a:prstGeom prst="rect">
            <a:avLst/>
          </a:prstGeom>
          <a:noFill/>
          <a:ln/>
        </p:spPr>
        <p:txBody>
          <a:bodyPr wrap="square" lIns="0" tIns="0" rIns="0" bIns="0" rtlCol="0" anchor="b"/>
          <a:lstStyle/>
          <a:p>
            <a:pPr indent="0" marL="0">
              <a:buNone/>
            </a:pPr>
            <a:r>
              <a:rPr lang="en-US" sz="1000" b="1" dirty="0">
                <a:solidFill>
                  <a:srgbClr val="0D1B2A"/>
                </a:solidFill>
              </a:rPr>
              <a:t>catClasificacionCorreoRecibido</a:t>
            </a:r>
            <a:endParaRPr lang="en-US" sz="1000" dirty="0"/>
          </a:p>
        </p:txBody>
      </p:sp>
      <p:sp>
        <p:nvSpPr>
          <p:cNvPr id="11" name="Text 9"/>
          <p:cNvSpPr/>
          <p:nvPr/>
        </p:nvSpPr>
        <p:spPr>
          <a:xfrm>
            <a:off x="1097280" y="1618488"/>
            <a:ext cx="3310128" cy="256032"/>
          </a:xfrm>
          <a:prstGeom prst="rect">
            <a:avLst/>
          </a:prstGeom>
          <a:noFill/>
          <a:ln/>
        </p:spPr>
        <p:txBody>
          <a:bodyPr wrap="square" lIns="0" tIns="0" rIns="0" bIns="0" rtlCol="0" anchor="t"/>
          <a:lstStyle/>
          <a:p>
            <a:pPr indent="0" marL="0">
              <a:buNone/>
            </a:pPr>
            <a:r>
              <a:rPr lang="en-US" sz="850" dirty="0">
                <a:solidFill>
                  <a:srgbClr val="475569"/>
                </a:solidFill>
              </a:rPr>
              <a:t>Renombrar 'Pago' -&gt; 'Cobro' (Clave + display)</a:t>
            </a:r>
            <a:endParaRPr lang="en-US" sz="850" dirty="0"/>
          </a:p>
        </p:txBody>
      </p:sp>
      <p:sp>
        <p:nvSpPr>
          <p:cNvPr id="12" name="Shape 10"/>
          <p:cNvSpPr/>
          <p:nvPr/>
        </p:nvSpPr>
        <p:spPr>
          <a:xfrm>
            <a:off x="320040" y="1965960"/>
            <a:ext cx="4160520" cy="548640"/>
          </a:xfrm>
          <a:prstGeom prst="rect">
            <a:avLst/>
          </a:prstGeom>
          <a:solidFill>
            <a:srgbClr val="FFFFFF"/>
          </a:solidFill>
          <a:ln w="12700">
            <a:solidFill>
              <a:srgbClr val="DC2626"/>
            </a:solidFill>
            <a:prstDash val="solid"/>
          </a:ln>
          <a:effectLst>
            <a:outerShdw sx="100000" sy="100000" kx="0" ky="0" algn="bl" rotWithShape="0" blurRad="101600" dist="38100" dir="8100000">
              <a:srgbClr val="000000">
                <a:alpha val="18000"/>
              </a:srgbClr>
            </a:outerShdw>
          </a:effectLst>
        </p:spPr>
      </p:sp>
      <p:sp>
        <p:nvSpPr>
          <p:cNvPr id="13" name="Shape 11"/>
          <p:cNvSpPr/>
          <p:nvPr/>
        </p:nvSpPr>
        <p:spPr>
          <a:xfrm>
            <a:off x="320040" y="1965960"/>
            <a:ext cx="713232" cy="548640"/>
          </a:xfrm>
          <a:prstGeom prst="rect">
            <a:avLst/>
          </a:prstGeom>
          <a:solidFill>
            <a:srgbClr val="DC2626"/>
          </a:solidFill>
          <a:ln w="12700">
            <a:solidFill>
              <a:srgbClr val="DC2626"/>
            </a:solidFill>
            <a:prstDash val="solid"/>
          </a:ln>
        </p:spPr>
      </p:sp>
      <p:sp>
        <p:nvSpPr>
          <p:cNvPr id="14" name="Text 12"/>
          <p:cNvSpPr/>
          <p:nvPr/>
        </p:nvSpPr>
        <p:spPr>
          <a:xfrm>
            <a:off x="320040" y="1965960"/>
            <a:ext cx="713232" cy="548640"/>
          </a:xfrm>
          <a:prstGeom prst="rect">
            <a:avLst/>
          </a:prstGeom>
          <a:noFill/>
          <a:ln/>
        </p:spPr>
        <p:txBody>
          <a:bodyPr wrap="square" lIns="0" tIns="0" rIns="0" bIns="0" rtlCol="0" anchor="ctr"/>
          <a:lstStyle/>
          <a:p>
            <a:pPr algn="ctr" indent="0" marL="0">
              <a:buNone/>
            </a:pPr>
            <a:r>
              <a:rPr lang="en-US" sz="850" b="1" dirty="0">
                <a:solidFill>
                  <a:srgbClr val="FFFFFF"/>
                </a:solidFill>
              </a:rPr>
              <a:t>INSERT</a:t>
            </a:r>
            <a:endParaRPr lang="en-US" sz="850" dirty="0"/>
          </a:p>
        </p:txBody>
      </p:sp>
      <p:sp>
        <p:nvSpPr>
          <p:cNvPr id="15" name="Text 13"/>
          <p:cNvSpPr/>
          <p:nvPr/>
        </p:nvSpPr>
        <p:spPr>
          <a:xfrm>
            <a:off x="1097280" y="1965960"/>
            <a:ext cx="3310128" cy="274320"/>
          </a:xfrm>
          <a:prstGeom prst="rect">
            <a:avLst/>
          </a:prstGeom>
          <a:noFill/>
          <a:ln/>
        </p:spPr>
        <p:txBody>
          <a:bodyPr wrap="square" lIns="0" tIns="0" rIns="0" bIns="0" rtlCol="0" anchor="b"/>
          <a:lstStyle/>
          <a:p>
            <a:pPr indent="0" marL="0">
              <a:buNone/>
            </a:pPr>
            <a:r>
              <a:rPr lang="en-US" sz="1000" b="1" dirty="0">
                <a:solidFill>
                  <a:srgbClr val="0D1B2A"/>
                </a:solidFill>
              </a:rPr>
              <a:t>catProceso</a:t>
            </a:r>
            <a:endParaRPr lang="en-US" sz="1000" dirty="0"/>
          </a:p>
        </p:txBody>
      </p:sp>
      <p:sp>
        <p:nvSpPr>
          <p:cNvPr id="16" name="Text 14"/>
          <p:cNvSpPr/>
          <p:nvPr/>
        </p:nvSpPr>
        <p:spPr>
          <a:xfrm>
            <a:off x="1097280" y="2240280"/>
            <a:ext cx="3310128" cy="256032"/>
          </a:xfrm>
          <a:prstGeom prst="rect">
            <a:avLst/>
          </a:prstGeom>
          <a:noFill/>
          <a:ln/>
        </p:spPr>
        <p:txBody>
          <a:bodyPr wrap="square" lIns="0" tIns="0" rIns="0" bIns="0" rtlCol="0" anchor="t"/>
          <a:lstStyle/>
          <a:p>
            <a:pPr indent="0" marL="0">
              <a:buNone/>
            </a:pPr>
            <a:r>
              <a:rPr lang="en-US" sz="850" dirty="0">
                <a:solidFill>
                  <a:srgbClr val="475569"/>
                </a:solidFill>
              </a:rPr>
              <a:t>Agregar proceso 'Cobros' con clave 'cobros'</a:t>
            </a:r>
            <a:endParaRPr lang="en-US" sz="850" dirty="0"/>
          </a:p>
        </p:txBody>
      </p:sp>
      <p:sp>
        <p:nvSpPr>
          <p:cNvPr id="17" name="Shape 15"/>
          <p:cNvSpPr/>
          <p:nvPr/>
        </p:nvSpPr>
        <p:spPr>
          <a:xfrm>
            <a:off x="320040" y="2587752"/>
            <a:ext cx="4160520" cy="548640"/>
          </a:xfrm>
          <a:prstGeom prst="rect">
            <a:avLst/>
          </a:prstGeom>
          <a:solidFill>
            <a:srgbClr val="FFFFFF"/>
          </a:solidFill>
          <a:ln w="12700">
            <a:solidFill>
              <a:srgbClr val="D97706"/>
            </a:solidFill>
            <a:prstDash val="solid"/>
          </a:ln>
          <a:effectLst>
            <a:outerShdw sx="100000" sy="100000" kx="0" ky="0" algn="bl" rotWithShape="0" blurRad="101600" dist="38100" dir="8100000">
              <a:srgbClr val="000000">
                <a:alpha val="18000"/>
              </a:srgbClr>
            </a:outerShdw>
          </a:effectLst>
        </p:spPr>
      </p:sp>
      <p:sp>
        <p:nvSpPr>
          <p:cNvPr id="18" name="Shape 16"/>
          <p:cNvSpPr/>
          <p:nvPr/>
        </p:nvSpPr>
        <p:spPr>
          <a:xfrm>
            <a:off x="320040" y="2587752"/>
            <a:ext cx="713232" cy="548640"/>
          </a:xfrm>
          <a:prstGeom prst="rect">
            <a:avLst/>
          </a:prstGeom>
          <a:solidFill>
            <a:srgbClr val="D97706"/>
          </a:solidFill>
          <a:ln w="12700">
            <a:solidFill>
              <a:srgbClr val="D97706"/>
            </a:solidFill>
            <a:prstDash val="solid"/>
          </a:ln>
        </p:spPr>
      </p:sp>
      <p:sp>
        <p:nvSpPr>
          <p:cNvPr id="19" name="Text 17"/>
          <p:cNvSpPr/>
          <p:nvPr/>
        </p:nvSpPr>
        <p:spPr>
          <a:xfrm>
            <a:off x="320040" y="2587752"/>
            <a:ext cx="713232" cy="548640"/>
          </a:xfrm>
          <a:prstGeom prst="rect">
            <a:avLst/>
          </a:prstGeom>
          <a:noFill/>
          <a:ln/>
        </p:spPr>
        <p:txBody>
          <a:bodyPr wrap="square" lIns="0" tIns="0" rIns="0" bIns="0" rtlCol="0" anchor="ctr"/>
          <a:lstStyle/>
          <a:p>
            <a:pPr algn="ctr" indent="0" marL="0">
              <a:buNone/>
            </a:pPr>
            <a:r>
              <a:rPr lang="en-US" sz="850" b="1" dirty="0">
                <a:solidFill>
                  <a:srgbClr val="FFFFFF"/>
                </a:solidFill>
              </a:rPr>
              <a:t>ALTER</a:t>
            </a:r>
            <a:endParaRPr lang="en-US" sz="850" dirty="0"/>
          </a:p>
        </p:txBody>
      </p:sp>
      <p:sp>
        <p:nvSpPr>
          <p:cNvPr id="20" name="Text 18"/>
          <p:cNvSpPr/>
          <p:nvPr/>
        </p:nvSpPr>
        <p:spPr>
          <a:xfrm>
            <a:off x="1097280" y="2587752"/>
            <a:ext cx="3310128" cy="274320"/>
          </a:xfrm>
          <a:prstGeom prst="rect">
            <a:avLst/>
          </a:prstGeom>
          <a:noFill/>
          <a:ln/>
        </p:spPr>
        <p:txBody>
          <a:bodyPr wrap="square" lIns="0" tIns="0" rIns="0" bIns="0" rtlCol="0" anchor="b"/>
          <a:lstStyle/>
          <a:p>
            <a:pPr indent="0" marL="0">
              <a:buNone/>
            </a:pPr>
            <a:r>
              <a:rPr lang="en-US" sz="1000" b="1" dirty="0">
                <a:solidFill>
                  <a:srgbClr val="0D1B2A"/>
                </a:solidFill>
              </a:rPr>
              <a:t>RegionConfiguracionMailBot</a:t>
            </a:r>
            <a:endParaRPr lang="en-US" sz="1000" dirty="0"/>
          </a:p>
        </p:txBody>
      </p:sp>
      <p:sp>
        <p:nvSpPr>
          <p:cNvPr id="21" name="Text 19"/>
          <p:cNvSpPr/>
          <p:nvPr/>
        </p:nvSpPr>
        <p:spPr>
          <a:xfrm>
            <a:off x="1097280" y="2862072"/>
            <a:ext cx="3310128" cy="256032"/>
          </a:xfrm>
          <a:prstGeom prst="rect">
            <a:avLst/>
          </a:prstGeom>
          <a:noFill/>
          <a:ln/>
        </p:spPr>
        <p:txBody>
          <a:bodyPr wrap="square" lIns="0" tIns="0" rIns="0" bIns="0" rtlCol="0" anchor="t"/>
          <a:lstStyle/>
          <a:p>
            <a:pPr indent="0" marL="0">
              <a:buNone/>
            </a:pPr>
            <a:r>
              <a:rPr lang="en-US" sz="850" dirty="0">
                <a:solidFill>
                  <a:srgbClr val="475569"/>
                </a:solidFill>
              </a:rPr>
              <a:t>Cols: PubSubTopic, WatchHistoryId, WatchExpiration (P2)</a:t>
            </a:r>
            <a:endParaRPr lang="en-US" sz="850" dirty="0"/>
          </a:p>
        </p:txBody>
      </p:sp>
      <p:sp>
        <p:nvSpPr>
          <p:cNvPr id="22" name="Shape 20"/>
          <p:cNvSpPr/>
          <p:nvPr/>
        </p:nvSpPr>
        <p:spPr>
          <a:xfrm>
            <a:off x="320040" y="3209544"/>
            <a:ext cx="4160520" cy="548640"/>
          </a:xfrm>
          <a:prstGeom prst="rect">
            <a:avLst/>
          </a:prstGeom>
          <a:solidFill>
            <a:srgbClr val="FFFFFF"/>
          </a:solidFill>
          <a:ln w="12700">
            <a:solidFill>
              <a:srgbClr val="DC2626"/>
            </a:solidFill>
            <a:prstDash val="solid"/>
          </a:ln>
          <a:effectLst>
            <a:outerShdw sx="100000" sy="100000" kx="0" ky="0" algn="bl" rotWithShape="0" blurRad="101600" dist="38100" dir="8100000">
              <a:srgbClr val="000000">
                <a:alpha val="18000"/>
              </a:srgbClr>
            </a:outerShdw>
          </a:effectLst>
        </p:spPr>
      </p:sp>
      <p:sp>
        <p:nvSpPr>
          <p:cNvPr id="23" name="Shape 21"/>
          <p:cNvSpPr/>
          <p:nvPr/>
        </p:nvSpPr>
        <p:spPr>
          <a:xfrm>
            <a:off x="320040" y="3209544"/>
            <a:ext cx="713232" cy="548640"/>
          </a:xfrm>
          <a:prstGeom prst="rect">
            <a:avLst/>
          </a:prstGeom>
          <a:solidFill>
            <a:srgbClr val="DC2626"/>
          </a:solidFill>
          <a:ln w="12700">
            <a:solidFill>
              <a:srgbClr val="DC2626"/>
            </a:solidFill>
            <a:prstDash val="solid"/>
          </a:ln>
        </p:spPr>
      </p:sp>
      <p:sp>
        <p:nvSpPr>
          <p:cNvPr id="24" name="Text 22"/>
          <p:cNvSpPr/>
          <p:nvPr/>
        </p:nvSpPr>
        <p:spPr>
          <a:xfrm>
            <a:off x="320040" y="3209544"/>
            <a:ext cx="713232" cy="548640"/>
          </a:xfrm>
          <a:prstGeom prst="rect">
            <a:avLst/>
          </a:prstGeom>
          <a:noFill/>
          <a:ln/>
        </p:spPr>
        <p:txBody>
          <a:bodyPr wrap="square" lIns="0" tIns="0" rIns="0" bIns="0" rtlCol="0" anchor="ctr"/>
          <a:lstStyle/>
          <a:p>
            <a:pPr algn="ctr" indent="0" marL="0">
              <a:buNone/>
            </a:pPr>
            <a:r>
              <a:rPr lang="en-US" sz="850" b="1" dirty="0">
                <a:solidFill>
                  <a:srgbClr val="FFFFFF"/>
                </a:solidFill>
              </a:rPr>
              <a:t>CREATE</a:t>
            </a:r>
            <a:endParaRPr lang="en-US" sz="850" dirty="0"/>
          </a:p>
        </p:txBody>
      </p:sp>
      <p:sp>
        <p:nvSpPr>
          <p:cNvPr id="25" name="Text 23"/>
          <p:cNvSpPr/>
          <p:nvPr/>
        </p:nvSpPr>
        <p:spPr>
          <a:xfrm>
            <a:off x="1097280" y="3209544"/>
            <a:ext cx="3310128" cy="274320"/>
          </a:xfrm>
          <a:prstGeom prst="rect">
            <a:avLst/>
          </a:prstGeom>
          <a:noFill/>
          <a:ln/>
        </p:spPr>
        <p:txBody>
          <a:bodyPr wrap="square" lIns="0" tIns="0" rIns="0" bIns="0" rtlCol="0" anchor="b"/>
          <a:lstStyle/>
          <a:p>
            <a:pPr indent="0" marL="0">
              <a:buNone/>
            </a:pPr>
            <a:r>
              <a:rPr lang="en-US" sz="1000" b="1" dirty="0">
                <a:solidFill>
                  <a:srgbClr val="0D1B2A"/>
                </a:solidFill>
              </a:rPr>
              <a:t>MailbotEventoCorreo</a:t>
            </a:r>
            <a:endParaRPr lang="en-US" sz="1000" dirty="0"/>
          </a:p>
        </p:txBody>
      </p:sp>
      <p:sp>
        <p:nvSpPr>
          <p:cNvPr id="26" name="Text 24"/>
          <p:cNvSpPr/>
          <p:nvPr/>
        </p:nvSpPr>
        <p:spPr>
          <a:xfrm>
            <a:off x="1097280" y="3483864"/>
            <a:ext cx="3310128" cy="256032"/>
          </a:xfrm>
          <a:prstGeom prst="rect">
            <a:avLst/>
          </a:prstGeom>
          <a:noFill/>
          <a:ln/>
        </p:spPr>
        <p:txBody>
          <a:bodyPr wrap="square" lIns="0" tIns="0" rIns="0" bIns="0" rtlCol="0" anchor="t"/>
          <a:lstStyle/>
          <a:p>
            <a:pPr indent="0" marL="0">
              <a:buNone/>
            </a:pPr>
            <a:r>
              <a:rPr lang="en-US" sz="850" dirty="0">
                <a:solidFill>
                  <a:srgbClr val="475569"/>
                </a:solidFill>
              </a:rPr>
              <a:t>Trazabilidad e idempotencia por IdentificadorCorreoGmail</a:t>
            </a:r>
            <a:endParaRPr lang="en-US" sz="850" dirty="0"/>
          </a:p>
        </p:txBody>
      </p:sp>
      <p:sp>
        <p:nvSpPr>
          <p:cNvPr id="27" name="Shape 25"/>
          <p:cNvSpPr/>
          <p:nvPr/>
        </p:nvSpPr>
        <p:spPr>
          <a:xfrm>
            <a:off x="320040" y="3831336"/>
            <a:ext cx="4160520" cy="548640"/>
          </a:xfrm>
          <a:prstGeom prst="rect">
            <a:avLst/>
          </a:prstGeom>
          <a:solidFill>
            <a:srgbClr val="FFFFFF"/>
          </a:solidFill>
          <a:ln w="12700">
            <a:solidFill>
              <a:srgbClr val="DC2626"/>
            </a:solidFill>
            <a:prstDash val="solid"/>
          </a:ln>
          <a:effectLst>
            <a:outerShdw sx="100000" sy="100000" kx="0" ky="0" algn="bl" rotWithShape="0" blurRad="101600" dist="38100" dir="8100000">
              <a:srgbClr val="000000">
                <a:alpha val="18000"/>
              </a:srgbClr>
            </a:outerShdw>
          </a:effectLst>
        </p:spPr>
      </p:sp>
      <p:sp>
        <p:nvSpPr>
          <p:cNvPr id="28" name="Shape 26"/>
          <p:cNvSpPr/>
          <p:nvPr/>
        </p:nvSpPr>
        <p:spPr>
          <a:xfrm>
            <a:off x="320040" y="3831336"/>
            <a:ext cx="713232" cy="548640"/>
          </a:xfrm>
          <a:prstGeom prst="rect">
            <a:avLst/>
          </a:prstGeom>
          <a:solidFill>
            <a:srgbClr val="DC2626"/>
          </a:solidFill>
          <a:ln w="12700">
            <a:solidFill>
              <a:srgbClr val="DC2626"/>
            </a:solidFill>
            <a:prstDash val="solid"/>
          </a:ln>
        </p:spPr>
      </p:sp>
      <p:sp>
        <p:nvSpPr>
          <p:cNvPr id="29" name="Text 27"/>
          <p:cNvSpPr/>
          <p:nvPr/>
        </p:nvSpPr>
        <p:spPr>
          <a:xfrm>
            <a:off x="320040" y="3831336"/>
            <a:ext cx="713232" cy="548640"/>
          </a:xfrm>
          <a:prstGeom prst="rect">
            <a:avLst/>
          </a:prstGeom>
          <a:noFill/>
          <a:ln/>
        </p:spPr>
        <p:txBody>
          <a:bodyPr wrap="square" lIns="0" tIns="0" rIns="0" bIns="0" rtlCol="0" anchor="ctr"/>
          <a:lstStyle/>
          <a:p>
            <a:pPr algn="ctr" indent="0" marL="0">
              <a:buNone/>
            </a:pPr>
            <a:r>
              <a:rPr lang="en-US" sz="850" b="1" dirty="0">
                <a:solidFill>
                  <a:srgbClr val="FFFFFF"/>
                </a:solidFill>
              </a:rPr>
              <a:t>CREATE</a:t>
            </a:r>
            <a:endParaRPr lang="en-US" sz="850" dirty="0"/>
          </a:p>
        </p:txBody>
      </p:sp>
      <p:sp>
        <p:nvSpPr>
          <p:cNvPr id="30" name="Text 28"/>
          <p:cNvSpPr/>
          <p:nvPr/>
        </p:nvSpPr>
        <p:spPr>
          <a:xfrm>
            <a:off x="1097280" y="3831336"/>
            <a:ext cx="3310128" cy="274320"/>
          </a:xfrm>
          <a:prstGeom prst="rect">
            <a:avLst/>
          </a:prstGeom>
          <a:noFill/>
          <a:ln/>
        </p:spPr>
        <p:txBody>
          <a:bodyPr wrap="square" lIns="0" tIns="0" rIns="0" bIns="0" rtlCol="0" anchor="b"/>
          <a:lstStyle/>
          <a:p>
            <a:pPr indent="0" marL="0">
              <a:buNone/>
            </a:pPr>
            <a:r>
              <a:rPr lang="en-US" sz="1000" b="1" dirty="0">
                <a:solidFill>
                  <a:srgbClr val="0D1B2A"/>
                </a:solidFill>
              </a:rPr>
              <a:t>MailbotClasificacionLog</a:t>
            </a:r>
            <a:endParaRPr lang="en-US" sz="1000" dirty="0"/>
          </a:p>
        </p:txBody>
      </p:sp>
      <p:sp>
        <p:nvSpPr>
          <p:cNvPr id="31" name="Text 29"/>
          <p:cNvSpPr/>
          <p:nvPr/>
        </p:nvSpPr>
        <p:spPr>
          <a:xfrm>
            <a:off x="1097280" y="4105656"/>
            <a:ext cx="3310128" cy="256032"/>
          </a:xfrm>
          <a:prstGeom prst="rect">
            <a:avLst/>
          </a:prstGeom>
          <a:noFill/>
          <a:ln/>
        </p:spPr>
        <p:txBody>
          <a:bodyPr wrap="square" lIns="0" tIns="0" rIns="0" bIns="0" rtlCol="0" anchor="t"/>
          <a:lstStyle/>
          <a:p>
            <a:pPr indent="0" marL="0">
              <a:buNone/>
            </a:pPr>
            <a:r>
              <a:rPr lang="en-US" sz="850" dirty="0">
                <a:solidFill>
                  <a:srgbClr val="475569"/>
                </a:solidFill>
              </a:rPr>
              <a:t>Auditoria de clasificaciones del Agente IA</a:t>
            </a:r>
            <a:endParaRPr lang="en-US" sz="850" dirty="0"/>
          </a:p>
        </p:txBody>
      </p:sp>
      <p:sp>
        <p:nvSpPr>
          <p:cNvPr id="32" name="Shape 30"/>
          <p:cNvSpPr/>
          <p:nvPr/>
        </p:nvSpPr>
        <p:spPr>
          <a:xfrm>
            <a:off x="4709160" y="914400"/>
            <a:ext cx="4114800" cy="365760"/>
          </a:xfrm>
          <a:prstGeom prst="rect">
            <a:avLst/>
          </a:prstGeom>
          <a:solidFill>
            <a:srgbClr val="1A3A5C"/>
          </a:solidFill>
          <a:ln w="12700">
            <a:solidFill>
              <a:srgbClr val="1A3A5C"/>
            </a:solidFill>
            <a:prstDash val="solid"/>
          </a:ln>
        </p:spPr>
      </p:sp>
      <p:sp>
        <p:nvSpPr>
          <p:cNvPr id="33" name="Text 31"/>
          <p:cNvSpPr/>
          <p:nvPr/>
        </p:nvSpPr>
        <p:spPr>
          <a:xfrm>
            <a:off x="4709160" y="914400"/>
            <a:ext cx="4114800" cy="365760"/>
          </a:xfrm>
          <a:prstGeom prst="rect">
            <a:avLst/>
          </a:prstGeom>
          <a:noFill/>
          <a:ln/>
        </p:spPr>
        <p:txBody>
          <a:bodyPr wrap="square" lIns="0" tIns="0" rIns="0" bIns="0" rtlCol="0" anchor="ctr"/>
          <a:lstStyle/>
          <a:p>
            <a:pPr algn="ctr" indent="0" marL="0">
              <a:buNone/>
            </a:pPr>
            <a:r>
              <a:rPr lang="en-US" sz="1200" b="1" dirty="0">
                <a:solidFill>
                  <a:srgbClr val="FFFFFF"/>
                </a:solidFill>
              </a:rPr>
              <a:t>Logica y API (.NET 4.8)</a:t>
            </a:r>
            <a:endParaRPr lang="en-US" sz="1200" dirty="0"/>
          </a:p>
        </p:txBody>
      </p:sp>
      <p:sp>
        <p:nvSpPr>
          <p:cNvPr id="34" name="Shape 32"/>
          <p:cNvSpPr/>
          <p:nvPr/>
        </p:nvSpPr>
        <p:spPr>
          <a:xfrm>
            <a:off x="4709160" y="1344168"/>
            <a:ext cx="4114800" cy="548640"/>
          </a:xfrm>
          <a:prstGeom prst="rect">
            <a:avLst/>
          </a:prstGeom>
          <a:solidFill>
            <a:srgbClr val="FFFFFF"/>
          </a:solidFill>
          <a:ln w="12700">
            <a:solidFill>
              <a:srgbClr val="1A3A5C"/>
            </a:solidFill>
            <a:prstDash val="solid"/>
          </a:ln>
          <a:effectLst>
            <a:outerShdw sx="100000" sy="100000" kx="0" ky="0" algn="bl" rotWithShape="0" blurRad="101600" dist="38100" dir="8100000">
              <a:srgbClr val="000000">
                <a:alpha val="18000"/>
              </a:srgbClr>
            </a:outerShdw>
          </a:effectLst>
        </p:spPr>
      </p:sp>
      <p:sp>
        <p:nvSpPr>
          <p:cNvPr id="35" name="Shape 33"/>
          <p:cNvSpPr/>
          <p:nvPr/>
        </p:nvSpPr>
        <p:spPr>
          <a:xfrm>
            <a:off x="4709160" y="1344168"/>
            <a:ext cx="713232" cy="548640"/>
          </a:xfrm>
          <a:prstGeom prst="rect">
            <a:avLst/>
          </a:prstGeom>
          <a:solidFill>
            <a:srgbClr val="1A3A5C"/>
          </a:solidFill>
          <a:ln w="12700">
            <a:solidFill>
              <a:srgbClr val="1A3A5C"/>
            </a:solidFill>
            <a:prstDash val="solid"/>
          </a:ln>
        </p:spPr>
      </p:sp>
      <p:sp>
        <p:nvSpPr>
          <p:cNvPr id="36" name="Text 34"/>
          <p:cNvSpPr/>
          <p:nvPr/>
        </p:nvSpPr>
        <p:spPr>
          <a:xfrm>
            <a:off x="4709160" y="1344168"/>
            <a:ext cx="713232" cy="548640"/>
          </a:xfrm>
          <a:prstGeom prst="rect">
            <a:avLst/>
          </a:prstGeom>
          <a:noFill/>
          <a:ln/>
        </p:spPr>
        <p:txBody>
          <a:bodyPr wrap="square" lIns="0" tIns="0" rIns="0" bIns="0" rtlCol="0" anchor="ctr"/>
          <a:lstStyle/>
          <a:p>
            <a:pPr algn="ctr" indent="0" marL="0">
              <a:buNone/>
            </a:pPr>
            <a:r>
              <a:rPr lang="en-US" sz="850" b="1" dirty="0">
                <a:solidFill>
                  <a:srgbClr val="FFFFFF"/>
                </a:solidFill>
              </a:rPr>
              <a:t>NUEVO</a:t>
            </a:r>
            <a:endParaRPr lang="en-US" sz="850" dirty="0"/>
          </a:p>
        </p:txBody>
      </p:sp>
      <p:sp>
        <p:nvSpPr>
          <p:cNvPr id="37" name="Text 35"/>
          <p:cNvSpPr/>
          <p:nvPr/>
        </p:nvSpPr>
        <p:spPr>
          <a:xfrm>
            <a:off x="5486400" y="1344168"/>
            <a:ext cx="3246120" cy="274320"/>
          </a:xfrm>
          <a:prstGeom prst="rect">
            <a:avLst/>
          </a:prstGeom>
          <a:noFill/>
          <a:ln/>
        </p:spPr>
        <p:txBody>
          <a:bodyPr wrap="square" lIns="0" tIns="0" rIns="0" bIns="0" rtlCol="0" anchor="b"/>
          <a:lstStyle/>
          <a:p>
            <a:pPr indent="0" marL="0">
              <a:buNone/>
            </a:pPr>
            <a:r>
              <a:rPr lang="en-US" sz="950" b="1" dirty="0">
                <a:solidFill>
                  <a:srgbClr val="0D1B2A"/>
                </a:solidFill>
              </a:rPr>
              <a:t>ClasificacionCorreoRecibidoConstants.cs</a:t>
            </a:r>
            <a:endParaRPr lang="en-US" sz="950" dirty="0"/>
          </a:p>
        </p:txBody>
      </p:sp>
      <p:sp>
        <p:nvSpPr>
          <p:cNvPr id="38" name="Text 36"/>
          <p:cNvSpPr/>
          <p:nvPr/>
        </p:nvSpPr>
        <p:spPr>
          <a:xfrm>
            <a:off x="5486400" y="1618488"/>
            <a:ext cx="3246120" cy="256032"/>
          </a:xfrm>
          <a:prstGeom prst="rect">
            <a:avLst/>
          </a:prstGeom>
          <a:noFill/>
          <a:ln/>
        </p:spPr>
        <p:txBody>
          <a:bodyPr wrap="square" lIns="0" tIns="0" rIns="0" bIns="0" rtlCol="0" anchor="t"/>
          <a:lstStyle/>
          <a:p>
            <a:pPr indent="0" marL="0">
              <a:buNone/>
            </a:pPr>
            <a:r>
              <a:rPr lang="en-US" sz="850" dirty="0">
                <a:solidFill>
                  <a:srgbClr val="475569"/>
                </a:solidFill>
              </a:rPr>
              <a:t>Constantes tecnicas para switch (Requisicion/Pedido/Cobro/Otros)</a:t>
            </a:r>
            <a:endParaRPr lang="en-US" sz="850" dirty="0"/>
          </a:p>
        </p:txBody>
      </p:sp>
      <p:sp>
        <p:nvSpPr>
          <p:cNvPr id="39" name="Shape 37"/>
          <p:cNvSpPr/>
          <p:nvPr/>
        </p:nvSpPr>
        <p:spPr>
          <a:xfrm>
            <a:off x="4709160" y="1965960"/>
            <a:ext cx="4114800" cy="548640"/>
          </a:xfrm>
          <a:prstGeom prst="rect">
            <a:avLst/>
          </a:prstGeom>
          <a:solidFill>
            <a:srgbClr val="FFFFFF"/>
          </a:solidFill>
          <a:ln w="12700">
            <a:solidFill>
              <a:srgbClr val="1A3A5C"/>
            </a:solidFill>
            <a:prstDash val="solid"/>
          </a:ln>
          <a:effectLst>
            <a:outerShdw sx="100000" sy="100000" kx="0" ky="0" algn="bl" rotWithShape="0" blurRad="101600" dist="38100" dir="8100000">
              <a:srgbClr val="000000">
                <a:alpha val="18000"/>
              </a:srgbClr>
            </a:outerShdw>
          </a:effectLst>
        </p:spPr>
      </p:sp>
      <p:sp>
        <p:nvSpPr>
          <p:cNvPr id="40" name="Shape 38"/>
          <p:cNvSpPr/>
          <p:nvPr/>
        </p:nvSpPr>
        <p:spPr>
          <a:xfrm>
            <a:off x="4709160" y="1965960"/>
            <a:ext cx="713232" cy="548640"/>
          </a:xfrm>
          <a:prstGeom prst="rect">
            <a:avLst/>
          </a:prstGeom>
          <a:solidFill>
            <a:srgbClr val="1A3A5C"/>
          </a:solidFill>
          <a:ln w="12700">
            <a:solidFill>
              <a:srgbClr val="1A3A5C"/>
            </a:solidFill>
            <a:prstDash val="solid"/>
          </a:ln>
        </p:spPr>
      </p:sp>
      <p:sp>
        <p:nvSpPr>
          <p:cNvPr id="41" name="Text 39"/>
          <p:cNvSpPr/>
          <p:nvPr/>
        </p:nvSpPr>
        <p:spPr>
          <a:xfrm>
            <a:off x="4709160" y="1965960"/>
            <a:ext cx="713232" cy="548640"/>
          </a:xfrm>
          <a:prstGeom prst="rect">
            <a:avLst/>
          </a:prstGeom>
          <a:noFill/>
          <a:ln/>
        </p:spPr>
        <p:txBody>
          <a:bodyPr wrap="square" lIns="0" tIns="0" rIns="0" bIns="0" rtlCol="0" anchor="ctr"/>
          <a:lstStyle/>
          <a:p>
            <a:pPr algn="ctr" indent="0" marL="0">
              <a:buNone/>
            </a:pPr>
            <a:r>
              <a:rPr lang="en-US" sz="850" b="1" dirty="0">
                <a:solidFill>
                  <a:srgbClr val="FFFFFF"/>
                </a:solidFill>
              </a:rPr>
              <a:t>MODIF</a:t>
            </a:r>
            <a:endParaRPr lang="en-US" sz="850" dirty="0"/>
          </a:p>
        </p:txBody>
      </p:sp>
      <p:sp>
        <p:nvSpPr>
          <p:cNvPr id="42" name="Text 40"/>
          <p:cNvSpPr/>
          <p:nvPr/>
        </p:nvSpPr>
        <p:spPr>
          <a:xfrm>
            <a:off x="5486400" y="1965960"/>
            <a:ext cx="3246120" cy="274320"/>
          </a:xfrm>
          <a:prstGeom prst="rect">
            <a:avLst/>
          </a:prstGeom>
          <a:noFill/>
          <a:ln/>
        </p:spPr>
        <p:txBody>
          <a:bodyPr wrap="square" lIns="0" tIns="0" rIns="0" bIns="0" rtlCol="0" anchor="b"/>
          <a:lstStyle/>
          <a:p>
            <a:pPr indent="0" marL="0">
              <a:buNone/>
            </a:pPr>
            <a:r>
              <a:rPr lang="en-US" sz="950" b="1" dirty="0">
                <a:solidFill>
                  <a:srgbClr val="0D1B2A"/>
                </a:solidFill>
              </a:rPr>
              <a:t>GeneradorProcesoMailBotBO.cs</a:t>
            </a:r>
            <a:endParaRPr lang="en-US" sz="950" dirty="0"/>
          </a:p>
        </p:txBody>
      </p:sp>
      <p:sp>
        <p:nvSpPr>
          <p:cNvPr id="43" name="Text 41"/>
          <p:cNvSpPr/>
          <p:nvPr/>
        </p:nvSpPr>
        <p:spPr>
          <a:xfrm>
            <a:off x="5486400" y="2240280"/>
            <a:ext cx="3246120" cy="256032"/>
          </a:xfrm>
          <a:prstGeom prst="rect">
            <a:avLst/>
          </a:prstGeom>
          <a:noFill/>
          <a:ln/>
        </p:spPr>
        <p:txBody>
          <a:bodyPr wrap="square" lIns="0" tIns="0" rIns="0" bIns="0" rtlCol="0" anchor="t"/>
          <a:lstStyle/>
          <a:p>
            <a:pPr indent="0" marL="0">
              <a:buNone/>
            </a:pPr>
            <a:r>
              <a:rPr lang="en-US" sz="850" dirty="0">
                <a:solidFill>
                  <a:srgbClr val="475569"/>
                </a:solidFill>
              </a:rPr>
              <a:t>Refactorizar switch: evaluar Clave, activar case Cobro -&gt; ToPagoBO</a:t>
            </a:r>
            <a:endParaRPr lang="en-US" sz="850" dirty="0"/>
          </a:p>
        </p:txBody>
      </p:sp>
      <p:sp>
        <p:nvSpPr>
          <p:cNvPr id="44" name="Shape 42"/>
          <p:cNvSpPr/>
          <p:nvPr/>
        </p:nvSpPr>
        <p:spPr>
          <a:xfrm>
            <a:off x="4709160" y="2587752"/>
            <a:ext cx="4114800" cy="548640"/>
          </a:xfrm>
          <a:prstGeom prst="rect">
            <a:avLst/>
          </a:prstGeom>
          <a:solidFill>
            <a:srgbClr val="FFFFFF"/>
          </a:solidFill>
          <a:ln w="12700">
            <a:solidFill>
              <a:srgbClr val="1A3A5C"/>
            </a:solidFill>
            <a:prstDash val="solid"/>
          </a:ln>
          <a:effectLst>
            <a:outerShdw sx="100000" sy="100000" kx="0" ky="0" algn="bl" rotWithShape="0" blurRad="101600" dist="38100" dir="8100000">
              <a:srgbClr val="000000">
                <a:alpha val="18000"/>
              </a:srgbClr>
            </a:outerShdw>
          </a:effectLst>
        </p:spPr>
      </p:sp>
      <p:sp>
        <p:nvSpPr>
          <p:cNvPr id="45" name="Shape 43"/>
          <p:cNvSpPr/>
          <p:nvPr/>
        </p:nvSpPr>
        <p:spPr>
          <a:xfrm>
            <a:off x="4709160" y="2587752"/>
            <a:ext cx="713232" cy="548640"/>
          </a:xfrm>
          <a:prstGeom prst="rect">
            <a:avLst/>
          </a:prstGeom>
          <a:solidFill>
            <a:srgbClr val="1A3A5C"/>
          </a:solidFill>
          <a:ln w="12700">
            <a:solidFill>
              <a:srgbClr val="1A3A5C"/>
            </a:solidFill>
            <a:prstDash val="solid"/>
          </a:ln>
        </p:spPr>
      </p:sp>
      <p:sp>
        <p:nvSpPr>
          <p:cNvPr id="46" name="Text 44"/>
          <p:cNvSpPr/>
          <p:nvPr/>
        </p:nvSpPr>
        <p:spPr>
          <a:xfrm>
            <a:off x="4709160" y="2587752"/>
            <a:ext cx="713232" cy="548640"/>
          </a:xfrm>
          <a:prstGeom prst="rect">
            <a:avLst/>
          </a:prstGeom>
          <a:noFill/>
          <a:ln/>
        </p:spPr>
        <p:txBody>
          <a:bodyPr wrap="square" lIns="0" tIns="0" rIns="0" bIns="0" rtlCol="0" anchor="ctr"/>
          <a:lstStyle/>
          <a:p>
            <a:pPr algn="ctr" indent="0" marL="0">
              <a:buNone/>
            </a:pPr>
            <a:r>
              <a:rPr lang="en-US" sz="850" b="1" dirty="0">
                <a:solidFill>
                  <a:srgbClr val="FFFFFF"/>
                </a:solidFill>
              </a:rPr>
              <a:t>NUEVO</a:t>
            </a:r>
            <a:endParaRPr lang="en-US" sz="850" dirty="0"/>
          </a:p>
        </p:txBody>
      </p:sp>
      <p:sp>
        <p:nvSpPr>
          <p:cNvPr id="47" name="Text 45"/>
          <p:cNvSpPr/>
          <p:nvPr/>
        </p:nvSpPr>
        <p:spPr>
          <a:xfrm>
            <a:off x="5486400" y="2587752"/>
            <a:ext cx="3246120" cy="274320"/>
          </a:xfrm>
          <a:prstGeom prst="rect">
            <a:avLst/>
          </a:prstGeom>
          <a:noFill/>
          <a:ln/>
        </p:spPr>
        <p:txBody>
          <a:bodyPr wrap="square" lIns="0" tIns="0" rIns="0" bIns="0" rtlCol="0" anchor="b"/>
          <a:lstStyle/>
          <a:p>
            <a:pPr indent="0" marL="0">
              <a:buNone/>
            </a:pPr>
            <a:r>
              <a:rPr lang="en-US" sz="950" b="1" dirty="0">
                <a:solidFill>
                  <a:srgbClr val="0D1B2A"/>
                </a:solidFill>
              </a:rPr>
              <a:t>CorreoRecibidoClienteBuzonCobrosBO.cs</a:t>
            </a:r>
            <a:endParaRPr lang="en-US" sz="950" dirty="0"/>
          </a:p>
        </p:txBody>
      </p:sp>
      <p:sp>
        <p:nvSpPr>
          <p:cNvPr id="48" name="Text 46"/>
          <p:cNvSpPr/>
          <p:nvPr/>
        </p:nvSpPr>
        <p:spPr>
          <a:xfrm>
            <a:off x="5486400" y="2862072"/>
            <a:ext cx="3246120" cy="256032"/>
          </a:xfrm>
          <a:prstGeom prst="rect">
            <a:avLst/>
          </a:prstGeom>
          <a:noFill/>
          <a:ln/>
        </p:spPr>
        <p:txBody>
          <a:bodyPr wrap="square" lIns="0" tIns="0" rIns="0" bIns="0" rtlCol="0" anchor="t"/>
          <a:lstStyle/>
          <a:p>
            <a:pPr indent="0" marL="0">
              <a:buNone/>
            </a:pPr>
            <a:r>
              <a:rPr lang="en-US" sz="850" dirty="0">
                <a:solidFill>
                  <a:srgbClr val="475569"/>
                </a:solidFill>
              </a:rPr>
              <a:t>Listado paginado del Buzon filtrado por cobrador + region</a:t>
            </a:r>
            <a:endParaRPr lang="en-US" sz="850" dirty="0"/>
          </a:p>
        </p:txBody>
      </p:sp>
      <p:sp>
        <p:nvSpPr>
          <p:cNvPr id="49" name="Shape 47"/>
          <p:cNvSpPr/>
          <p:nvPr/>
        </p:nvSpPr>
        <p:spPr>
          <a:xfrm>
            <a:off x="4709160" y="3209544"/>
            <a:ext cx="4114800" cy="548640"/>
          </a:xfrm>
          <a:prstGeom prst="rect">
            <a:avLst/>
          </a:prstGeom>
          <a:solidFill>
            <a:srgbClr val="FFFFFF"/>
          </a:solidFill>
          <a:ln w="12700">
            <a:solidFill>
              <a:srgbClr val="1A3A5C"/>
            </a:solidFill>
            <a:prstDash val="solid"/>
          </a:ln>
          <a:effectLst>
            <a:outerShdw sx="100000" sy="100000" kx="0" ky="0" algn="bl" rotWithShape="0" blurRad="101600" dist="38100" dir="8100000">
              <a:srgbClr val="000000">
                <a:alpha val="18000"/>
              </a:srgbClr>
            </a:outerShdw>
          </a:effectLst>
        </p:spPr>
      </p:sp>
      <p:sp>
        <p:nvSpPr>
          <p:cNvPr id="50" name="Shape 48"/>
          <p:cNvSpPr/>
          <p:nvPr/>
        </p:nvSpPr>
        <p:spPr>
          <a:xfrm>
            <a:off x="4709160" y="3209544"/>
            <a:ext cx="713232" cy="548640"/>
          </a:xfrm>
          <a:prstGeom prst="rect">
            <a:avLst/>
          </a:prstGeom>
          <a:solidFill>
            <a:srgbClr val="1A3A5C"/>
          </a:solidFill>
          <a:ln w="12700">
            <a:solidFill>
              <a:srgbClr val="1A3A5C"/>
            </a:solidFill>
            <a:prstDash val="solid"/>
          </a:ln>
        </p:spPr>
      </p:sp>
      <p:sp>
        <p:nvSpPr>
          <p:cNvPr id="51" name="Text 49"/>
          <p:cNvSpPr/>
          <p:nvPr/>
        </p:nvSpPr>
        <p:spPr>
          <a:xfrm>
            <a:off x="4709160" y="3209544"/>
            <a:ext cx="713232" cy="548640"/>
          </a:xfrm>
          <a:prstGeom prst="rect">
            <a:avLst/>
          </a:prstGeom>
          <a:noFill/>
          <a:ln/>
        </p:spPr>
        <p:txBody>
          <a:bodyPr wrap="square" lIns="0" tIns="0" rIns="0" bIns="0" rtlCol="0" anchor="ctr"/>
          <a:lstStyle/>
          <a:p>
            <a:pPr algn="ctr" indent="0" marL="0">
              <a:buNone/>
            </a:pPr>
            <a:r>
              <a:rPr lang="en-US" sz="850" b="1" dirty="0">
                <a:solidFill>
                  <a:srgbClr val="FFFFFF"/>
                </a:solidFill>
              </a:rPr>
              <a:t>NUEVO</a:t>
            </a:r>
            <a:endParaRPr lang="en-US" sz="850" dirty="0"/>
          </a:p>
        </p:txBody>
      </p:sp>
      <p:sp>
        <p:nvSpPr>
          <p:cNvPr id="52" name="Text 50"/>
          <p:cNvSpPr/>
          <p:nvPr/>
        </p:nvSpPr>
        <p:spPr>
          <a:xfrm>
            <a:off x="5486400" y="3209544"/>
            <a:ext cx="3246120" cy="274320"/>
          </a:xfrm>
          <a:prstGeom prst="rect">
            <a:avLst/>
          </a:prstGeom>
          <a:noFill/>
          <a:ln/>
        </p:spPr>
        <p:txBody>
          <a:bodyPr wrap="square" lIns="0" tIns="0" rIns="0" bIns="0" rtlCol="0" anchor="b"/>
          <a:lstStyle/>
          <a:p>
            <a:pPr indent="0" marL="0">
              <a:buNone/>
            </a:pPr>
            <a:r>
              <a:rPr lang="en-US" sz="950" b="1" dirty="0">
                <a:solidFill>
                  <a:srgbClr val="0D1B2A"/>
                </a:solidFill>
              </a:rPr>
              <a:t>BuzonCobrosController.cs</a:t>
            </a:r>
            <a:endParaRPr lang="en-US" sz="950" dirty="0"/>
          </a:p>
        </p:txBody>
      </p:sp>
      <p:sp>
        <p:nvSpPr>
          <p:cNvPr id="53" name="Text 51"/>
          <p:cNvSpPr/>
          <p:nvPr/>
        </p:nvSpPr>
        <p:spPr>
          <a:xfrm>
            <a:off x="5486400" y="3483864"/>
            <a:ext cx="3246120" cy="256032"/>
          </a:xfrm>
          <a:prstGeom prst="rect">
            <a:avLst/>
          </a:prstGeom>
          <a:noFill/>
          <a:ln/>
        </p:spPr>
        <p:txBody>
          <a:bodyPr wrap="square" lIns="0" tIns="0" rIns="0" bIns="0" rtlCol="0" anchor="t"/>
          <a:lstStyle/>
          <a:p>
            <a:pPr indent="0" marL="0">
              <a:buNone/>
            </a:pPr>
            <a:r>
              <a:rPr lang="en-US" sz="850" dirty="0">
                <a:solidFill>
                  <a:srgbClr val="475569"/>
                </a:solidFill>
              </a:rPr>
              <a:t>POST /BuzonCobros — cobrador/region extraidos del token JWT</a:t>
            </a:r>
            <a:endParaRPr lang="en-US" sz="850" dirty="0"/>
          </a:p>
        </p:txBody>
      </p:sp>
      <p:sp>
        <p:nvSpPr>
          <p:cNvPr id="54" name="Shape 52"/>
          <p:cNvSpPr/>
          <p:nvPr/>
        </p:nvSpPr>
        <p:spPr>
          <a:xfrm>
            <a:off x="4709160" y="3831336"/>
            <a:ext cx="4114800" cy="548640"/>
          </a:xfrm>
          <a:prstGeom prst="rect">
            <a:avLst/>
          </a:prstGeom>
          <a:solidFill>
            <a:srgbClr val="FFFFFF"/>
          </a:solidFill>
          <a:ln w="12700">
            <a:solidFill>
              <a:srgbClr val="0D9488"/>
            </a:solidFill>
            <a:prstDash val="solid"/>
          </a:ln>
          <a:effectLst>
            <a:outerShdw sx="100000" sy="100000" kx="0" ky="0" algn="bl" rotWithShape="0" blurRad="101600" dist="38100" dir="8100000">
              <a:srgbClr val="000000">
                <a:alpha val="18000"/>
              </a:srgbClr>
            </a:outerShdw>
          </a:effectLst>
        </p:spPr>
      </p:sp>
      <p:sp>
        <p:nvSpPr>
          <p:cNvPr id="55" name="Shape 53"/>
          <p:cNvSpPr/>
          <p:nvPr/>
        </p:nvSpPr>
        <p:spPr>
          <a:xfrm>
            <a:off x="4709160" y="3831336"/>
            <a:ext cx="713232" cy="548640"/>
          </a:xfrm>
          <a:prstGeom prst="rect">
            <a:avLst/>
          </a:prstGeom>
          <a:solidFill>
            <a:srgbClr val="0D9488"/>
          </a:solidFill>
          <a:ln w="12700">
            <a:solidFill>
              <a:srgbClr val="0D9488"/>
            </a:solidFill>
            <a:prstDash val="solid"/>
          </a:ln>
        </p:spPr>
      </p:sp>
      <p:sp>
        <p:nvSpPr>
          <p:cNvPr id="56" name="Text 54"/>
          <p:cNvSpPr/>
          <p:nvPr/>
        </p:nvSpPr>
        <p:spPr>
          <a:xfrm>
            <a:off x="4709160" y="3831336"/>
            <a:ext cx="713232" cy="548640"/>
          </a:xfrm>
          <a:prstGeom prst="rect">
            <a:avLst/>
          </a:prstGeom>
          <a:noFill/>
          <a:ln/>
        </p:spPr>
        <p:txBody>
          <a:bodyPr wrap="square" lIns="0" tIns="0" rIns="0" bIns="0" rtlCol="0" anchor="ctr"/>
          <a:lstStyle/>
          <a:p>
            <a:pPr algn="ctr" indent="0" marL="0">
              <a:buNone/>
            </a:pPr>
            <a:r>
              <a:rPr lang="en-US" sz="850" b="1" dirty="0">
                <a:solidFill>
                  <a:srgbClr val="FFFFFF"/>
                </a:solidFill>
              </a:rPr>
              <a:t>NUEVO</a:t>
            </a:r>
            <a:endParaRPr lang="en-US" sz="850" dirty="0"/>
          </a:p>
        </p:txBody>
      </p:sp>
      <p:sp>
        <p:nvSpPr>
          <p:cNvPr id="57" name="Text 55"/>
          <p:cNvSpPr/>
          <p:nvPr/>
        </p:nvSpPr>
        <p:spPr>
          <a:xfrm>
            <a:off x="5486400" y="3831336"/>
            <a:ext cx="3246120" cy="274320"/>
          </a:xfrm>
          <a:prstGeom prst="rect">
            <a:avLst/>
          </a:prstGeom>
          <a:noFill/>
          <a:ln/>
        </p:spPr>
        <p:txBody>
          <a:bodyPr wrap="square" lIns="0" tIns="0" rIns="0" bIns="0" rtlCol="0" anchor="b"/>
          <a:lstStyle/>
          <a:p>
            <a:pPr indent="0" marL="0">
              <a:buNone/>
            </a:pPr>
            <a:r>
              <a:rPr lang="en-US" sz="950" b="1" dirty="0">
                <a:solidFill>
                  <a:srgbClr val="0D1B2A"/>
                </a:solidFill>
              </a:rPr>
              <a:t>FU-008_CatalogosCobros.sql</a:t>
            </a:r>
            <a:endParaRPr lang="en-US" sz="950" dirty="0"/>
          </a:p>
        </p:txBody>
      </p:sp>
      <p:sp>
        <p:nvSpPr>
          <p:cNvPr id="58" name="Text 56"/>
          <p:cNvSpPr/>
          <p:nvPr/>
        </p:nvSpPr>
        <p:spPr>
          <a:xfrm>
            <a:off x="5486400" y="4105656"/>
            <a:ext cx="3246120" cy="256032"/>
          </a:xfrm>
          <a:prstGeom prst="rect">
            <a:avLst/>
          </a:prstGeom>
          <a:noFill/>
          <a:ln/>
        </p:spPr>
        <p:txBody>
          <a:bodyPr wrap="square" lIns="0" tIns="0" rIns="0" bIns="0" rtlCol="0" anchor="t"/>
          <a:lstStyle/>
          <a:p>
            <a:pPr indent="0" marL="0">
              <a:buNone/>
            </a:pPr>
            <a:r>
              <a:rPr lang="en-US" sz="850" dirty="0">
                <a:solidFill>
                  <a:srgbClr val="475569"/>
                </a:solidFill>
              </a:rPr>
              <a:t>Script BD con Opcion A/B documentadas para catalogo Cobros</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D1B2A"/>
          </a:solidFill>
          <a:ln w="12700">
            <a:solidFill>
              <a:srgbClr val="0D1B2A"/>
            </a:solidFill>
            <a:prstDash val="solid"/>
          </a:ln>
        </p:spPr>
      </p:sp>
      <p:sp>
        <p:nvSpPr>
          <p:cNvPr id="3" name="Shape 1"/>
          <p:cNvSpPr/>
          <p:nvPr/>
        </p:nvSpPr>
        <p:spPr>
          <a:xfrm>
            <a:off x="0" y="0"/>
            <a:ext cx="320040" cy="777240"/>
          </a:xfrm>
          <a:prstGeom prst="rect">
            <a:avLst/>
          </a:prstGeom>
          <a:solidFill>
            <a:srgbClr val="0D9488"/>
          </a:solidFill>
          <a:ln w="12700">
            <a:solidFill>
              <a:srgbClr val="0D9488"/>
            </a:solidFill>
            <a:prstDash val="solid"/>
          </a:ln>
        </p:spPr>
      </p:sp>
      <p:sp>
        <p:nvSpPr>
          <p:cNvPr id="4" name="Text 2"/>
          <p:cNvSpPr/>
          <p:nvPr/>
        </p:nvSpPr>
        <p:spPr>
          <a:xfrm>
            <a:off x="502920" y="0"/>
            <a:ext cx="8503920" cy="777240"/>
          </a:xfrm>
          <a:prstGeom prst="rect">
            <a:avLst/>
          </a:prstGeom>
          <a:noFill/>
          <a:ln/>
        </p:spPr>
        <p:txBody>
          <a:bodyPr wrap="square" lIns="0" tIns="0" rIns="0" bIns="0" rtlCol="0" anchor="ctr"/>
          <a:lstStyle/>
          <a:p>
            <a:pPr indent="0" marL="0">
              <a:buNone/>
            </a:pPr>
            <a:r>
              <a:rPr lang="en-US" sz="2100" b="1" dirty="0">
                <a:solidFill>
                  <a:srgbClr val="FFFFFF"/>
                </a:solidFill>
              </a:rPr>
              <a:t>Flujo del Buzon de Cobros: Ciclo de Vida Completo</a:t>
            </a:r>
            <a:endParaRPr lang="en-US" sz="2100" dirty="0"/>
          </a:p>
        </p:txBody>
      </p:sp>
      <p:sp>
        <p:nvSpPr>
          <p:cNvPr id="5" name="Shape 3"/>
          <p:cNvSpPr/>
          <p:nvPr/>
        </p:nvSpPr>
        <p:spPr>
          <a:xfrm>
            <a:off x="822960" y="658368"/>
            <a:ext cx="566928" cy="475488"/>
          </a:xfrm>
          <a:prstGeom prst="rect">
            <a:avLst/>
          </a:prstGeom>
          <a:solidFill>
            <a:srgbClr val="475569"/>
          </a:solidFill>
          <a:ln w="12700">
            <a:solidFill>
              <a:srgbClr val="475569"/>
            </a:solidFill>
            <a:prstDash val="solid"/>
          </a:ln>
        </p:spPr>
      </p:sp>
      <p:sp>
        <p:nvSpPr>
          <p:cNvPr id="6" name="Text 4"/>
          <p:cNvSpPr/>
          <p:nvPr/>
        </p:nvSpPr>
        <p:spPr>
          <a:xfrm>
            <a:off x="822960" y="658368"/>
            <a:ext cx="566928" cy="475488"/>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7" name="Shape 5"/>
          <p:cNvSpPr/>
          <p:nvPr/>
        </p:nvSpPr>
        <p:spPr>
          <a:xfrm>
            <a:off x="365760" y="1005840"/>
            <a:ext cx="1481328" cy="868680"/>
          </a:xfrm>
          <a:prstGeom prst="rect">
            <a:avLst/>
          </a:prstGeom>
          <a:solidFill>
            <a:srgbClr val="475569"/>
          </a:solidFill>
          <a:ln w="12700">
            <a:solidFill>
              <a:srgbClr val="475569"/>
            </a:solidFill>
            <a:prstDash val="solid"/>
          </a:ln>
          <a:effectLst>
            <a:outerShdw sx="100000" sy="100000" kx="0" ky="0" algn="bl" rotWithShape="0" blurRad="101600" dist="38100" dir="8100000">
              <a:srgbClr val="000000">
                <a:alpha val="18000"/>
              </a:srgbClr>
            </a:outerShdw>
          </a:effectLst>
        </p:spPr>
      </p:sp>
      <p:sp>
        <p:nvSpPr>
          <p:cNvPr id="8" name="Text 6"/>
          <p:cNvSpPr/>
          <p:nvPr/>
        </p:nvSpPr>
        <p:spPr>
          <a:xfrm>
            <a:off x="365760" y="1005840"/>
            <a:ext cx="1481328" cy="594360"/>
          </a:xfrm>
          <a:prstGeom prst="rect">
            <a:avLst/>
          </a:prstGeom>
          <a:noFill/>
          <a:ln/>
        </p:spPr>
        <p:txBody>
          <a:bodyPr wrap="square" lIns="0" tIns="0" rIns="0" bIns="0" rtlCol="0" anchor="b"/>
          <a:lstStyle/>
          <a:p>
            <a:pPr algn="ctr" indent="0" marL="0">
              <a:buNone/>
            </a:pPr>
            <a:r>
              <a:rPr lang="en-US" sz="1000" b="1" dirty="0">
                <a:solidFill>
                  <a:srgbClr val="FFFFFF"/>
                </a:solidFill>
              </a:rPr>
              <a:t>Correo</a:t>
            </a:r>
            <a:endParaRPr lang="en-US" sz="1000" dirty="0"/>
          </a:p>
          <a:p>
            <a:pPr algn="ctr" indent="0" marL="0">
              <a:buNone/>
            </a:pPr>
            <a:r>
              <a:rPr lang="en-US" sz="1000" b="1" dirty="0">
                <a:solidFill>
                  <a:srgbClr val="FFFFFF"/>
                </a:solidFill>
              </a:rPr>
              <a:t>entrante</a:t>
            </a:r>
            <a:endParaRPr lang="en-US" sz="1000" dirty="0"/>
          </a:p>
        </p:txBody>
      </p:sp>
      <p:sp>
        <p:nvSpPr>
          <p:cNvPr id="9" name="Text 7"/>
          <p:cNvSpPr/>
          <p:nvPr/>
        </p:nvSpPr>
        <p:spPr>
          <a:xfrm>
            <a:off x="365760" y="1600200"/>
            <a:ext cx="1481328" cy="274320"/>
          </a:xfrm>
          <a:prstGeom prst="rect">
            <a:avLst/>
          </a:prstGeom>
          <a:noFill/>
          <a:ln/>
        </p:spPr>
        <p:txBody>
          <a:bodyPr wrap="square" lIns="0" tIns="0" rIns="0" bIns="0" rtlCol="0" anchor="ctr"/>
          <a:lstStyle/>
          <a:p>
            <a:pPr algn="ctr" indent="0" marL="0">
              <a:buNone/>
            </a:pPr>
            <a:r>
              <a:rPr lang="en-US" sz="800" dirty="0">
                <a:solidFill>
                  <a:srgbClr val="DDDDDD"/>
                </a:solidFill>
              </a:rPr>
              <a:t>Gmail INBOX</a:t>
            </a:r>
            <a:endParaRPr lang="en-US" sz="800" dirty="0"/>
          </a:p>
        </p:txBody>
      </p:sp>
      <p:sp>
        <p:nvSpPr>
          <p:cNvPr id="10" name="Shape 8"/>
          <p:cNvSpPr/>
          <p:nvPr/>
        </p:nvSpPr>
        <p:spPr>
          <a:xfrm>
            <a:off x="1847088" y="1389888"/>
            <a:ext cx="256032" cy="64008"/>
          </a:xfrm>
          <a:prstGeom prst="rect">
            <a:avLst/>
          </a:prstGeom>
          <a:solidFill>
            <a:srgbClr val="475569"/>
          </a:solidFill>
          <a:ln w="12700">
            <a:solidFill>
              <a:srgbClr val="475569"/>
            </a:solidFill>
            <a:prstDash val="solid"/>
          </a:ln>
        </p:spPr>
      </p:sp>
      <p:sp>
        <p:nvSpPr>
          <p:cNvPr id="11" name="Shape 9"/>
          <p:cNvSpPr/>
          <p:nvPr/>
        </p:nvSpPr>
        <p:spPr>
          <a:xfrm>
            <a:off x="2560320" y="658368"/>
            <a:ext cx="566928" cy="475488"/>
          </a:xfrm>
          <a:prstGeom prst="rect">
            <a:avLst/>
          </a:prstGeom>
          <a:solidFill>
            <a:srgbClr val="0D9488"/>
          </a:solidFill>
          <a:ln w="12700">
            <a:solidFill>
              <a:srgbClr val="0D9488"/>
            </a:solidFill>
            <a:prstDash val="solid"/>
          </a:ln>
        </p:spPr>
      </p:sp>
      <p:sp>
        <p:nvSpPr>
          <p:cNvPr id="12" name="Text 10"/>
          <p:cNvSpPr/>
          <p:nvPr/>
        </p:nvSpPr>
        <p:spPr>
          <a:xfrm>
            <a:off x="2560320" y="658368"/>
            <a:ext cx="566928" cy="475488"/>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13" name="Shape 11"/>
          <p:cNvSpPr/>
          <p:nvPr/>
        </p:nvSpPr>
        <p:spPr>
          <a:xfrm>
            <a:off x="2103120" y="1005840"/>
            <a:ext cx="1481328" cy="868680"/>
          </a:xfrm>
          <a:prstGeom prst="rect">
            <a:avLst/>
          </a:prstGeom>
          <a:solidFill>
            <a:srgbClr val="0D9488"/>
          </a:solidFill>
          <a:ln w="12700">
            <a:solidFill>
              <a:srgbClr val="0D9488"/>
            </a:solidFill>
            <a:prstDash val="solid"/>
          </a:ln>
          <a:effectLst>
            <a:outerShdw sx="100000" sy="100000" kx="0" ky="0" algn="bl" rotWithShape="0" blurRad="101600" dist="38100" dir="8100000">
              <a:srgbClr val="000000">
                <a:alpha val="18000"/>
              </a:srgbClr>
            </a:outerShdw>
          </a:effectLst>
        </p:spPr>
      </p:sp>
      <p:sp>
        <p:nvSpPr>
          <p:cNvPr id="14" name="Text 12"/>
          <p:cNvSpPr/>
          <p:nvPr/>
        </p:nvSpPr>
        <p:spPr>
          <a:xfrm>
            <a:off x="2103120" y="1005840"/>
            <a:ext cx="1481328" cy="594360"/>
          </a:xfrm>
          <a:prstGeom prst="rect">
            <a:avLst/>
          </a:prstGeom>
          <a:noFill/>
          <a:ln/>
        </p:spPr>
        <p:txBody>
          <a:bodyPr wrap="square" lIns="0" tIns="0" rIns="0" bIns="0" rtlCol="0" anchor="b"/>
          <a:lstStyle/>
          <a:p>
            <a:pPr algn="ctr" indent="0" marL="0">
              <a:buNone/>
            </a:pPr>
            <a:r>
              <a:rPr lang="en-US" sz="1000" b="1" dirty="0">
                <a:solidFill>
                  <a:srgbClr val="FFFFFF"/>
                </a:solidFill>
              </a:rPr>
              <a:t>Agente IA</a:t>
            </a:r>
            <a:endParaRPr lang="en-US" sz="1000" dirty="0"/>
          </a:p>
          <a:p>
            <a:pPr algn="ctr" indent="0" marL="0">
              <a:buNone/>
            </a:pPr>
            <a:r>
              <a:rPr lang="en-US" sz="1000" b="1" dirty="0">
                <a:solidFill>
                  <a:srgbClr val="FFFFFF"/>
                </a:solidFill>
              </a:rPr>
              <a:t>clasifica</a:t>
            </a:r>
            <a:endParaRPr lang="en-US" sz="1000" dirty="0"/>
          </a:p>
        </p:txBody>
      </p:sp>
      <p:sp>
        <p:nvSpPr>
          <p:cNvPr id="15" name="Text 13"/>
          <p:cNvSpPr/>
          <p:nvPr/>
        </p:nvSpPr>
        <p:spPr>
          <a:xfrm>
            <a:off x="2103120" y="1600200"/>
            <a:ext cx="1481328" cy="274320"/>
          </a:xfrm>
          <a:prstGeom prst="rect">
            <a:avLst/>
          </a:prstGeom>
          <a:noFill/>
          <a:ln/>
        </p:spPr>
        <p:txBody>
          <a:bodyPr wrap="square" lIns="0" tIns="0" rIns="0" bIns="0" rtlCol="0" anchor="ctr"/>
          <a:lstStyle/>
          <a:p>
            <a:pPr algn="ctr" indent="0" marL="0">
              <a:buNone/>
            </a:pPr>
            <a:r>
              <a:rPr lang="en-US" sz="800" dirty="0">
                <a:solidFill>
                  <a:srgbClr val="DDDDDD"/>
                </a:solidFill>
              </a:rPr>
              <a:t>-&gt; Cobro</a:t>
            </a:r>
            <a:endParaRPr lang="en-US" sz="800" dirty="0"/>
          </a:p>
        </p:txBody>
      </p:sp>
      <p:sp>
        <p:nvSpPr>
          <p:cNvPr id="16" name="Shape 14"/>
          <p:cNvSpPr/>
          <p:nvPr/>
        </p:nvSpPr>
        <p:spPr>
          <a:xfrm>
            <a:off x="3584448" y="1389888"/>
            <a:ext cx="256032" cy="64008"/>
          </a:xfrm>
          <a:prstGeom prst="rect">
            <a:avLst/>
          </a:prstGeom>
          <a:solidFill>
            <a:srgbClr val="475569"/>
          </a:solidFill>
          <a:ln w="12700">
            <a:solidFill>
              <a:srgbClr val="475569"/>
            </a:solidFill>
            <a:prstDash val="solid"/>
          </a:ln>
        </p:spPr>
      </p:sp>
      <p:sp>
        <p:nvSpPr>
          <p:cNvPr id="17" name="Shape 15"/>
          <p:cNvSpPr/>
          <p:nvPr/>
        </p:nvSpPr>
        <p:spPr>
          <a:xfrm>
            <a:off x="4297680" y="658368"/>
            <a:ext cx="566928" cy="475488"/>
          </a:xfrm>
          <a:prstGeom prst="rect">
            <a:avLst/>
          </a:prstGeom>
          <a:solidFill>
            <a:srgbClr val="1A3A5C"/>
          </a:solidFill>
          <a:ln w="12700">
            <a:solidFill>
              <a:srgbClr val="1A3A5C"/>
            </a:solidFill>
            <a:prstDash val="solid"/>
          </a:ln>
        </p:spPr>
      </p:sp>
      <p:sp>
        <p:nvSpPr>
          <p:cNvPr id="18" name="Text 16"/>
          <p:cNvSpPr/>
          <p:nvPr/>
        </p:nvSpPr>
        <p:spPr>
          <a:xfrm>
            <a:off x="4297680" y="658368"/>
            <a:ext cx="566928" cy="475488"/>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19" name="Shape 17"/>
          <p:cNvSpPr/>
          <p:nvPr/>
        </p:nvSpPr>
        <p:spPr>
          <a:xfrm>
            <a:off x="3840480" y="1005840"/>
            <a:ext cx="1481328" cy="868680"/>
          </a:xfrm>
          <a:prstGeom prst="rect">
            <a:avLst/>
          </a:prstGeom>
          <a:solidFill>
            <a:srgbClr val="1A3A5C"/>
          </a:solidFill>
          <a:ln w="12700">
            <a:solidFill>
              <a:srgbClr val="1A3A5C"/>
            </a:solidFill>
            <a:prstDash val="solid"/>
          </a:ln>
          <a:effectLst>
            <a:outerShdw sx="100000" sy="100000" kx="0" ky="0" algn="bl" rotWithShape="0" blurRad="101600" dist="38100" dir="8100000">
              <a:srgbClr val="000000">
                <a:alpha val="18000"/>
              </a:srgbClr>
            </a:outerShdw>
          </a:effectLst>
        </p:spPr>
      </p:sp>
      <p:sp>
        <p:nvSpPr>
          <p:cNvPr id="20" name="Text 18"/>
          <p:cNvSpPr/>
          <p:nvPr/>
        </p:nvSpPr>
        <p:spPr>
          <a:xfrm>
            <a:off x="3840480" y="1005840"/>
            <a:ext cx="1481328" cy="594360"/>
          </a:xfrm>
          <a:prstGeom prst="rect">
            <a:avLst/>
          </a:prstGeom>
          <a:noFill/>
          <a:ln/>
        </p:spPr>
        <p:txBody>
          <a:bodyPr wrap="square" lIns="0" tIns="0" rIns="0" bIns="0" rtlCol="0" anchor="b"/>
          <a:lstStyle/>
          <a:p>
            <a:pPr algn="ctr" indent="0" marL="0">
              <a:buNone/>
            </a:pPr>
            <a:r>
              <a:rPr lang="en-US" sz="1000" b="1" dirty="0">
                <a:solidFill>
                  <a:srgbClr val="FFFFFF"/>
                </a:solidFill>
              </a:rPr>
              <a:t>Buzon de</a:t>
            </a:r>
            <a:endParaRPr lang="en-US" sz="1000" dirty="0"/>
          </a:p>
          <a:p>
            <a:pPr algn="ctr" indent="0" marL="0">
              <a:buNone/>
            </a:pPr>
            <a:r>
              <a:rPr lang="en-US" sz="1000" b="1" dirty="0">
                <a:solidFill>
                  <a:srgbClr val="FFFFFF"/>
                </a:solidFill>
              </a:rPr>
              <a:t>Cobros</a:t>
            </a:r>
            <a:endParaRPr lang="en-US" sz="1000" dirty="0"/>
          </a:p>
        </p:txBody>
      </p:sp>
      <p:sp>
        <p:nvSpPr>
          <p:cNvPr id="21" name="Text 19"/>
          <p:cNvSpPr/>
          <p:nvPr/>
        </p:nvSpPr>
        <p:spPr>
          <a:xfrm>
            <a:off x="3840480" y="1600200"/>
            <a:ext cx="1481328" cy="274320"/>
          </a:xfrm>
          <a:prstGeom prst="rect">
            <a:avLst/>
          </a:prstGeom>
          <a:noFill/>
          <a:ln/>
        </p:spPr>
        <p:txBody>
          <a:bodyPr wrap="square" lIns="0" tIns="0" rIns="0" bIns="0" rtlCol="0" anchor="ctr"/>
          <a:lstStyle/>
          <a:p>
            <a:pPr algn="ctr" indent="0" marL="0">
              <a:buNone/>
            </a:pPr>
            <a:r>
              <a:rPr lang="en-US" sz="800" dirty="0">
                <a:solidFill>
                  <a:srgbClr val="DDDDDD"/>
                </a:solidFill>
              </a:rPr>
              <a:t>Pendiente creado</a:t>
            </a:r>
            <a:endParaRPr lang="en-US" sz="800" dirty="0"/>
          </a:p>
        </p:txBody>
      </p:sp>
      <p:sp>
        <p:nvSpPr>
          <p:cNvPr id="22" name="Shape 20"/>
          <p:cNvSpPr/>
          <p:nvPr/>
        </p:nvSpPr>
        <p:spPr>
          <a:xfrm>
            <a:off x="5321808" y="1389888"/>
            <a:ext cx="256032" cy="64008"/>
          </a:xfrm>
          <a:prstGeom prst="rect">
            <a:avLst/>
          </a:prstGeom>
          <a:solidFill>
            <a:srgbClr val="475569"/>
          </a:solidFill>
          <a:ln w="12700">
            <a:solidFill>
              <a:srgbClr val="475569"/>
            </a:solidFill>
            <a:prstDash val="solid"/>
          </a:ln>
        </p:spPr>
      </p:sp>
      <p:sp>
        <p:nvSpPr>
          <p:cNvPr id="23" name="Shape 21"/>
          <p:cNvSpPr/>
          <p:nvPr/>
        </p:nvSpPr>
        <p:spPr>
          <a:xfrm>
            <a:off x="6035040" y="658368"/>
            <a:ext cx="566928" cy="475488"/>
          </a:xfrm>
          <a:prstGeom prst="rect">
            <a:avLst/>
          </a:prstGeom>
          <a:solidFill>
            <a:srgbClr val="1A3A5C"/>
          </a:solidFill>
          <a:ln w="12700">
            <a:solidFill>
              <a:srgbClr val="1A3A5C"/>
            </a:solidFill>
            <a:prstDash val="solid"/>
          </a:ln>
        </p:spPr>
      </p:sp>
      <p:sp>
        <p:nvSpPr>
          <p:cNvPr id="24" name="Text 22"/>
          <p:cNvSpPr/>
          <p:nvPr/>
        </p:nvSpPr>
        <p:spPr>
          <a:xfrm>
            <a:off x="6035040" y="658368"/>
            <a:ext cx="566928" cy="475488"/>
          </a:xfrm>
          <a:prstGeom prst="rect">
            <a:avLst/>
          </a:prstGeom>
          <a:noFill/>
          <a:ln/>
        </p:spPr>
        <p:txBody>
          <a:bodyPr wrap="square" lIns="0" tIns="0" rIns="0" bIns="0" rtlCol="0" anchor="ctr"/>
          <a:lstStyle/>
          <a:p>
            <a:pPr algn="ctr" indent="0" marL="0">
              <a:buNone/>
            </a:pPr>
            <a:r>
              <a:rPr lang="en-US" sz="1400" b="1" dirty="0">
                <a:solidFill>
                  <a:srgbClr val="FFFFFF"/>
                </a:solidFill>
              </a:rPr>
              <a:t>4</a:t>
            </a:r>
            <a:endParaRPr lang="en-US" sz="1400" dirty="0"/>
          </a:p>
        </p:txBody>
      </p:sp>
      <p:sp>
        <p:nvSpPr>
          <p:cNvPr id="25" name="Shape 23"/>
          <p:cNvSpPr/>
          <p:nvPr/>
        </p:nvSpPr>
        <p:spPr>
          <a:xfrm>
            <a:off x="5577840" y="1005840"/>
            <a:ext cx="1481328" cy="868680"/>
          </a:xfrm>
          <a:prstGeom prst="rect">
            <a:avLst/>
          </a:prstGeom>
          <a:solidFill>
            <a:srgbClr val="1A3A5C"/>
          </a:solidFill>
          <a:ln w="12700">
            <a:solidFill>
              <a:srgbClr val="1A3A5C"/>
            </a:solidFill>
            <a:prstDash val="solid"/>
          </a:ln>
          <a:effectLst>
            <a:outerShdw sx="100000" sy="100000" kx="0" ky="0" algn="bl" rotWithShape="0" blurRad="101600" dist="38100" dir="8100000">
              <a:srgbClr val="000000">
                <a:alpha val="18000"/>
              </a:srgbClr>
            </a:outerShdw>
          </a:effectLst>
        </p:spPr>
      </p:sp>
      <p:sp>
        <p:nvSpPr>
          <p:cNvPr id="26" name="Text 24"/>
          <p:cNvSpPr/>
          <p:nvPr/>
        </p:nvSpPr>
        <p:spPr>
          <a:xfrm>
            <a:off x="5577840" y="1005840"/>
            <a:ext cx="1481328" cy="594360"/>
          </a:xfrm>
          <a:prstGeom prst="rect">
            <a:avLst/>
          </a:prstGeom>
          <a:noFill/>
          <a:ln/>
        </p:spPr>
        <p:txBody>
          <a:bodyPr wrap="square" lIns="0" tIns="0" rIns="0" bIns="0" rtlCol="0" anchor="b"/>
          <a:lstStyle/>
          <a:p>
            <a:pPr algn="ctr" indent="0" marL="0">
              <a:buNone/>
            </a:pPr>
            <a:r>
              <a:rPr lang="en-US" sz="1000" b="1" dirty="0">
                <a:solidFill>
                  <a:srgbClr val="FFFFFF"/>
                </a:solidFill>
              </a:rPr>
              <a:t>Gestor</a:t>
            </a:r>
            <a:endParaRPr lang="en-US" sz="1000" dirty="0"/>
          </a:p>
          <a:p>
            <a:pPr algn="ctr" indent="0" marL="0">
              <a:buNone/>
            </a:pPr>
            <a:r>
              <a:rPr lang="en-US" sz="1000" b="1" dirty="0">
                <a:solidFill>
                  <a:srgbClr val="FFFFFF"/>
                </a:solidFill>
              </a:rPr>
              <a:t>valida cobro</a:t>
            </a:r>
            <a:endParaRPr lang="en-US" sz="1000" dirty="0"/>
          </a:p>
        </p:txBody>
      </p:sp>
      <p:sp>
        <p:nvSpPr>
          <p:cNvPr id="27" name="Text 25"/>
          <p:cNvSpPr/>
          <p:nvPr/>
        </p:nvSpPr>
        <p:spPr>
          <a:xfrm>
            <a:off x="5577840" y="1600200"/>
            <a:ext cx="1481328" cy="274320"/>
          </a:xfrm>
          <a:prstGeom prst="rect">
            <a:avLst/>
          </a:prstGeom>
          <a:noFill/>
          <a:ln/>
        </p:spPr>
        <p:txBody>
          <a:bodyPr wrap="square" lIns="0" tIns="0" rIns="0" bIns="0" rtlCol="0" anchor="ctr"/>
          <a:lstStyle/>
          <a:p>
            <a:pPr algn="ctr" indent="0" marL="0">
              <a:buNone/>
            </a:pPr>
            <a:r>
              <a:rPr lang="en-US" sz="800" dirty="0">
                <a:solidFill>
                  <a:srgbClr val="DDDDDD"/>
                </a:solidFill>
              </a:rPr>
              <a:t>Validar Cobro</a:t>
            </a:r>
            <a:endParaRPr lang="en-US" sz="800" dirty="0"/>
          </a:p>
        </p:txBody>
      </p:sp>
      <p:sp>
        <p:nvSpPr>
          <p:cNvPr id="28" name="Shape 26"/>
          <p:cNvSpPr/>
          <p:nvPr/>
        </p:nvSpPr>
        <p:spPr>
          <a:xfrm>
            <a:off x="7059168" y="1389888"/>
            <a:ext cx="256032" cy="64008"/>
          </a:xfrm>
          <a:prstGeom prst="rect">
            <a:avLst/>
          </a:prstGeom>
          <a:solidFill>
            <a:srgbClr val="475569"/>
          </a:solidFill>
          <a:ln w="12700">
            <a:solidFill>
              <a:srgbClr val="475569"/>
            </a:solidFill>
            <a:prstDash val="solid"/>
          </a:ln>
        </p:spPr>
      </p:sp>
      <p:sp>
        <p:nvSpPr>
          <p:cNvPr id="29" name="Shape 27"/>
          <p:cNvSpPr/>
          <p:nvPr/>
        </p:nvSpPr>
        <p:spPr>
          <a:xfrm>
            <a:off x="7772400" y="658368"/>
            <a:ext cx="566928" cy="475488"/>
          </a:xfrm>
          <a:prstGeom prst="rect">
            <a:avLst/>
          </a:prstGeom>
          <a:solidFill>
            <a:srgbClr val="16A34A"/>
          </a:solidFill>
          <a:ln w="12700">
            <a:solidFill>
              <a:srgbClr val="16A34A"/>
            </a:solidFill>
            <a:prstDash val="solid"/>
          </a:ln>
        </p:spPr>
      </p:sp>
      <p:sp>
        <p:nvSpPr>
          <p:cNvPr id="30" name="Text 28"/>
          <p:cNvSpPr/>
          <p:nvPr/>
        </p:nvSpPr>
        <p:spPr>
          <a:xfrm>
            <a:off x="7772400" y="658368"/>
            <a:ext cx="566928" cy="475488"/>
          </a:xfrm>
          <a:prstGeom prst="rect">
            <a:avLst/>
          </a:prstGeom>
          <a:noFill/>
          <a:ln/>
        </p:spPr>
        <p:txBody>
          <a:bodyPr wrap="square" lIns="0" tIns="0" rIns="0" bIns="0" rtlCol="0" anchor="ctr"/>
          <a:lstStyle/>
          <a:p>
            <a:pPr algn="ctr" indent="0" marL="0">
              <a:buNone/>
            </a:pPr>
            <a:r>
              <a:rPr lang="en-US" sz="1400" b="1" dirty="0">
                <a:solidFill>
                  <a:srgbClr val="FFFFFF"/>
                </a:solidFill>
              </a:rPr>
              <a:t>5</a:t>
            </a:r>
            <a:endParaRPr lang="en-US" sz="1400" dirty="0"/>
          </a:p>
        </p:txBody>
      </p:sp>
      <p:sp>
        <p:nvSpPr>
          <p:cNvPr id="31" name="Shape 29"/>
          <p:cNvSpPr/>
          <p:nvPr/>
        </p:nvSpPr>
        <p:spPr>
          <a:xfrm>
            <a:off x="7315200" y="1005840"/>
            <a:ext cx="1481328" cy="868680"/>
          </a:xfrm>
          <a:prstGeom prst="rect">
            <a:avLst/>
          </a:prstGeom>
          <a:solidFill>
            <a:srgbClr val="16A34A"/>
          </a:solidFill>
          <a:ln w="12700">
            <a:solidFill>
              <a:srgbClr val="16A34A"/>
            </a:solidFill>
            <a:prstDash val="solid"/>
          </a:ln>
          <a:effectLst>
            <a:outerShdw sx="100000" sy="100000" kx="0" ky="0" algn="bl" rotWithShape="0" blurRad="101600" dist="38100" dir="8100000">
              <a:srgbClr val="000000">
                <a:alpha val="18000"/>
              </a:srgbClr>
            </a:outerShdw>
          </a:effectLst>
        </p:spPr>
      </p:sp>
      <p:sp>
        <p:nvSpPr>
          <p:cNvPr id="32" name="Text 30"/>
          <p:cNvSpPr/>
          <p:nvPr/>
        </p:nvSpPr>
        <p:spPr>
          <a:xfrm>
            <a:off x="7315200" y="1005840"/>
            <a:ext cx="1481328" cy="594360"/>
          </a:xfrm>
          <a:prstGeom prst="rect">
            <a:avLst/>
          </a:prstGeom>
          <a:noFill/>
          <a:ln/>
        </p:spPr>
        <p:txBody>
          <a:bodyPr wrap="square" lIns="0" tIns="0" rIns="0" bIns="0" rtlCol="0" anchor="b"/>
          <a:lstStyle/>
          <a:p>
            <a:pPr algn="ctr" indent="0" marL="0">
              <a:buNone/>
            </a:pPr>
            <a:r>
              <a:rPr lang="en-US" sz="1000" b="1" dirty="0">
                <a:solidFill>
                  <a:srgbClr val="FFFFFF"/>
                </a:solidFill>
              </a:rPr>
              <a:t>Cierre</a:t>
            </a:r>
            <a:endParaRPr lang="en-US" sz="1000" dirty="0"/>
          </a:p>
          <a:p>
            <a:pPr algn="ctr" indent="0" marL="0">
              <a:buNone/>
            </a:pPr>
            <a:r>
              <a:rPr lang="en-US" sz="1000" b="1" dirty="0">
                <a:solidFill>
                  <a:srgbClr val="FFFFFF"/>
                </a:solidFill>
              </a:rPr>
              <a:t>automatico</a:t>
            </a:r>
            <a:endParaRPr lang="en-US" sz="1000" dirty="0"/>
          </a:p>
        </p:txBody>
      </p:sp>
      <p:sp>
        <p:nvSpPr>
          <p:cNvPr id="33" name="Text 31"/>
          <p:cNvSpPr/>
          <p:nvPr/>
        </p:nvSpPr>
        <p:spPr>
          <a:xfrm>
            <a:off x="7315200" y="1600200"/>
            <a:ext cx="1481328" cy="274320"/>
          </a:xfrm>
          <a:prstGeom prst="rect">
            <a:avLst/>
          </a:prstGeom>
          <a:noFill/>
          <a:ln/>
        </p:spPr>
        <p:txBody>
          <a:bodyPr wrap="square" lIns="0" tIns="0" rIns="0" bIns="0" rtlCol="0" anchor="ctr"/>
          <a:lstStyle/>
          <a:p>
            <a:pPr algn="ctr" indent="0" marL="0">
              <a:buNone/>
            </a:pPr>
            <a:r>
              <a:rPr lang="en-US" sz="800" dirty="0">
                <a:solidFill>
                  <a:srgbClr val="DDDDDD"/>
                </a:solidFill>
              </a:rPr>
              <a:t>Proforma/Factura</a:t>
            </a:r>
            <a:endParaRPr lang="en-US" sz="800" dirty="0"/>
          </a:p>
        </p:txBody>
      </p:sp>
      <p:sp>
        <p:nvSpPr>
          <p:cNvPr id="34" name="Shape 32"/>
          <p:cNvSpPr/>
          <p:nvPr/>
        </p:nvSpPr>
        <p:spPr>
          <a:xfrm>
            <a:off x="1664208" y="2240280"/>
            <a:ext cx="1481328" cy="777240"/>
          </a:xfrm>
          <a:prstGeom prst="rect">
            <a:avLst/>
          </a:prstGeom>
          <a:solidFill>
            <a:srgbClr val="D97706"/>
          </a:solidFill>
          <a:ln w="12700">
            <a:solidFill>
              <a:srgbClr val="D97706"/>
            </a:solidFill>
            <a:prstDash val="solid"/>
          </a:ln>
          <a:effectLst>
            <a:outerShdw sx="100000" sy="100000" kx="0" ky="0" algn="bl" rotWithShape="0" blurRad="101600" dist="38100" dir="8100000">
              <a:srgbClr val="000000">
                <a:alpha val="18000"/>
              </a:srgbClr>
            </a:outerShdw>
          </a:effectLst>
        </p:spPr>
      </p:sp>
      <p:sp>
        <p:nvSpPr>
          <p:cNvPr id="35" name="Text 33"/>
          <p:cNvSpPr/>
          <p:nvPr/>
        </p:nvSpPr>
        <p:spPr>
          <a:xfrm>
            <a:off x="1664208" y="2240280"/>
            <a:ext cx="1481328" cy="502920"/>
          </a:xfrm>
          <a:prstGeom prst="rect">
            <a:avLst/>
          </a:prstGeom>
          <a:noFill/>
          <a:ln/>
        </p:spPr>
        <p:txBody>
          <a:bodyPr wrap="square" lIns="0" tIns="0" rIns="0" bIns="0" rtlCol="0" anchor="b"/>
          <a:lstStyle/>
          <a:p>
            <a:pPr algn="ctr" indent="0" marL="0">
              <a:buNone/>
            </a:pPr>
            <a:r>
              <a:rPr lang="en-US" sz="1000" b="1" dirty="0">
                <a:solidFill>
                  <a:srgbClr val="FFFFFF"/>
                </a:solidFill>
              </a:rPr>
              <a:t>Coordinador</a:t>
            </a:r>
            <a:endParaRPr lang="en-US" sz="1000" dirty="0"/>
          </a:p>
          <a:p>
            <a:pPr algn="ctr" indent="0" marL="0">
              <a:buNone/>
            </a:pPr>
            <a:r>
              <a:rPr lang="en-US" sz="1000" b="1" dirty="0">
                <a:solidFill>
                  <a:srgbClr val="FFFFFF"/>
                </a:solidFill>
              </a:rPr>
              <a:t>de Tesoreria</a:t>
            </a:r>
            <a:endParaRPr lang="en-US" sz="1000" dirty="0"/>
          </a:p>
        </p:txBody>
      </p:sp>
      <p:sp>
        <p:nvSpPr>
          <p:cNvPr id="36" name="Text 34"/>
          <p:cNvSpPr/>
          <p:nvPr/>
        </p:nvSpPr>
        <p:spPr>
          <a:xfrm>
            <a:off x="1664208" y="2743200"/>
            <a:ext cx="1481328" cy="274320"/>
          </a:xfrm>
          <a:prstGeom prst="rect">
            <a:avLst/>
          </a:prstGeom>
          <a:noFill/>
          <a:ln/>
        </p:spPr>
        <p:txBody>
          <a:bodyPr wrap="square" lIns="0" tIns="0" rIns="0" bIns="0" rtlCol="0" anchor="ctr"/>
          <a:lstStyle/>
          <a:p>
            <a:pPr algn="ctr" indent="0" marL="0">
              <a:buNone/>
            </a:pPr>
            <a:r>
              <a:rPr lang="en-US" sz="750" dirty="0">
                <a:solidFill>
                  <a:srgbClr val="FFFFFF"/>
                </a:solidFill>
              </a:rPr>
              <a:t>Sin cobrador asignado</a:t>
            </a:r>
            <a:endParaRPr lang="en-US" sz="750" dirty="0"/>
          </a:p>
        </p:txBody>
      </p:sp>
      <p:sp>
        <p:nvSpPr>
          <p:cNvPr id="37" name="Shape 35"/>
          <p:cNvSpPr/>
          <p:nvPr/>
        </p:nvSpPr>
        <p:spPr>
          <a:xfrm>
            <a:off x="2377440" y="1874520"/>
            <a:ext cx="54864" cy="365760"/>
          </a:xfrm>
          <a:prstGeom prst="rect">
            <a:avLst/>
          </a:prstGeom>
          <a:solidFill>
            <a:srgbClr val="D97706"/>
          </a:solidFill>
          <a:ln w="12700">
            <a:solidFill>
              <a:srgbClr val="D97706"/>
            </a:solidFill>
            <a:prstDash val="solid"/>
          </a:ln>
        </p:spPr>
      </p:sp>
      <p:sp>
        <p:nvSpPr>
          <p:cNvPr id="38" name="Shape 36"/>
          <p:cNvSpPr/>
          <p:nvPr/>
        </p:nvSpPr>
        <p:spPr>
          <a:xfrm>
            <a:off x="2377440" y="2240280"/>
            <a:ext cx="457200" cy="54864"/>
          </a:xfrm>
          <a:prstGeom prst="rect">
            <a:avLst/>
          </a:prstGeom>
          <a:solidFill>
            <a:srgbClr val="D97706"/>
          </a:solidFill>
          <a:ln w="12700">
            <a:solidFill>
              <a:srgbClr val="D97706"/>
            </a:solidFill>
            <a:prstDash val="solid"/>
          </a:ln>
        </p:spPr>
      </p:sp>
      <p:sp>
        <p:nvSpPr>
          <p:cNvPr id="39" name="Shape 37"/>
          <p:cNvSpPr/>
          <p:nvPr/>
        </p:nvSpPr>
        <p:spPr>
          <a:xfrm>
            <a:off x="5138928" y="2240280"/>
            <a:ext cx="1481328" cy="777240"/>
          </a:xfrm>
          <a:prstGeom prst="rect">
            <a:avLst/>
          </a:prstGeom>
          <a:solidFill>
            <a:srgbClr val="DC2626"/>
          </a:solidFill>
          <a:ln w="12700">
            <a:solidFill>
              <a:srgbClr val="DC2626"/>
            </a:solidFill>
            <a:prstDash val="solid"/>
          </a:ln>
          <a:effectLst>
            <a:outerShdw sx="100000" sy="100000" kx="0" ky="0" algn="bl" rotWithShape="0" blurRad="101600" dist="38100" dir="8100000">
              <a:srgbClr val="000000">
                <a:alpha val="18000"/>
              </a:srgbClr>
            </a:outerShdw>
          </a:effectLst>
        </p:spPr>
      </p:sp>
      <p:sp>
        <p:nvSpPr>
          <p:cNvPr id="40" name="Text 38"/>
          <p:cNvSpPr/>
          <p:nvPr/>
        </p:nvSpPr>
        <p:spPr>
          <a:xfrm>
            <a:off x="5138928" y="2240280"/>
            <a:ext cx="1481328" cy="502920"/>
          </a:xfrm>
          <a:prstGeom prst="rect">
            <a:avLst/>
          </a:prstGeom>
          <a:noFill/>
          <a:ln/>
        </p:spPr>
        <p:txBody>
          <a:bodyPr wrap="square" lIns="0" tIns="0" rIns="0" bIns="0" rtlCol="0" anchor="b"/>
          <a:lstStyle/>
          <a:p>
            <a:pPr algn="ctr" indent="0" marL="0">
              <a:buNone/>
            </a:pPr>
            <a:r>
              <a:rPr lang="en-US" sz="1000" b="1" dirty="0">
                <a:solidFill>
                  <a:srgbClr val="FFFFFF"/>
                </a:solidFill>
              </a:rPr>
              <a:t>Reclasificacion</a:t>
            </a:r>
            <a:endParaRPr lang="en-US" sz="1000" dirty="0"/>
          </a:p>
          <a:p>
            <a:pPr algn="ctr" indent="0" marL="0">
              <a:buNone/>
            </a:pPr>
            <a:r>
              <a:rPr lang="en-US" sz="1000" b="1" dirty="0">
                <a:solidFill>
                  <a:srgbClr val="FFFFFF"/>
                </a:solidFill>
              </a:rPr>
              <a:t>manual</a:t>
            </a:r>
            <a:endParaRPr lang="en-US" sz="1000" dirty="0"/>
          </a:p>
        </p:txBody>
      </p:sp>
      <p:sp>
        <p:nvSpPr>
          <p:cNvPr id="41" name="Text 39"/>
          <p:cNvSpPr/>
          <p:nvPr/>
        </p:nvSpPr>
        <p:spPr>
          <a:xfrm>
            <a:off x="5138928" y="2743200"/>
            <a:ext cx="1481328" cy="274320"/>
          </a:xfrm>
          <a:prstGeom prst="rect">
            <a:avLst/>
          </a:prstGeom>
          <a:noFill/>
          <a:ln/>
        </p:spPr>
        <p:txBody>
          <a:bodyPr wrap="square" lIns="0" tIns="0" rIns="0" bIns="0" rtlCol="0" anchor="ctr"/>
          <a:lstStyle/>
          <a:p>
            <a:pPr algn="ctr" indent="0" marL="0">
              <a:buNone/>
            </a:pPr>
            <a:r>
              <a:rPr lang="en-US" sz="750" dirty="0">
                <a:solidFill>
                  <a:srgbClr val="FFFFFF"/>
                </a:solidFill>
              </a:rPr>
              <a:t>-&gt; Otro buzon</a:t>
            </a:r>
            <a:endParaRPr lang="en-US" sz="750" dirty="0"/>
          </a:p>
        </p:txBody>
      </p:sp>
      <p:sp>
        <p:nvSpPr>
          <p:cNvPr id="42" name="Shape 40"/>
          <p:cNvSpPr/>
          <p:nvPr/>
        </p:nvSpPr>
        <p:spPr>
          <a:xfrm>
            <a:off x="5852160" y="1874520"/>
            <a:ext cx="54864" cy="365760"/>
          </a:xfrm>
          <a:prstGeom prst="rect">
            <a:avLst/>
          </a:prstGeom>
          <a:solidFill>
            <a:srgbClr val="DC2626"/>
          </a:solidFill>
          <a:ln w="12700">
            <a:solidFill>
              <a:srgbClr val="DC2626"/>
            </a:solidFill>
            <a:prstDash val="solid"/>
          </a:ln>
        </p:spPr>
      </p:sp>
      <p:sp>
        <p:nvSpPr>
          <p:cNvPr id="43" name="Shape 41"/>
          <p:cNvSpPr/>
          <p:nvPr/>
        </p:nvSpPr>
        <p:spPr>
          <a:xfrm>
            <a:off x="6876288" y="2240280"/>
            <a:ext cx="1481328" cy="777240"/>
          </a:xfrm>
          <a:prstGeom prst="rect">
            <a:avLst/>
          </a:prstGeom>
          <a:solidFill>
            <a:srgbClr val="475569"/>
          </a:solidFill>
          <a:ln w="12700">
            <a:solidFill>
              <a:srgbClr val="475569"/>
            </a:solidFill>
            <a:prstDash val="solid"/>
          </a:ln>
          <a:effectLst>
            <a:outerShdw sx="100000" sy="100000" kx="0" ky="0" algn="bl" rotWithShape="0" blurRad="101600" dist="38100" dir="8100000">
              <a:srgbClr val="000000">
                <a:alpha val="18000"/>
              </a:srgbClr>
            </a:outerShdw>
          </a:effectLst>
        </p:spPr>
      </p:sp>
      <p:sp>
        <p:nvSpPr>
          <p:cNvPr id="44" name="Text 42"/>
          <p:cNvSpPr/>
          <p:nvPr/>
        </p:nvSpPr>
        <p:spPr>
          <a:xfrm>
            <a:off x="6876288" y="2240280"/>
            <a:ext cx="1481328" cy="502920"/>
          </a:xfrm>
          <a:prstGeom prst="rect">
            <a:avLst/>
          </a:prstGeom>
          <a:noFill/>
          <a:ln/>
        </p:spPr>
        <p:txBody>
          <a:bodyPr wrap="square" lIns="0" tIns="0" rIns="0" bIns="0" rtlCol="0" anchor="b"/>
          <a:lstStyle/>
          <a:p>
            <a:pPr algn="ctr" indent="0" marL="0">
              <a:buNone/>
            </a:pPr>
            <a:r>
              <a:rPr lang="en-US" sz="1000" b="1" dirty="0">
                <a:solidFill>
                  <a:srgbClr val="FFFFFF"/>
                </a:solidFill>
              </a:rPr>
              <a:t>Inconsistencia</a:t>
            </a:r>
            <a:endParaRPr lang="en-US" sz="1000" dirty="0"/>
          </a:p>
          <a:p>
            <a:pPr algn="ctr" indent="0" marL="0">
              <a:buNone/>
            </a:pPr>
            <a:r>
              <a:rPr lang="en-US" sz="1000" b="1" dirty="0">
                <a:solidFill>
                  <a:srgbClr val="FFFFFF"/>
                </a:solidFill>
              </a:rPr>
              <a:t>Validar Cobro</a:t>
            </a:r>
            <a:endParaRPr lang="en-US" sz="1000" dirty="0"/>
          </a:p>
        </p:txBody>
      </p:sp>
      <p:sp>
        <p:nvSpPr>
          <p:cNvPr id="45" name="Text 43"/>
          <p:cNvSpPr/>
          <p:nvPr/>
        </p:nvSpPr>
        <p:spPr>
          <a:xfrm>
            <a:off x="6876288" y="2743200"/>
            <a:ext cx="1481328" cy="274320"/>
          </a:xfrm>
          <a:prstGeom prst="rect">
            <a:avLst/>
          </a:prstGeom>
          <a:noFill/>
          <a:ln/>
        </p:spPr>
        <p:txBody>
          <a:bodyPr wrap="square" lIns="0" tIns="0" rIns="0" bIns="0" rtlCol="0" anchor="ctr"/>
          <a:lstStyle/>
          <a:p>
            <a:pPr algn="ctr" indent="0" marL="0">
              <a:buNone/>
            </a:pPr>
            <a:r>
              <a:rPr lang="en-US" sz="750" dirty="0">
                <a:solidFill>
                  <a:srgbClr val="DDDDDD"/>
                </a:solidFill>
              </a:rPr>
              <a:t>-&gt; Eliminacion auto</a:t>
            </a:r>
            <a:endParaRPr lang="en-US" sz="750" dirty="0"/>
          </a:p>
        </p:txBody>
      </p:sp>
      <p:sp>
        <p:nvSpPr>
          <p:cNvPr id="46" name="Shape 44"/>
          <p:cNvSpPr/>
          <p:nvPr/>
        </p:nvSpPr>
        <p:spPr>
          <a:xfrm>
            <a:off x="7589520" y="1874520"/>
            <a:ext cx="54864" cy="365760"/>
          </a:xfrm>
          <a:prstGeom prst="rect">
            <a:avLst/>
          </a:prstGeom>
          <a:solidFill>
            <a:srgbClr val="475569"/>
          </a:solidFill>
          <a:ln w="12700">
            <a:solidFill>
              <a:srgbClr val="475569"/>
            </a:solidFill>
            <a:prstDash val="solid"/>
          </a:ln>
        </p:spPr>
      </p:sp>
      <p:sp>
        <p:nvSpPr>
          <p:cNvPr id="47" name="Shape 45"/>
          <p:cNvSpPr/>
          <p:nvPr/>
        </p:nvSpPr>
        <p:spPr>
          <a:xfrm>
            <a:off x="457200" y="3364992"/>
            <a:ext cx="228600" cy="228600"/>
          </a:xfrm>
          <a:prstGeom prst="rect">
            <a:avLst/>
          </a:prstGeom>
          <a:solidFill>
            <a:srgbClr val="16A34A"/>
          </a:solidFill>
          <a:ln w="12700">
            <a:solidFill>
              <a:srgbClr val="16A34A"/>
            </a:solidFill>
            <a:prstDash val="solid"/>
          </a:ln>
        </p:spPr>
      </p:sp>
      <p:sp>
        <p:nvSpPr>
          <p:cNvPr id="48" name="Text 46"/>
          <p:cNvSpPr/>
          <p:nvPr/>
        </p:nvSpPr>
        <p:spPr>
          <a:xfrm>
            <a:off x="749808" y="3364992"/>
            <a:ext cx="1783080" cy="228600"/>
          </a:xfrm>
          <a:prstGeom prst="rect">
            <a:avLst/>
          </a:prstGeom>
          <a:noFill/>
          <a:ln/>
        </p:spPr>
        <p:txBody>
          <a:bodyPr wrap="square" lIns="0" tIns="0" rIns="0" bIns="0" rtlCol="0" anchor="ctr"/>
          <a:lstStyle/>
          <a:p>
            <a:pPr indent="0" marL="0">
              <a:buNone/>
            </a:pPr>
            <a:r>
              <a:rPr lang="en-US" sz="950" dirty="0">
                <a:solidFill>
                  <a:srgbClr val="475569"/>
                </a:solidFill>
              </a:rPr>
              <a:t>Flujo exitoso</a:t>
            </a:r>
            <a:endParaRPr lang="en-US" sz="950" dirty="0"/>
          </a:p>
        </p:txBody>
      </p:sp>
      <p:sp>
        <p:nvSpPr>
          <p:cNvPr id="49" name="Shape 47"/>
          <p:cNvSpPr/>
          <p:nvPr/>
        </p:nvSpPr>
        <p:spPr>
          <a:xfrm>
            <a:off x="2606040" y="3364992"/>
            <a:ext cx="228600" cy="228600"/>
          </a:xfrm>
          <a:prstGeom prst="rect">
            <a:avLst/>
          </a:prstGeom>
          <a:solidFill>
            <a:srgbClr val="D97706"/>
          </a:solidFill>
          <a:ln w="12700">
            <a:solidFill>
              <a:srgbClr val="D97706"/>
            </a:solidFill>
            <a:prstDash val="solid"/>
          </a:ln>
        </p:spPr>
      </p:sp>
      <p:sp>
        <p:nvSpPr>
          <p:cNvPr id="50" name="Text 48"/>
          <p:cNvSpPr/>
          <p:nvPr/>
        </p:nvSpPr>
        <p:spPr>
          <a:xfrm>
            <a:off x="2898648" y="3364992"/>
            <a:ext cx="1783080" cy="228600"/>
          </a:xfrm>
          <a:prstGeom prst="rect">
            <a:avLst/>
          </a:prstGeom>
          <a:noFill/>
          <a:ln/>
        </p:spPr>
        <p:txBody>
          <a:bodyPr wrap="square" lIns="0" tIns="0" rIns="0" bIns="0" rtlCol="0" anchor="ctr"/>
          <a:lstStyle/>
          <a:p>
            <a:pPr indent="0" marL="0">
              <a:buNone/>
            </a:pPr>
            <a:r>
              <a:rPr lang="en-US" sz="950" dirty="0">
                <a:solidFill>
                  <a:srgbClr val="475569"/>
                </a:solidFill>
              </a:rPr>
              <a:t>Bandeja Coordinador</a:t>
            </a:r>
            <a:endParaRPr lang="en-US" sz="950" dirty="0"/>
          </a:p>
        </p:txBody>
      </p:sp>
      <p:sp>
        <p:nvSpPr>
          <p:cNvPr id="51" name="Shape 49"/>
          <p:cNvSpPr/>
          <p:nvPr/>
        </p:nvSpPr>
        <p:spPr>
          <a:xfrm>
            <a:off x="4754880" y="3364992"/>
            <a:ext cx="228600" cy="228600"/>
          </a:xfrm>
          <a:prstGeom prst="rect">
            <a:avLst/>
          </a:prstGeom>
          <a:solidFill>
            <a:srgbClr val="DC2626"/>
          </a:solidFill>
          <a:ln w="12700">
            <a:solidFill>
              <a:srgbClr val="DC2626"/>
            </a:solidFill>
            <a:prstDash val="solid"/>
          </a:ln>
        </p:spPr>
      </p:sp>
      <p:sp>
        <p:nvSpPr>
          <p:cNvPr id="52" name="Text 50"/>
          <p:cNvSpPr/>
          <p:nvPr/>
        </p:nvSpPr>
        <p:spPr>
          <a:xfrm>
            <a:off x="5047488" y="3364992"/>
            <a:ext cx="1783080" cy="228600"/>
          </a:xfrm>
          <a:prstGeom prst="rect">
            <a:avLst/>
          </a:prstGeom>
          <a:noFill/>
          <a:ln/>
        </p:spPr>
        <p:txBody>
          <a:bodyPr wrap="square" lIns="0" tIns="0" rIns="0" bIns="0" rtlCol="0" anchor="ctr"/>
          <a:lstStyle/>
          <a:p>
            <a:pPr indent="0" marL="0">
              <a:buNone/>
            </a:pPr>
            <a:r>
              <a:rPr lang="en-US" sz="950" dirty="0">
                <a:solidFill>
                  <a:srgbClr val="475569"/>
                </a:solidFill>
              </a:rPr>
              <a:t>Reclasificacion</a:t>
            </a:r>
            <a:endParaRPr lang="en-US" sz="950" dirty="0"/>
          </a:p>
        </p:txBody>
      </p:sp>
      <p:sp>
        <p:nvSpPr>
          <p:cNvPr id="53" name="Shape 51"/>
          <p:cNvSpPr/>
          <p:nvPr/>
        </p:nvSpPr>
        <p:spPr>
          <a:xfrm>
            <a:off x="6903720" y="3364992"/>
            <a:ext cx="228600" cy="228600"/>
          </a:xfrm>
          <a:prstGeom prst="rect">
            <a:avLst/>
          </a:prstGeom>
          <a:solidFill>
            <a:srgbClr val="475569"/>
          </a:solidFill>
          <a:ln w="12700">
            <a:solidFill>
              <a:srgbClr val="475569"/>
            </a:solidFill>
            <a:prstDash val="solid"/>
          </a:ln>
        </p:spPr>
      </p:sp>
      <p:sp>
        <p:nvSpPr>
          <p:cNvPr id="54" name="Text 52"/>
          <p:cNvSpPr/>
          <p:nvPr/>
        </p:nvSpPr>
        <p:spPr>
          <a:xfrm>
            <a:off x="7196328" y="3364992"/>
            <a:ext cx="1783080" cy="228600"/>
          </a:xfrm>
          <a:prstGeom prst="rect">
            <a:avLst/>
          </a:prstGeom>
          <a:noFill/>
          <a:ln/>
        </p:spPr>
        <p:txBody>
          <a:bodyPr wrap="square" lIns="0" tIns="0" rIns="0" bIns="0" rtlCol="0" anchor="ctr"/>
          <a:lstStyle/>
          <a:p>
            <a:pPr indent="0" marL="0">
              <a:buNone/>
            </a:pPr>
            <a:r>
              <a:rPr lang="en-US" sz="950" dirty="0">
                <a:solidFill>
                  <a:srgbClr val="475569"/>
                </a:solidFill>
              </a:rPr>
              <a:t>Inconsistencia</a:t>
            </a:r>
            <a:endParaRPr lang="en-US" sz="950" dirty="0"/>
          </a:p>
        </p:txBody>
      </p:sp>
      <p:sp>
        <p:nvSpPr>
          <p:cNvPr id="55" name="Shape 53"/>
          <p:cNvSpPr/>
          <p:nvPr/>
        </p:nvSpPr>
        <p:spPr>
          <a:xfrm>
            <a:off x="320040" y="3767328"/>
            <a:ext cx="8503920" cy="384048"/>
          </a:xfrm>
          <a:prstGeom prst="rect">
            <a:avLst/>
          </a:prstGeom>
          <a:solidFill>
            <a:srgbClr val="EFF6FF"/>
          </a:solidFill>
          <a:ln w="12700">
            <a:solidFill>
              <a:srgbClr val="1A3A5C"/>
            </a:solidFill>
            <a:prstDash val="solid"/>
          </a:ln>
        </p:spPr>
      </p:sp>
      <p:sp>
        <p:nvSpPr>
          <p:cNvPr id="56" name="Text 54"/>
          <p:cNvSpPr/>
          <p:nvPr/>
        </p:nvSpPr>
        <p:spPr>
          <a:xfrm>
            <a:off x="457200" y="3767328"/>
            <a:ext cx="8321040" cy="384048"/>
          </a:xfrm>
          <a:prstGeom prst="rect">
            <a:avLst/>
          </a:prstGeom>
          <a:noFill/>
          <a:ln/>
        </p:spPr>
        <p:txBody>
          <a:bodyPr wrap="square" lIns="0" tIns="0" rIns="0" bIns="0" rtlCol="0" anchor="ctr"/>
          <a:lstStyle/>
          <a:p>
            <a:pPr indent="0" marL="0">
              <a:buNone/>
            </a:pPr>
            <a:r>
              <a:rPr lang="en-US" sz="950" dirty="0">
                <a:solidFill>
                  <a:srgbClr val="1A3A5C"/>
                </a:solidFill>
              </a:rPr>
              <a:t>Restriccion: El Gestor NO puede eliminar correos. La unica accion manual es la reclasificacion. Eliminacion = rol ESAC desde buzon Otros.</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D1B2A"/>
          </a:solidFill>
          <a:ln w="12700">
            <a:solidFill>
              <a:srgbClr val="0D1B2A"/>
            </a:solidFill>
            <a:prstDash val="solid"/>
          </a:ln>
        </p:spPr>
      </p:sp>
      <p:sp>
        <p:nvSpPr>
          <p:cNvPr id="3" name="Shape 1"/>
          <p:cNvSpPr/>
          <p:nvPr/>
        </p:nvSpPr>
        <p:spPr>
          <a:xfrm>
            <a:off x="0" y="0"/>
            <a:ext cx="320040" cy="777240"/>
          </a:xfrm>
          <a:prstGeom prst="rect">
            <a:avLst/>
          </a:prstGeom>
          <a:solidFill>
            <a:srgbClr val="D97706"/>
          </a:solidFill>
          <a:ln w="12700">
            <a:solidFill>
              <a:srgbClr val="D97706"/>
            </a:solidFill>
            <a:prstDash val="solid"/>
          </a:ln>
        </p:spPr>
      </p:sp>
      <p:sp>
        <p:nvSpPr>
          <p:cNvPr id="4" name="Text 2"/>
          <p:cNvSpPr/>
          <p:nvPr/>
        </p:nvSpPr>
        <p:spPr>
          <a:xfrm>
            <a:off x="502920" y="0"/>
            <a:ext cx="8503920" cy="777240"/>
          </a:xfrm>
          <a:prstGeom prst="rect">
            <a:avLst/>
          </a:prstGeom>
          <a:noFill/>
          <a:ln/>
        </p:spPr>
        <p:txBody>
          <a:bodyPr wrap="square" lIns="0" tIns="0" rIns="0" bIns="0" rtlCol="0" anchor="ctr"/>
          <a:lstStyle/>
          <a:p>
            <a:pPr indent="0" marL="0">
              <a:buNone/>
            </a:pPr>
            <a:r>
              <a:rPr lang="en-US" sz="2200" b="1" dirty="0">
                <a:solidFill>
                  <a:srgbClr val="FFFFFF"/>
                </a:solidFill>
              </a:rPr>
              <a:t>Pendientes de Decision</a:t>
            </a:r>
            <a:endParaRPr lang="en-US" sz="2200" dirty="0"/>
          </a:p>
        </p:txBody>
      </p:sp>
      <p:sp>
        <p:nvSpPr>
          <p:cNvPr id="5" name="Shape 3"/>
          <p:cNvSpPr/>
          <p:nvPr/>
        </p:nvSpPr>
        <p:spPr>
          <a:xfrm>
            <a:off x="320040" y="914400"/>
            <a:ext cx="4224528" cy="1207008"/>
          </a:xfrm>
          <a:prstGeom prst="rect">
            <a:avLst/>
          </a:prstGeom>
          <a:solidFill>
            <a:srgbClr val="FFFFFF"/>
          </a:solidFill>
          <a:ln w="19050">
            <a:solidFill>
              <a:srgbClr val="DC2626"/>
            </a:solidFill>
            <a:prstDash val="solid"/>
          </a:ln>
          <a:effectLst>
            <a:outerShdw sx="100000" sy="100000" kx="0" ky="0" algn="bl" rotWithShape="0" blurRad="101600" dist="38100" dir="8100000">
              <a:srgbClr val="000000">
                <a:alpha val="18000"/>
              </a:srgbClr>
            </a:outerShdw>
          </a:effectLst>
        </p:spPr>
      </p:sp>
      <p:sp>
        <p:nvSpPr>
          <p:cNvPr id="6" name="Shape 4"/>
          <p:cNvSpPr/>
          <p:nvPr/>
        </p:nvSpPr>
        <p:spPr>
          <a:xfrm>
            <a:off x="320040" y="914400"/>
            <a:ext cx="822960" cy="301752"/>
          </a:xfrm>
          <a:prstGeom prst="rect">
            <a:avLst/>
          </a:prstGeom>
          <a:solidFill>
            <a:srgbClr val="DC2626"/>
          </a:solidFill>
          <a:ln w="12700">
            <a:solidFill>
              <a:srgbClr val="DC2626"/>
            </a:solidFill>
            <a:prstDash val="solid"/>
          </a:ln>
        </p:spPr>
      </p:sp>
      <p:sp>
        <p:nvSpPr>
          <p:cNvPr id="7" name="Text 5"/>
          <p:cNvSpPr/>
          <p:nvPr/>
        </p:nvSpPr>
        <p:spPr>
          <a:xfrm>
            <a:off x="320040" y="914400"/>
            <a:ext cx="822960" cy="301752"/>
          </a:xfrm>
          <a:prstGeom prst="rect">
            <a:avLst/>
          </a:prstGeom>
          <a:noFill/>
          <a:ln/>
        </p:spPr>
        <p:txBody>
          <a:bodyPr wrap="square" lIns="0" tIns="0" rIns="0" bIns="0" rtlCol="0" anchor="ctr"/>
          <a:lstStyle/>
          <a:p>
            <a:pPr algn="ctr" indent="0" marL="0">
              <a:buNone/>
            </a:pPr>
            <a:r>
              <a:rPr lang="en-US" sz="750" b="1" dirty="0">
                <a:solidFill>
                  <a:srgbClr val="FFFFFF"/>
                </a:solidFill>
              </a:rPr>
              <a:t>CRITICO</a:t>
            </a:r>
            <a:endParaRPr lang="en-US" sz="750" dirty="0"/>
          </a:p>
        </p:txBody>
      </p:sp>
      <p:sp>
        <p:nvSpPr>
          <p:cNvPr id="8" name="Text 6"/>
          <p:cNvSpPr/>
          <p:nvPr/>
        </p:nvSpPr>
        <p:spPr>
          <a:xfrm>
            <a:off x="1161288" y="914400"/>
            <a:ext cx="457200" cy="301752"/>
          </a:xfrm>
          <a:prstGeom prst="rect">
            <a:avLst/>
          </a:prstGeom>
          <a:noFill/>
          <a:ln/>
        </p:spPr>
        <p:txBody>
          <a:bodyPr wrap="square" lIns="0" tIns="0" rIns="0" bIns="0" rtlCol="0" anchor="ctr"/>
          <a:lstStyle/>
          <a:p>
            <a:pPr indent="0" marL="0">
              <a:buNone/>
            </a:pPr>
            <a:r>
              <a:rPr lang="en-US" sz="900" b="1" dirty="0">
                <a:solidFill>
                  <a:srgbClr val="DC2626"/>
                </a:solidFill>
              </a:rPr>
              <a:t>D1</a:t>
            </a:r>
            <a:endParaRPr lang="en-US" sz="900" dirty="0"/>
          </a:p>
        </p:txBody>
      </p:sp>
      <p:sp>
        <p:nvSpPr>
          <p:cNvPr id="9" name="Text 7"/>
          <p:cNvSpPr/>
          <p:nvPr/>
        </p:nvSpPr>
        <p:spPr>
          <a:xfrm>
            <a:off x="1600200" y="914400"/>
            <a:ext cx="2907792" cy="301752"/>
          </a:xfrm>
          <a:prstGeom prst="rect">
            <a:avLst/>
          </a:prstGeom>
          <a:noFill/>
          <a:ln/>
        </p:spPr>
        <p:txBody>
          <a:bodyPr wrap="square" lIns="0" tIns="0" rIns="0" bIns="0" rtlCol="0" anchor="ctr"/>
          <a:lstStyle/>
          <a:p>
            <a:pPr algn="r" indent="0" marL="0">
              <a:buNone/>
            </a:pPr>
            <a:r>
              <a:rPr lang="en-US" sz="800" dirty="0">
                <a:solidFill>
                  <a:srgbClr val="94A3B8"/>
                </a:solidFill>
              </a:rPr>
              <a:t>Product Owner</a:t>
            </a:r>
            <a:endParaRPr lang="en-US" sz="800" dirty="0"/>
          </a:p>
        </p:txBody>
      </p:sp>
      <p:sp>
        <p:nvSpPr>
          <p:cNvPr id="10" name="Text 8"/>
          <p:cNvSpPr/>
          <p:nvPr/>
        </p:nvSpPr>
        <p:spPr>
          <a:xfrm>
            <a:off x="411480" y="1243584"/>
            <a:ext cx="4041648" cy="347472"/>
          </a:xfrm>
          <a:prstGeom prst="rect">
            <a:avLst/>
          </a:prstGeom>
          <a:noFill/>
          <a:ln/>
        </p:spPr>
        <p:txBody>
          <a:bodyPr wrap="square" lIns="0" tIns="0" rIns="0" bIns="0" rtlCol="0" anchor="t"/>
          <a:lstStyle/>
          <a:p>
            <a:pPr indent="0" marL="0">
              <a:buNone/>
            </a:pPr>
            <a:r>
              <a:rPr lang="en-US" sz="1050" b="1" dirty="0">
                <a:solidFill>
                  <a:srgbClr val="0D1B2A"/>
                </a:solidFill>
              </a:rPr>
              <a:t>Propuesta 1 o Propuesta 2</a:t>
            </a:r>
            <a:endParaRPr lang="en-US" sz="1050" dirty="0"/>
          </a:p>
        </p:txBody>
      </p:sp>
      <p:sp>
        <p:nvSpPr>
          <p:cNvPr id="11" name="Text 9"/>
          <p:cNvSpPr/>
          <p:nvPr/>
        </p:nvSpPr>
        <p:spPr>
          <a:xfrm>
            <a:off x="411480" y="1591056"/>
            <a:ext cx="4041648" cy="493776"/>
          </a:xfrm>
          <a:prstGeom prst="rect">
            <a:avLst/>
          </a:prstGeom>
          <a:noFill/>
          <a:ln/>
        </p:spPr>
        <p:txBody>
          <a:bodyPr wrap="square" lIns="0" tIns="0" rIns="0" bIns="0" rtlCol="0" anchor="t"/>
          <a:lstStyle/>
          <a:p>
            <a:pPr indent="0" marL="0">
              <a:buNone/>
            </a:pPr>
            <a:r>
              <a:rPr lang="en-US" sz="900" dirty="0">
                <a:solidFill>
                  <a:srgbClr val="475569"/>
                </a:solidFill>
              </a:rPr>
              <a:t>Decidir arquitectura del Mailbot nuevo. Impacta toda la planificacion de tareas.</a:t>
            </a:r>
            <a:endParaRPr lang="en-US" sz="900" dirty="0"/>
          </a:p>
        </p:txBody>
      </p:sp>
      <p:sp>
        <p:nvSpPr>
          <p:cNvPr id="12" name="Shape 10"/>
          <p:cNvSpPr/>
          <p:nvPr/>
        </p:nvSpPr>
        <p:spPr>
          <a:xfrm>
            <a:off x="4773168" y="914400"/>
            <a:ext cx="4224528" cy="1207008"/>
          </a:xfrm>
          <a:prstGeom prst="rect">
            <a:avLst/>
          </a:prstGeom>
          <a:solidFill>
            <a:srgbClr val="FFFFFF"/>
          </a:solidFill>
          <a:ln w="19050">
            <a:solidFill>
              <a:srgbClr val="DC2626"/>
            </a:solidFill>
            <a:prstDash val="solid"/>
          </a:ln>
          <a:effectLst>
            <a:outerShdw sx="100000" sy="100000" kx="0" ky="0" algn="bl" rotWithShape="0" blurRad="101600" dist="38100" dir="8100000">
              <a:srgbClr val="000000">
                <a:alpha val="18000"/>
              </a:srgbClr>
            </a:outerShdw>
          </a:effectLst>
        </p:spPr>
      </p:sp>
      <p:sp>
        <p:nvSpPr>
          <p:cNvPr id="13" name="Shape 11"/>
          <p:cNvSpPr/>
          <p:nvPr/>
        </p:nvSpPr>
        <p:spPr>
          <a:xfrm>
            <a:off x="4773168" y="914400"/>
            <a:ext cx="822960" cy="301752"/>
          </a:xfrm>
          <a:prstGeom prst="rect">
            <a:avLst/>
          </a:prstGeom>
          <a:solidFill>
            <a:srgbClr val="DC2626"/>
          </a:solidFill>
          <a:ln w="12700">
            <a:solidFill>
              <a:srgbClr val="DC2626"/>
            </a:solidFill>
            <a:prstDash val="solid"/>
          </a:ln>
        </p:spPr>
      </p:sp>
      <p:sp>
        <p:nvSpPr>
          <p:cNvPr id="14" name="Text 12"/>
          <p:cNvSpPr/>
          <p:nvPr/>
        </p:nvSpPr>
        <p:spPr>
          <a:xfrm>
            <a:off x="4773168" y="914400"/>
            <a:ext cx="822960" cy="301752"/>
          </a:xfrm>
          <a:prstGeom prst="rect">
            <a:avLst/>
          </a:prstGeom>
          <a:noFill/>
          <a:ln/>
        </p:spPr>
        <p:txBody>
          <a:bodyPr wrap="square" lIns="0" tIns="0" rIns="0" bIns="0" rtlCol="0" anchor="ctr"/>
          <a:lstStyle/>
          <a:p>
            <a:pPr algn="ctr" indent="0" marL="0">
              <a:buNone/>
            </a:pPr>
            <a:r>
              <a:rPr lang="en-US" sz="750" b="1" dirty="0">
                <a:solidFill>
                  <a:srgbClr val="FFFFFF"/>
                </a:solidFill>
              </a:rPr>
              <a:t>CRITICO</a:t>
            </a:r>
            <a:endParaRPr lang="en-US" sz="750" dirty="0"/>
          </a:p>
        </p:txBody>
      </p:sp>
      <p:sp>
        <p:nvSpPr>
          <p:cNvPr id="15" name="Text 13"/>
          <p:cNvSpPr/>
          <p:nvPr/>
        </p:nvSpPr>
        <p:spPr>
          <a:xfrm>
            <a:off x="5614416" y="914400"/>
            <a:ext cx="457200" cy="301752"/>
          </a:xfrm>
          <a:prstGeom prst="rect">
            <a:avLst/>
          </a:prstGeom>
          <a:noFill/>
          <a:ln/>
        </p:spPr>
        <p:txBody>
          <a:bodyPr wrap="square" lIns="0" tIns="0" rIns="0" bIns="0" rtlCol="0" anchor="ctr"/>
          <a:lstStyle/>
          <a:p>
            <a:pPr indent="0" marL="0">
              <a:buNone/>
            </a:pPr>
            <a:r>
              <a:rPr lang="en-US" sz="900" b="1" dirty="0">
                <a:solidFill>
                  <a:srgbClr val="DC2626"/>
                </a:solidFill>
              </a:rPr>
              <a:t>D2</a:t>
            </a:r>
            <a:endParaRPr lang="en-US" sz="900" dirty="0"/>
          </a:p>
        </p:txBody>
      </p:sp>
      <p:sp>
        <p:nvSpPr>
          <p:cNvPr id="16" name="Text 14"/>
          <p:cNvSpPr/>
          <p:nvPr/>
        </p:nvSpPr>
        <p:spPr>
          <a:xfrm>
            <a:off x="6053328" y="914400"/>
            <a:ext cx="2907792" cy="301752"/>
          </a:xfrm>
          <a:prstGeom prst="rect">
            <a:avLst/>
          </a:prstGeom>
          <a:noFill/>
          <a:ln/>
        </p:spPr>
        <p:txBody>
          <a:bodyPr wrap="square" lIns="0" tIns="0" rIns="0" bIns="0" rtlCol="0" anchor="ctr"/>
          <a:lstStyle/>
          <a:p>
            <a:pPr algn="r" indent="0" marL="0">
              <a:buNone/>
            </a:pPr>
            <a:r>
              <a:rPr lang="en-US" sz="800" dirty="0">
                <a:solidFill>
                  <a:srgbClr val="94A3B8"/>
                </a:solidFill>
              </a:rPr>
              <a:t>Product Owner</a:t>
            </a:r>
            <a:endParaRPr lang="en-US" sz="800" dirty="0"/>
          </a:p>
        </p:txBody>
      </p:sp>
      <p:sp>
        <p:nvSpPr>
          <p:cNvPr id="17" name="Text 15"/>
          <p:cNvSpPr/>
          <p:nvPr/>
        </p:nvSpPr>
        <p:spPr>
          <a:xfrm>
            <a:off x="4864608" y="1243584"/>
            <a:ext cx="4041648" cy="347472"/>
          </a:xfrm>
          <a:prstGeom prst="rect">
            <a:avLst/>
          </a:prstGeom>
          <a:noFill/>
          <a:ln/>
        </p:spPr>
        <p:txBody>
          <a:bodyPr wrap="square" lIns="0" tIns="0" rIns="0" bIns="0" rtlCol="0" anchor="t"/>
          <a:lstStyle/>
          <a:p>
            <a:pPr indent="0" marL="0">
              <a:buNone/>
            </a:pPr>
            <a:r>
              <a:rPr lang="en-US" sz="1050" b="1" dirty="0">
                <a:solidFill>
                  <a:srgbClr val="0D1B2A"/>
                </a:solidFill>
              </a:rPr>
              <a:t>Clasificacion: Renombrar 'Pago'-&gt;'Cobro' o INSERT nuevo</a:t>
            </a:r>
            <a:endParaRPr lang="en-US" sz="1050" dirty="0"/>
          </a:p>
        </p:txBody>
      </p:sp>
      <p:sp>
        <p:nvSpPr>
          <p:cNvPr id="18" name="Text 16"/>
          <p:cNvSpPr/>
          <p:nvPr/>
        </p:nvSpPr>
        <p:spPr>
          <a:xfrm>
            <a:off x="4864608" y="1591056"/>
            <a:ext cx="4041648" cy="493776"/>
          </a:xfrm>
          <a:prstGeom prst="rect">
            <a:avLst/>
          </a:prstGeom>
          <a:noFill/>
          <a:ln/>
        </p:spPr>
        <p:txBody>
          <a:bodyPr wrap="square" lIns="0" tIns="0" rIns="0" bIns="0" rtlCol="0" anchor="t"/>
          <a:lstStyle/>
          <a:p>
            <a:pPr indent="0" marL="0">
              <a:buNone/>
            </a:pPr>
            <a:r>
              <a:rPr lang="en-US" sz="900" dirty="0">
                <a:solidFill>
                  <a:srgbClr val="475569"/>
                </a:solidFill>
              </a:rPr>
              <a:t>Opcion A (UPDATE) o B (INSERT). Verificar registros activos WHERE Clave='pago' antes de decidir.</a:t>
            </a:r>
            <a:endParaRPr lang="en-US" sz="900" dirty="0"/>
          </a:p>
        </p:txBody>
      </p:sp>
      <p:sp>
        <p:nvSpPr>
          <p:cNvPr id="19" name="Shape 17"/>
          <p:cNvSpPr/>
          <p:nvPr/>
        </p:nvSpPr>
        <p:spPr>
          <a:xfrm>
            <a:off x="320040" y="2258568"/>
            <a:ext cx="4224528" cy="1207008"/>
          </a:xfrm>
          <a:prstGeom prst="rect">
            <a:avLst/>
          </a:prstGeom>
          <a:solidFill>
            <a:srgbClr val="FFFFFF"/>
          </a:solidFill>
          <a:ln w="19050">
            <a:solidFill>
              <a:srgbClr val="D97706"/>
            </a:solidFill>
            <a:prstDash val="solid"/>
          </a:ln>
          <a:effectLst>
            <a:outerShdw sx="100000" sy="100000" kx="0" ky="0" algn="bl" rotWithShape="0" blurRad="101600" dist="38100" dir="8100000">
              <a:srgbClr val="000000">
                <a:alpha val="18000"/>
              </a:srgbClr>
            </a:outerShdw>
          </a:effectLst>
        </p:spPr>
      </p:sp>
      <p:sp>
        <p:nvSpPr>
          <p:cNvPr id="20" name="Shape 18"/>
          <p:cNvSpPr/>
          <p:nvPr/>
        </p:nvSpPr>
        <p:spPr>
          <a:xfrm>
            <a:off x="320040" y="2258568"/>
            <a:ext cx="822960" cy="301752"/>
          </a:xfrm>
          <a:prstGeom prst="rect">
            <a:avLst/>
          </a:prstGeom>
          <a:solidFill>
            <a:srgbClr val="D97706"/>
          </a:solidFill>
          <a:ln w="12700">
            <a:solidFill>
              <a:srgbClr val="D97706"/>
            </a:solidFill>
            <a:prstDash val="solid"/>
          </a:ln>
        </p:spPr>
      </p:sp>
      <p:sp>
        <p:nvSpPr>
          <p:cNvPr id="21" name="Text 19"/>
          <p:cNvSpPr/>
          <p:nvPr/>
        </p:nvSpPr>
        <p:spPr>
          <a:xfrm>
            <a:off x="320040" y="2258568"/>
            <a:ext cx="822960" cy="301752"/>
          </a:xfrm>
          <a:prstGeom prst="rect">
            <a:avLst/>
          </a:prstGeom>
          <a:noFill/>
          <a:ln/>
        </p:spPr>
        <p:txBody>
          <a:bodyPr wrap="square" lIns="0" tIns="0" rIns="0" bIns="0" rtlCol="0" anchor="ctr"/>
          <a:lstStyle/>
          <a:p>
            <a:pPr algn="ctr" indent="0" marL="0">
              <a:buNone/>
            </a:pPr>
            <a:r>
              <a:rPr lang="en-US" sz="750" b="1" dirty="0">
                <a:solidFill>
                  <a:srgbClr val="FFFFFF"/>
                </a:solidFill>
              </a:rPr>
              <a:t>ALTO</a:t>
            </a:r>
            <a:endParaRPr lang="en-US" sz="750" dirty="0"/>
          </a:p>
        </p:txBody>
      </p:sp>
      <p:sp>
        <p:nvSpPr>
          <p:cNvPr id="22" name="Text 20"/>
          <p:cNvSpPr/>
          <p:nvPr/>
        </p:nvSpPr>
        <p:spPr>
          <a:xfrm>
            <a:off x="1161288" y="2258568"/>
            <a:ext cx="457200" cy="301752"/>
          </a:xfrm>
          <a:prstGeom prst="rect">
            <a:avLst/>
          </a:prstGeom>
          <a:noFill/>
          <a:ln/>
        </p:spPr>
        <p:txBody>
          <a:bodyPr wrap="square" lIns="0" tIns="0" rIns="0" bIns="0" rtlCol="0" anchor="ctr"/>
          <a:lstStyle/>
          <a:p>
            <a:pPr indent="0" marL="0">
              <a:buNone/>
            </a:pPr>
            <a:r>
              <a:rPr lang="en-US" sz="900" b="1" dirty="0">
                <a:solidFill>
                  <a:srgbClr val="D97706"/>
                </a:solidFill>
              </a:rPr>
              <a:t>D3</a:t>
            </a:r>
            <a:endParaRPr lang="en-US" sz="900" dirty="0"/>
          </a:p>
        </p:txBody>
      </p:sp>
      <p:sp>
        <p:nvSpPr>
          <p:cNvPr id="23" name="Text 21"/>
          <p:cNvSpPr/>
          <p:nvPr/>
        </p:nvSpPr>
        <p:spPr>
          <a:xfrm>
            <a:off x="1600200" y="2258568"/>
            <a:ext cx="2907792" cy="301752"/>
          </a:xfrm>
          <a:prstGeom prst="rect">
            <a:avLst/>
          </a:prstGeom>
          <a:noFill/>
          <a:ln/>
        </p:spPr>
        <p:txBody>
          <a:bodyPr wrap="square" lIns="0" tIns="0" rIns="0" bIns="0" rtlCol="0" anchor="ctr"/>
          <a:lstStyle/>
          <a:p>
            <a:pPr algn="r" indent="0" marL="0">
              <a:buNone/>
            </a:pPr>
            <a:r>
              <a:rPr lang="en-US" sz="800" dirty="0">
                <a:solidFill>
                  <a:srgbClr val="94A3B8"/>
                </a:solidFill>
              </a:rPr>
              <a:t>TechLead / Arquitectura</a:t>
            </a:r>
            <a:endParaRPr lang="en-US" sz="800" dirty="0"/>
          </a:p>
        </p:txBody>
      </p:sp>
      <p:sp>
        <p:nvSpPr>
          <p:cNvPr id="24" name="Text 22"/>
          <p:cNvSpPr/>
          <p:nvPr/>
        </p:nvSpPr>
        <p:spPr>
          <a:xfrm>
            <a:off x="411480" y="2587752"/>
            <a:ext cx="4041648" cy="347472"/>
          </a:xfrm>
          <a:prstGeom prst="rect">
            <a:avLst/>
          </a:prstGeom>
          <a:noFill/>
          <a:ln/>
        </p:spPr>
        <p:txBody>
          <a:bodyPr wrap="square" lIns="0" tIns="0" rIns="0" bIns="0" rtlCol="0" anchor="t"/>
          <a:lstStyle/>
          <a:p>
            <a:pPr indent="0" marL="0">
              <a:buNone/>
            </a:pPr>
            <a:r>
              <a:rPr lang="en-US" sz="1050" b="1" dirty="0">
                <a:solidFill>
                  <a:srgbClr val="0D1B2A"/>
                </a:solidFill>
              </a:rPr>
              <a:t>Proveedor IA: OpenAI vs Azure OpenAI vs modelo propio</a:t>
            </a:r>
            <a:endParaRPr lang="en-US" sz="1050" dirty="0"/>
          </a:p>
        </p:txBody>
      </p:sp>
      <p:sp>
        <p:nvSpPr>
          <p:cNvPr id="25" name="Text 23"/>
          <p:cNvSpPr/>
          <p:nvPr/>
        </p:nvSpPr>
        <p:spPr>
          <a:xfrm>
            <a:off x="411480" y="2935224"/>
            <a:ext cx="4041648" cy="493776"/>
          </a:xfrm>
          <a:prstGeom prst="rect">
            <a:avLst/>
          </a:prstGeom>
          <a:noFill/>
          <a:ln/>
        </p:spPr>
        <p:txBody>
          <a:bodyPr wrap="square" lIns="0" tIns="0" rIns="0" bIns="0" rtlCol="0" anchor="t"/>
          <a:lstStyle/>
          <a:p>
            <a:pPr indent="0" marL="0">
              <a:buNone/>
            </a:pPr>
            <a:r>
              <a:rPr lang="en-US" sz="900" dirty="0">
                <a:solidFill>
                  <a:srgbClr val="475569"/>
                </a:solidFill>
              </a:rPr>
              <a:t>Definir segun costo, privacidad de correos PROQUIFA y SLA requerido.</a:t>
            </a:r>
            <a:endParaRPr lang="en-US" sz="900" dirty="0"/>
          </a:p>
        </p:txBody>
      </p:sp>
      <p:sp>
        <p:nvSpPr>
          <p:cNvPr id="26" name="Shape 24"/>
          <p:cNvSpPr/>
          <p:nvPr/>
        </p:nvSpPr>
        <p:spPr>
          <a:xfrm>
            <a:off x="4773168" y="2258568"/>
            <a:ext cx="4224528" cy="1207008"/>
          </a:xfrm>
          <a:prstGeom prst="rect">
            <a:avLst/>
          </a:prstGeom>
          <a:solidFill>
            <a:srgbClr val="FFFFFF"/>
          </a:solidFill>
          <a:ln w="19050">
            <a:solidFill>
              <a:srgbClr val="D97706"/>
            </a:solidFill>
            <a:prstDash val="solid"/>
          </a:ln>
          <a:effectLst>
            <a:outerShdw sx="100000" sy="100000" kx="0" ky="0" algn="bl" rotWithShape="0" blurRad="101600" dist="38100" dir="8100000">
              <a:srgbClr val="000000">
                <a:alpha val="18000"/>
              </a:srgbClr>
            </a:outerShdw>
          </a:effectLst>
        </p:spPr>
      </p:sp>
      <p:sp>
        <p:nvSpPr>
          <p:cNvPr id="27" name="Shape 25"/>
          <p:cNvSpPr/>
          <p:nvPr/>
        </p:nvSpPr>
        <p:spPr>
          <a:xfrm>
            <a:off x="4773168" y="2258568"/>
            <a:ext cx="822960" cy="301752"/>
          </a:xfrm>
          <a:prstGeom prst="rect">
            <a:avLst/>
          </a:prstGeom>
          <a:solidFill>
            <a:srgbClr val="D97706"/>
          </a:solidFill>
          <a:ln w="12700">
            <a:solidFill>
              <a:srgbClr val="D97706"/>
            </a:solidFill>
            <a:prstDash val="solid"/>
          </a:ln>
        </p:spPr>
      </p:sp>
      <p:sp>
        <p:nvSpPr>
          <p:cNvPr id="28" name="Text 26"/>
          <p:cNvSpPr/>
          <p:nvPr/>
        </p:nvSpPr>
        <p:spPr>
          <a:xfrm>
            <a:off x="4773168" y="2258568"/>
            <a:ext cx="822960" cy="301752"/>
          </a:xfrm>
          <a:prstGeom prst="rect">
            <a:avLst/>
          </a:prstGeom>
          <a:noFill/>
          <a:ln/>
        </p:spPr>
        <p:txBody>
          <a:bodyPr wrap="square" lIns="0" tIns="0" rIns="0" bIns="0" rtlCol="0" anchor="ctr"/>
          <a:lstStyle/>
          <a:p>
            <a:pPr algn="ctr" indent="0" marL="0">
              <a:buNone/>
            </a:pPr>
            <a:r>
              <a:rPr lang="en-US" sz="750" b="1" dirty="0">
                <a:solidFill>
                  <a:srgbClr val="FFFFFF"/>
                </a:solidFill>
              </a:rPr>
              <a:t>ALTO</a:t>
            </a:r>
            <a:endParaRPr lang="en-US" sz="750" dirty="0"/>
          </a:p>
        </p:txBody>
      </p:sp>
      <p:sp>
        <p:nvSpPr>
          <p:cNvPr id="29" name="Text 27"/>
          <p:cNvSpPr/>
          <p:nvPr/>
        </p:nvSpPr>
        <p:spPr>
          <a:xfrm>
            <a:off x="5614416" y="2258568"/>
            <a:ext cx="457200" cy="301752"/>
          </a:xfrm>
          <a:prstGeom prst="rect">
            <a:avLst/>
          </a:prstGeom>
          <a:noFill/>
          <a:ln/>
        </p:spPr>
        <p:txBody>
          <a:bodyPr wrap="square" lIns="0" tIns="0" rIns="0" bIns="0" rtlCol="0" anchor="ctr"/>
          <a:lstStyle/>
          <a:p>
            <a:pPr indent="0" marL="0">
              <a:buNone/>
            </a:pPr>
            <a:r>
              <a:rPr lang="en-US" sz="900" b="1" dirty="0">
                <a:solidFill>
                  <a:srgbClr val="D97706"/>
                </a:solidFill>
              </a:rPr>
              <a:t>D4</a:t>
            </a:r>
            <a:endParaRPr lang="en-US" sz="900" dirty="0"/>
          </a:p>
        </p:txBody>
      </p:sp>
      <p:sp>
        <p:nvSpPr>
          <p:cNvPr id="30" name="Text 28"/>
          <p:cNvSpPr/>
          <p:nvPr/>
        </p:nvSpPr>
        <p:spPr>
          <a:xfrm>
            <a:off x="6053328" y="2258568"/>
            <a:ext cx="2907792" cy="301752"/>
          </a:xfrm>
          <a:prstGeom prst="rect">
            <a:avLst/>
          </a:prstGeom>
          <a:noFill/>
          <a:ln/>
        </p:spPr>
        <p:txBody>
          <a:bodyPr wrap="square" lIns="0" tIns="0" rIns="0" bIns="0" rtlCol="0" anchor="ctr"/>
          <a:lstStyle/>
          <a:p>
            <a:pPr algn="r" indent="0" marL="0">
              <a:buNone/>
            </a:pPr>
            <a:r>
              <a:rPr lang="en-US" sz="800" dirty="0">
                <a:solidFill>
                  <a:srgbClr val="94A3B8"/>
                </a:solidFill>
              </a:rPr>
              <a:t>IT / Infraestructura</a:t>
            </a:r>
            <a:endParaRPr lang="en-US" sz="800" dirty="0"/>
          </a:p>
        </p:txBody>
      </p:sp>
      <p:sp>
        <p:nvSpPr>
          <p:cNvPr id="31" name="Text 29"/>
          <p:cNvSpPr/>
          <p:nvPr/>
        </p:nvSpPr>
        <p:spPr>
          <a:xfrm>
            <a:off x="4864608" y="2587752"/>
            <a:ext cx="4041648" cy="347472"/>
          </a:xfrm>
          <a:prstGeom prst="rect">
            <a:avLst/>
          </a:prstGeom>
          <a:noFill/>
          <a:ln/>
        </p:spPr>
        <p:txBody>
          <a:bodyPr wrap="square" lIns="0" tIns="0" rIns="0" bIns="0" rtlCol="0" anchor="t"/>
          <a:lstStyle/>
          <a:p>
            <a:pPr indent="0" marL="0">
              <a:buNone/>
            </a:pPr>
            <a:r>
              <a:rPr lang="en-US" sz="1050" b="1" dirty="0">
                <a:solidFill>
                  <a:srgbClr val="0D1B2A"/>
                </a:solidFill>
              </a:rPr>
              <a:t>P1: Licencia n8n + servidor RabbitMQ</a:t>
            </a:r>
            <a:endParaRPr lang="en-US" sz="1050" dirty="0"/>
          </a:p>
        </p:txBody>
      </p:sp>
      <p:sp>
        <p:nvSpPr>
          <p:cNvPr id="32" name="Text 30"/>
          <p:cNvSpPr/>
          <p:nvPr/>
        </p:nvSpPr>
        <p:spPr>
          <a:xfrm>
            <a:off x="4864608" y="2935224"/>
            <a:ext cx="4041648" cy="493776"/>
          </a:xfrm>
          <a:prstGeom prst="rect">
            <a:avLst/>
          </a:prstGeom>
          <a:noFill/>
          <a:ln/>
        </p:spPr>
        <p:txBody>
          <a:bodyPr wrap="square" lIns="0" tIns="0" rIns="0" bIns="0" rtlCol="0" anchor="t"/>
          <a:lstStyle/>
          <a:p>
            <a:pPr indent="0" marL="0">
              <a:buNone/>
            </a:pPr>
            <a:r>
              <a:rPr lang="en-US" sz="900" dirty="0">
                <a:solidFill>
                  <a:srgbClr val="475569"/>
                </a:solidFill>
              </a:rPr>
              <a:t>Self-hosted n8n es gratuito. Cloud tiene costo. Confirmar infraestructura disponible.</a:t>
            </a:r>
            <a:endParaRPr lang="en-US" sz="900" dirty="0"/>
          </a:p>
        </p:txBody>
      </p:sp>
      <p:sp>
        <p:nvSpPr>
          <p:cNvPr id="33" name="Shape 31"/>
          <p:cNvSpPr/>
          <p:nvPr/>
        </p:nvSpPr>
        <p:spPr>
          <a:xfrm>
            <a:off x="320040" y="3602736"/>
            <a:ext cx="4224528" cy="1207008"/>
          </a:xfrm>
          <a:prstGeom prst="rect">
            <a:avLst/>
          </a:prstGeom>
          <a:solidFill>
            <a:srgbClr val="FFFFFF"/>
          </a:solidFill>
          <a:ln w="19050">
            <a:solidFill>
              <a:srgbClr val="D97706"/>
            </a:solidFill>
            <a:prstDash val="solid"/>
          </a:ln>
          <a:effectLst>
            <a:outerShdw sx="100000" sy="100000" kx="0" ky="0" algn="bl" rotWithShape="0" blurRad="101600" dist="38100" dir="8100000">
              <a:srgbClr val="000000">
                <a:alpha val="18000"/>
              </a:srgbClr>
            </a:outerShdw>
          </a:effectLst>
        </p:spPr>
      </p:sp>
      <p:sp>
        <p:nvSpPr>
          <p:cNvPr id="34" name="Shape 32"/>
          <p:cNvSpPr/>
          <p:nvPr/>
        </p:nvSpPr>
        <p:spPr>
          <a:xfrm>
            <a:off x="320040" y="3602736"/>
            <a:ext cx="822960" cy="301752"/>
          </a:xfrm>
          <a:prstGeom prst="rect">
            <a:avLst/>
          </a:prstGeom>
          <a:solidFill>
            <a:srgbClr val="D97706"/>
          </a:solidFill>
          <a:ln w="12700">
            <a:solidFill>
              <a:srgbClr val="D97706"/>
            </a:solidFill>
            <a:prstDash val="solid"/>
          </a:ln>
        </p:spPr>
      </p:sp>
      <p:sp>
        <p:nvSpPr>
          <p:cNvPr id="35" name="Text 33"/>
          <p:cNvSpPr/>
          <p:nvPr/>
        </p:nvSpPr>
        <p:spPr>
          <a:xfrm>
            <a:off x="320040" y="3602736"/>
            <a:ext cx="822960" cy="301752"/>
          </a:xfrm>
          <a:prstGeom prst="rect">
            <a:avLst/>
          </a:prstGeom>
          <a:noFill/>
          <a:ln/>
        </p:spPr>
        <p:txBody>
          <a:bodyPr wrap="square" lIns="0" tIns="0" rIns="0" bIns="0" rtlCol="0" anchor="ctr"/>
          <a:lstStyle/>
          <a:p>
            <a:pPr algn="ctr" indent="0" marL="0">
              <a:buNone/>
            </a:pPr>
            <a:r>
              <a:rPr lang="en-US" sz="750" b="1" dirty="0">
                <a:solidFill>
                  <a:srgbClr val="FFFFFF"/>
                </a:solidFill>
              </a:rPr>
              <a:t>ALTO</a:t>
            </a:r>
            <a:endParaRPr lang="en-US" sz="750" dirty="0"/>
          </a:p>
        </p:txBody>
      </p:sp>
      <p:sp>
        <p:nvSpPr>
          <p:cNvPr id="36" name="Text 34"/>
          <p:cNvSpPr/>
          <p:nvPr/>
        </p:nvSpPr>
        <p:spPr>
          <a:xfrm>
            <a:off x="1161288" y="3602736"/>
            <a:ext cx="457200" cy="301752"/>
          </a:xfrm>
          <a:prstGeom prst="rect">
            <a:avLst/>
          </a:prstGeom>
          <a:noFill/>
          <a:ln/>
        </p:spPr>
        <p:txBody>
          <a:bodyPr wrap="square" lIns="0" tIns="0" rIns="0" bIns="0" rtlCol="0" anchor="ctr"/>
          <a:lstStyle/>
          <a:p>
            <a:pPr indent="0" marL="0">
              <a:buNone/>
            </a:pPr>
            <a:r>
              <a:rPr lang="en-US" sz="900" b="1" dirty="0">
                <a:solidFill>
                  <a:srgbClr val="D97706"/>
                </a:solidFill>
              </a:rPr>
              <a:t>D5</a:t>
            </a:r>
            <a:endParaRPr lang="en-US" sz="900" dirty="0"/>
          </a:p>
        </p:txBody>
      </p:sp>
      <p:sp>
        <p:nvSpPr>
          <p:cNvPr id="37" name="Text 35"/>
          <p:cNvSpPr/>
          <p:nvPr/>
        </p:nvSpPr>
        <p:spPr>
          <a:xfrm>
            <a:off x="1600200" y="3602736"/>
            <a:ext cx="2907792" cy="301752"/>
          </a:xfrm>
          <a:prstGeom prst="rect">
            <a:avLst/>
          </a:prstGeom>
          <a:noFill/>
          <a:ln/>
        </p:spPr>
        <p:txBody>
          <a:bodyPr wrap="square" lIns="0" tIns="0" rIns="0" bIns="0" rtlCol="0" anchor="ctr"/>
          <a:lstStyle/>
          <a:p>
            <a:pPr algn="r" indent="0" marL="0">
              <a:buNone/>
            </a:pPr>
            <a:r>
              <a:rPr lang="en-US" sz="800" dirty="0">
                <a:solidFill>
                  <a:srgbClr val="94A3B8"/>
                </a:solidFill>
              </a:rPr>
              <a:t>Infraestructura</a:t>
            </a:r>
            <a:endParaRPr lang="en-US" sz="800" dirty="0"/>
          </a:p>
        </p:txBody>
      </p:sp>
      <p:sp>
        <p:nvSpPr>
          <p:cNvPr id="38" name="Text 36"/>
          <p:cNvSpPr/>
          <p:nvPr/>
        </p:nvSpPr>
        <p:spPr>
          <a:xfrm>
            <a:off x="411480" y="3931920"/>
            <a:ext cx="4041648" cy="347472"/>
          </a:xfrm>
          <a:prstGeom prst="rect">
            <a:avLst/>
          </a:prstGeom>
          <a:noFill/>
          <a:ln/>
        </p:spPr>
        <p:txBody>
          <a:bodyPr wrap="square" lIns="0" tIns="0" rIns="0" bIns="0" rtlCol="0" anchor="t"/>
          <a:lstStyle/>
          <a:p>
            <a:pPr indent="0" marL="0">
              <a:buNone/>
            </a:pPr>
            <a:r>
              <a:rPr lang="en-US" sz="1050" b="1" dirty="0">
                <a:solidFill>
                  <a:srgbClr val="0D1B2A"/>
                </a:solidFill>
              </a:rPr>
              <a:t>P2: Cuenta GCP + endpoint HTTPS publico (SSL)</a:t>
            </a:r>
            <a:endParaRPr lang="en-US" sz="1050" dirty="0"/>
          </a:p>
        </p:txBody>
      </p:sp>
      <p:sp>
        <p:nvSpPr>
          <p:cNvPr id="39" name="Text 37"/>
          <p:cNvSpPr/>
          <p:nvPr/>
        </p:nvSpPr>
        <p:spPr>
          <a:xfrm>
            <a:off x="411480" y="4279392"/>
            <a:ext cx="4041648" cy="493776"/>
          </a:xfrm>
          <a:prstGeom prst="rect">
            <a:avLst/>
          </a:prstGeom>
          <a:noFill/>
          <a:ln/>
        </p:spPr>
        <p:txBody>
          <a:bodyPr wrap="square" lIns="0" tIns="0" rIns="0" bIns="0" rtlCol="0" anchor="t"/>
          <a:lstStyle/>
          <a:p>
            <a:pPr indent="0" marL="0">
              <a:buNone/>
            </a:pPr>
            <a:r>
              <a:rPr lang="en-US" sz="900" dirty="0">
                <a:solidFill>
                  <a:srgbClr val="475569"/>
                </a:solidFill>
              </a:rPr>
              <a:t>Definir proyecto GCP, permisos IAM y dominio con certificado SSL para Mailbot.Api.</a:t>
            </a:r>
            <a:endParaRPr lang="en-US" sz="900" dirty="0"/>
          </a:p>
        </p:txBody>
      </p:sp>
      <p:sp>
        <p:nvSpPr>
          <p:cNvPr id="40" name="Shape 38"/>
          <p:cNvSpPr/>
          <p:nvPr/>
        </p:nvSpPr>
        <p:spPr>
          <a:xfrm>
            <a:off x="4773168" y="3602736"/>
            <a:ext cx="4224528" cy="1207008"/>
          </a:xfrm>
          <a:prstGeom prst="rect">
            <a:avLst/>
          </a:prstGeom>
          <a:solidFill>
            <a:srgbClr val="FFFFFF"/>
          </a:solidFill>
          <a:ln w="19050">
            <a:solidFill>
              <a:srgbClr val="475569"/>
            </a:solidFill>
            <a:prstDash val="solid"/>
          </a:ln>
          <a:effectLst>
            <a:outerShdw sx="100000" sy="100000" kx="0" ky="0" algn="bl" rotWithShape="0" blurRad="101600" dist="38100" dir="8100000">
              <a:srgbClr val="000000">
                <a:alpha val="18000"/>
              </a:srgbClr>
            </a:outerShdw>
          </a:effectLst>
        </p:spPr>
      </p:sp>
      <p:sp>
        <p:nvSpPr>
          <p:cNvPr id="41" name="Shape 39"/>
          <p:cNvSpPr/>
          <p:nvPr/>
        </p:nvSpPr>
        <p:spPr>
          <a:xfrm>
            <a:off x="4773168" y="3602736"/>
            <a:ext cx="822960" cy="301752"/>
          </a:xfrm>
          <a:prstGeom prst="rect">
            <a:avLst/>
          </a:prstGeom>
          <a:solidFill>
            <a:srgbClr val="475569"/>
          </a:solidFill>
          <a:ln w="12700">
            <a:solidFill>
              <a:srgbClr val="475569"/>
            </a:solidFill>
            <a:prstDash val="solid"/>
          </a:ln>
        </p:spPr>
      </p:sp>
      <p:sp>
        <p:nvSpPr>
          <p:cNvPr id="42" name="Text 40"/>
          <p:cNvSpPr/>
          <p:nvPr/>
        </p:nvSpPr>
        <p:spPr>
          <a:xfrm>
            <a:off x="4773168" y="3602736"/>
            <a:ext cx="822960" cy="301752"/>
          </a:xfrm>
          <a:prstGeom prst="rect">
            <a:avLst/>
          </a:prstGeom>
          <a:noFill/>
          <a:ln/>
        </p:spPr>
        <p:txBody>
          <a:bodyPr wrap="square" lIns="0" tIns="0" rIns="0" bIns="0" rtlCol="0" anchor="ctr"/>
          <a:lstStyle/>
          <a:p>
            <a:pPr algn="ctr" indent="0" marL="0">
              <a:buNone/>
            </a:pPr>
            <a:r>
              <a:rPr lang="en-US" sz="750" b="1" dirty="0">
                <a:solidFill>
                  <a:srgbClr val="FFFFFF"/>
                </a:solidFill>
              </a:rPr>
              <a:t>NORMAL</a:t>
            </a:r>
            <a:endParaRPr lang="en-US" sz="750" dirty="0"/>
          </a:p>
        </p:txBody>
      </p:sp>
      <p:sp>
        <p:nvSpPr>
          <p:cNvPr id="43" name="Text 41"/>
          <p:cNvSpPr/>
          <p:nvPr/>
        </p:nvSpPr>
        <p:spPr>
          <a:xfrm>
            <a:off x="5614416" y="3602736"/>
            <a:ext cx="457200" cy="301752"/>
          </a:xfrm>
          <a:prstGeom prst="rect">
            <a:avLst/>
          </a:prstGeom>
          <a:noFill/>
          <a:ln/>
        </p:spPr>
        <p:txBody>
          <a:bodyPr wrap="square" lIns="0" tIns="0" rIns="0" bIns="0" rtlCol="0" anchor="ctr"/>
          <a:lstStyle/>
          <a:p>
            <a:pPr indent="0" marL="0">
              <a:buNone/>
            </a:pPr>
            <a:r>
              <a:rPr lang="en-US" sz="900" b="1" dirty="0">
                <a:solidFill>
                  <a:srgbClr val="475569"/>
                </a:solidFill>
              </a:rPr>
              <a:t>D6</a:t>
            </a:r>
            <a:endParaRPr lang="en-US" sz="900" dirty="0"/>
          </a:p>
        </p:txBody>
      </p:sp>
      <p:sp>
        <p:nvSpPr>
          <p:cNvPr id="44" name="Text 42"/>
          <p:cNvSpPr/>
          <p:nvPr/>
        </p:nvSpPr>
        <p:spPr>
          <a:xfrm>
            <a:off x="6053328" y="3602736"/>
            <a:ext cx="2907792" cy="301752"/>
          </a:xfrm>
          <a:prstGeom prst="rect">
            <a:avLst/>
          </a:prstGeom>
          <a:noFill/>
          <a:ln/>
        </p:spPr>
        <p:txBody>
          <a:bodyPr wrap="square" lIns="0" tIns="0" rIns="0" bIns="0" rtlCol="0" anchor="ctr"/>
          <a:lstStyle/>
          <a:p>
            <a:pPr algn="r" indent="0" marL="0">
              <a:buNone/>
            </a:pPr>
            <a:r>
              <a:rPr lang="en-US" sz="800" dirty="0">
                <a:solidFill>
                  <a:srgbClr val="94A3B8"/>
                </a:solidFill>
              </a:rPr>
              <a:t>PROQUIFA / Product Owner</a:t>
            </a:r>
            <a:endParaRPr lang="en-US" sz="800" dirty="0"/>
          </a:p>
        </p:txBody>
      </p:sp>
      <p:sp>
        <p:nvSpPr>
          <p:cNvPr id="45" name="Text 43"/>
          <p:cNvSpPr/>
          <p:nvPr/>
        </p:nvSpPr>
        <p:spPr>
          <a:xfrm>
            <a:off x="4864608" y="3931920"/>
            <a:ext cx="4041648" cy="347472"/>
          </a:xfrm>
          <a:prstGeom prst="rect">
            <a:avLst/>
          </a:prstGeom>
          <a:noFill/>
          <a:ln/>
        </p:spPr>
        <p:txBody>
          <a:bodyPr wrap="square" lIns="0" tIns="0" rIns="0" bIns="0" rtlCol="0" anchor="t"/>
          <a:lstStyle/>
          <a:p>
            <a:pPr indent="0" marL="0">
              <a:buNone/>
            </a:pPr>
            <a:r>
              <a:rPr lang="en-US" sz="1050" b="1" dirty="0">
                <a:solidFill>
                  <a:srgbClr val="0D1B2A"/>
                </a:solidFill>
              </a:rPr>
              <a:t>Correos cobro sin cliente identificable: quien los atiende?</a:t>
            </a:r>
            <a:endParaRPr lang="en-US" sz="1050" dirty="0"/>
          </a:p>
        </p:txBody>
      </p:sp>
      <p:sp>
        <p:nvSpPr>
          <p:cNvPr id="46" name="Text 44"/>
          <p:cNvSpPr/>
          <p:nvPr/>
        </p:nvSpPr>
        <p:spPr>
          <a:xfrm>
            <a:off x="4864608" y="4279392"/>
            <a:ext cx="4041648" cy="493776"/>
          </a:xfrm>
          <a:prstGeom prst="rect">
            <a:avLst/>
          </a:prstGeom>
          <a:noFill/>
          <a:ln/>
        </p:spPr>
        <p:txBody>
          <a:bodyPr wrap="square" lIns="0" tIns="0" rIns="0" bIns="0" rtlCol="0" anchor="t"/>
          <a:lstStyle/>
          <a:p>
            <a:pPr indent="0" marL="0">
              <a:buNone/>
            </a:pPr>
            <a:r>
              <a:rPr lang="en-US" sz="900" dirty="0">
                <a:solidFill>
                  <a:srgbClr val="475569"/>
                </a:solidFill>
              </a:rPr>
              <a:t>Remitente desconocido o dominio generico sin cliente asociado. Duda formal del proyecto.</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320040" cy="5143500"/>
          </a:xfrm>
          <a:prstGeom prst="rect">
            <a:avLst/>
          </a:prstGeom>
          <a:solidFill>
            <a:srgbClr val="0D9488"/>
          </a:solidFill>
          <a:ln w="12700">
            <a:solidFill>
              <a:srgbClr val="0D9488"/>
            </a:solidFill>
            <a:prstDash val="solid"/>
          </a:ln>
        </p:spPr>
      </p:sp>
      <p:sp>
        <p:nvSpPr>
          <p:cNvPr id="3" name="Text 1"/>
          <p:cNvSpPr/>
          <p:nvPr/>
        </p:nvSpPr>
        <p:spPr>
          <a:xfrm>
            <a:off x="548640" y="365760"/>
            <a:ext cx="7772400" cy="640080"/>
          </a:xfrm>
          <a:prstGeom prst="rect">
            <a:avLst/>
          </a:prstGeom>
          <a:noFill/>
          <a:ln/>
        </p:spPr>
        <p:txBody>
          <a:bodyPr wrap="square" lIns="0" tIns="0" rIns="0" bIns="0" rtlCol="0" anchor="ctr"/>
          <a:lstStyle/>
          <a:p>
            <a:pPr indent="0" marL="0">
              <a:buNone/>
            </a:pPr>
            <a:r>
              <a:rPr lang="en-US" sz="3200" b="1" dirty="0">
                <a:solidFill>
                  <a:srgbClr val="FFFFFF"/>
                </a:solidFill>
                <a:latin typeface="Georgia" pitchFamily="34" charset="0"/>
                <a:ea typeface="Georgia" pitchFamily="34" charset="-122"/>
                <a:cs typeface="Georgia" pitchFamily="34" charset="-120"/>
              </a:rPr>
              <a:t>Proximos Pasos</a:t>
            </a:r>
            <a:endParaRPr lang="en-US" sz="3200" dirty="0"/>
          </a:p>
        </p:txBody>
      </p:sp>
      <p:sp>
        <p:nvSpPr>
          <p:cNvPr id="4" name="Shape 2"/>
          <p:cNvSpPr/>
          <p:nvPr/>
        </p:nvSpPr>
        <p:spPr>
          <a:xfrm>
            <a:off x="548640" y="1078992"/>
            <a:ext cx="4114800" cy="36576"/>
          </a:xfrm>
          <a:prstGeom prst="rect">
            <a:avLst/>
          </a:prstGeom>
          <a:solidFill>
            <a:srgbClr val="0D9488"/>
          </a:solidFill>
          <a:ln w="12700">
            <a:solidFill>
              <a:srgbClr val="0D9488"/>
            </a:solidFill>
            <a:prstDash val="solid"/>
          </a:ln>
        </p:spPr>
      </p:sp>
      <p:sp>
        <p:nvSpPr>
          <p:cNvPr id="5" name="Shape 3"/>
          <p:cNvSpPr/>
          <p:nvPr/>
        </p:nvSpPr>
        <p:spPr>
          <a:xfrm>
            <a:off x="548640" y="1261872"/>
            <a:ext cx="594360" cy="594360"/>
          </a:xfrm>
          <a:prstGeom prst="rect">
            <a:avLst/>
          </a:prstGeom>
          <a:solidFill>
            <a:srgbClr val="0D9488"/>
          </a:solidFill>
          <a:ln w="12700">
            <a:solidFill>
              <a:srgbClr val="0D9488"/>
            </a:solidFill>
            <a:prstDash val="solid"/>
          </a:ln>
        </p:spPr>
      </p:sp>
      <p:sp>
        <p:nvSpPr>
          <p:cNvPr id="6" name="Text 4"/>
          <p:cNvSpPr/>
          <p:nvPr/>
        </p:nvSpPr>
        <p:spPr>
          <a:xfrm>
            <a:off x="548640" y="1261872"/>
            <a:ext cx="594360" cy="594360"/>
          </a:xfrm>
          <a:prstGeom prst="rect">
            <a:avLst/>
          </a:prstGeom>
          <a:noFill/>
          <a:ln/>
        </p:spPr>
        <p:txBody>
          <a:bodyPr wrap="square" lIns="0" tIns="0" rIns="0" bIns="0" rtlCol="0" anchor="ctr"/>
          <a:lstStyle/>
          <a:p>
            <a:pPr algn="ctr" indent="0" marL="0">
              <a:buNone/>
            </a:pPr>
            <a:r>
              <a:rPr lang="en-US" sz="1600" b="1" dirty="0">
                <a:solidFill>
                  <a:srgbClr val="0D1B2A"/>
                </a:solidFill>
              </a:rPr>
              <a:t>01</a:t>
            </a:r>
            <a:endParaRPr lang="en-US" sz="1600" dirty="0"/>
          </a:p>
        </p:txBody>
      </p:sp>
      <p:sp>
        <p:nvSpPr>
          <p:cNvPr id="7" name="Text 5"/>
          <p:cNvSpPr/>
          <p:nvPr/>
        </p:nvSpPr>
        <p:spPr>
          <a:xfrm>
            <a:off x="1261872" y="1261872"/>
            <a:ext cx="7315200" cy="292608"/>
          </a:xfrm>
          <a:prstGeom prst="rect">
            <a:avLst/>
          </a:prstGeom>
          <a:noFill/>
          <a:ln/>
        </p:spPr>
        <p:txBody>
          <a:bodyPr wrap="square" lIns="0" tIns="0" rIns="0" bIns="0" rtlCol="0" anchor="b"/>
          <a:lstStyle/>
          <a:p>
            <a:pPr indent="0" marL="0">
              <a:buNone/>
            </a:pPr>
            <a:r>
              <a:rPr lang="en-US" sz="1300" b="1" dirty="0">
                <a:solidFill>
                  <a:srgbClr val="FFFFFF"/>
                </a:solidFill>
              </a:rPr>
              <a:t>Decidir propuesta (D1)</a:t>
            </a:r>
            <a:endParaRPr lang="en-US" sz="1300" dirty="0"/>
          </a:p>
        </p:txBody>
      </p:sp>
      <p:sp>
        <p:nvSpPr>
          <p:cNvPr id="8" name="Text 6"/>
          <p:cNvSpPr/>
          <p:nvPr/>
        </p:nvSpPr>
        <p:spPr>
          <a:xfrm>
            <a:off x="1261872" y="1554480"/>
            <a:ext cx="7315200" cy="301752"/>
          </a:xfrm>
          <a:prstGeom prst="rect">
            <a:avLst/>
          </a:prstGeom>
          <a:noFill/>
          <a:ln/>
        </p:spPr>
        <p:txBody>
          <a:bodyPr wrap="square" lIns="0" tIns="0" rIns="0" bIns="0" rtlCol="0" anchor="t"/>
          <a:lstStyle/>
          <a:p>
            <a:pPr indent="0" marL="0">
              <a:buNone/>
            </a:pPr>
            <a:r>
              <a:rPr lang="en-US" sz="1000" dirty="0">
                <a:solidFill>
                  <a:srgbClr val="94A3B8"/>
                </a:solidFill>
              </a:rPr>
              <a:t>Product Owner y TechLead confirman P1 (n8n+RabbitMQ) o P2 (Gmail Push).</a:t>
            </a:r>
            <a:endParaRPr lang="en-US" sz="1000" dirty="0"/>
          </a:p>
        </p:txBody>
      </p:sp>
      <p:sp>
        <p:nvSpPr>
          <p:cNvPr id="9" name="Shape 7"/>
          <p:cNvSpPr/>
          <p:nvPr/>
        </p:nvSpPr>
        <p:spPr>
          <a:xfrm>
            <a:off x="548640" y="2011680"/>
            <a:ext cx="594360" cy="594360"/>
          </a:xfrm>
          <a:prstGeom prst="rect">
            <a:avLst/>
          </a:prstGeom>
          <a:solidFill>
            <a:srgbClr val="0D9488"/>
          </a:solidFill>
          <a:ln w="12700">
            <a:solidFill>
              <a:srgbClr val="0D9488"/>
            </a:solidFill>
            <a:prstDash val="solid"/>
          </a:ln>
        </p:spPr>
      </p:sp>
      <p:sp>
        <p:nvSpPr>
          <p:cNvPr id="10" name="Text 8"/>
          <p:cNvSpPr/>
          <p:nvPr/>
        </p:nvSpPr>
        <p:spPr>
          <a:xfrm>
            <a:off x="548640" y="2011680"/>
            <a:ext cx="594360" cy="594360"/>
          </a:xfrm>
          <a:prstGeom prst="rect">
            <a:avLst/>
          </a:prstGeom>
          <a:noFill/>
          <a:ln/>
        </p:spPr>
        <p:txBody>
          <a:bodyPr wrap="square" lIns="0" tIns="0" rIns="0" bIns="0" rtlCol="0" anchor="ctr"/>
          <a:lstStyle/>
          <a:p>
            <a:pPr algn="ctr" indent="0" marL="0">
              <a:buNone/>
            </a:pPr>
            <a:r>
              <a:rPr lang="en-US" sz="1600" b="1" dirty="0">
                <a:solidFill>
                  <a:srgbClr val="0D1B2A"/>
                </a:solidFill>
              </a:rPr>
              <a:t>02</a:t>
            </a:r>
            <a:endParaRPr lang="en-US" sz="1600" dirty="0"/>
          </a:p>
        </p:txBody>
      </p:sp>
      <p:sp>
        <p:nvSpPr>
          <p:cNvPr id="11" name="Text 9"/>
          <p:cNvSpPr/>
          <p:nvPr/>
        </p:nvSpPr>
        <p:spPr>
          <a:xfrm>
            <a:off x="1261872" y="2011680"/>
            <a:ext cx="7315200" cy="292608"/>
          </a:xfrm>
          <a:prstGeom prst="rect">
            <a:avLst/>
          </a:prstGeom>
          <a:noFill/>
          <a:ln/>
        </p:spPr>
        <p:txBody>
          <a:bodyPr wrap="square" lIns="0" tIns="0" rIns="0" bIns="0" rtlCol="0" anchor="b"/>
          <a:lstStyle/>
          <a:p>
            <a:pPr indent="0" marL="0">
              <a:buNone/>
            </a:pPr>
            <a:r>
              <a:rPr lang="en-US" sz="1300" b="1" dirty="0">
                <a:solidFill>
                  <a:srgbClr val="FFFFFF"/>
                </a:solidFill>
              </a:rPr>
              <a:t>Resolver D2: clasificacion Cobro/Pago</a:t>
            </a:r>
            <a:endParaRPr lang="en-US" sz="1300" dirty="0"/>
          </a:p>
        </p:txBody>
      </p:sp>
      <p:sp>
        <p:nvSpPr>
          <p:cNvPr id="12" name="Text 10"/>
          <p:cNvSpPr/>
          <p:nvPr/>
        </p:nvSpPr>
        <p:spPr>
          <a:xfrm>
            <a:off x="1261872" y="2304288"/>
            <a:ext cx="7315200" cy="301752"/>
          </a:xfrm>
          <a:prstGeom prst="rect">
            <a:avLst/>
          </a:prstGeom>
          <a:noFill/>
          <a:ln/>
        </p:spPr>
        <p:txBody>
          <a:bodyPr wrap="square" lIns="0" tIns="0" rIns="0" bIns="0" rtlCol="0" anchor="t"/>
          <a:lstStyle/>
          <a:p>
            <a:pPr indent="0" marL="0">
              <a:buNone/>
            </a:pPr>
            <a:r>
              <a:rPr lang="en-US" sz="1000" dirty="0">
                <a:solidFill>
                  <a:srgbClr val="94A3B8"/>
                </a:solidFill>
              </a:rPr>
              <a:t>Ejecutar query de verificacion y confirmar Opcion A o B con Product Owner.</a:t>
            </a:r>
            <a:endParaRPr lang="en-US" sz="1000" dirty="0"/>
          </a:p>
        </p:txBody>
      </p:sp>
      <p:sp>
        <p:nvSpPr>
          <p:cNvPr id="13" name="Shape 11"/>
          <p:cNvSpPr/>
          <p:nvPr/>
        </p:nvSpPr>
        <p:spPr>
          <a:xfrm>
            <a:off x="548640" y="2761488"/>
            <a:ext cx="594360" cy="594360"/>
          </a:xfrm>
          <a:prstGeom prst="rect">
            <a:avLst/>
          </a:prstGeom>
          <a:solidFill>
            <a:srgbClr val="14B8A6"/>
          </a:solidFill>
          <a:ln w="12700">
            <a:solidFill>
              <a:srgbClr val="14B8A6"/>
            </a:solidFill>
            <a:prstDash val="solid"/>
          </a:ln>
        </p:spPr>
      </p:sp>
      <p:sp>
        <p:nvSpPr>
          <p:cNvPr id="14" name="Text 12"/>
          <p:cNvSpPr/>
          <p:nvPr/>
        </p:nvSpPr>
        <p:spPr>
          <a:xfrm>
            <a:off x="548640" y="2761488"/>
            <a:ext cx="594360" cy="594360"/>
          </a:xfrm>
          <a:prstGeom prst="rect">
            <a:avLst/>
          </a:prstGeom>
          <a:noFill/>
          <a:ln/>
        </p:spPr>
        <p:txBody>
          <a:bodyPr wrap="square" lIns="0" tIns="0" rIns="0" bIns="0" rtlCol="0" anchor="ctr"/>
          <a:lstStyle/>
          <a:p>
            <a:pPr algn="ctr" indent="0" marL="0">
              <a:buNone/>
            </a:pPr>
            <a:r>
              <a:rPr lang="en-US" sz="1600" b="1" dirty="0">
                <a:solidFill>
                  <a:srgbClr val="0D1B2A"/>
                </a:solidFill>
              </a:rPr>
              <a:t>03</a:t>
            </a:r>
            <a:endParaRPr lang="en-US" sz="1600" dirty="0"/>
          </a:p>
        </p:txBody>
      </p:sp>
      <p:sp>
        <p:nvSpPr>
          <p:cNvPr id="15" name="Text 13"/>
          <p:cNvSpPr/>
          <p:nvPr/>
        </p:nvSpPr>
        <p:spPr>
          <a:xfrm>
            <a:off x="1261872" y="2761488"/>
            <a:ext cx="7315200" cy="292608"/>
          </a:xfrm>
          <a:prstGeom prst="rect">
            <a:avLst/>
          </a:prstGeom>
          <a:noFill/>
          <a:ln/>
        </p:spPr>
        <p:txBody>
          <a:bodyPr wrap="square" lIns="0" tIns="0" rIns="0" bIns="0" rtlCol="0" anchor="b"/>
          <a:lstStyle/>
          <a:p>
            <a:pPr indent="0" marL="0">
              <a:buNone/>
            </a:pPr>
            <a:r>
              <a:rPr lang="en-US" sz="1300" b="1" dirty="0">
                <a:solidFill>
                  <a:srgbClr val="FFFFFF"/>
                </a:solidFill>
              </a:rPr>
              <a:t>Resolver D3: proveedor IA</a:t>
            </a:r>
            <a:endParaRPr lang="en-US" sz="1300" dirty="0"/>
          </a:p>
        </p:txBody>
      </p:sp>
      <p:sp>
        <p:nvSpPr>
          <p:cNvPr id="16" name="Text 14"/>
          <p:cNvSpPr/>
          <p:nvPr/>
        </p:nvSpPr>
        <p:spPr>
          <a:xfrm>
            <a:off x="1261872" y="3054096"/>
            <a:ext cx="7315200" cy="301752"/>
          </a:xfrm>
          <a:prstGeom prst="rect">
            <a:avLst/>
          </a:prstGeom>
          <a:noFill/>
          <a:ln/>
        </p:spPr>
        <p:txBody>
          <a:bodyPr wrap="square" lIns="0" tIns="0" rIns="0" bIns="0" rtlCol="0" anchor="t"/>
          <a:lstStyle/>
          <a:p>
            <a:pPr indent="0" marL="0">
              <a:buNone/>
            </a:pPr>
            <a:r>
              <a:rPr lang="en-US" sz="1000" dirty="0">
                <a:solidFill>
                  <a:srgbClr val="94A3B8"/>
                </a:solidFill>
              </a:rPr>
              <a:t>Seleccionar OpenAI / Azure OpenAI y gestionar credenciales en secret manager.</a:t>
            </a:r>
            <a:endParaRPr lang="en-US" sz="1000" dirty="0"/>
          </a:p>
        </p:txBody>
      </p:sp>
      <p:sp>
        <p:nvSpPr>
          <p:cNvPr id="17" name="Shape 15"/>
          <p:cNvSpPr/>
          <p:nvPr/>
        </p:nvSpPr>
        <p:spPr>
          <a:xfrm>
            <a:off x="548640" y="3511296"/>
            <a:ext cx="594360" cy="594360"/>
          </a:xfrm>
          <a:prstGeom prst="rect">
            <a:avLst/>
          </a:prstGeom>
          <a:solidFill>
            <a:srgbClr val="14B8A6"/>
          </a:solidFill>
          <a:ln w="12700">
            <a:solidFill>
              <a:srgbClr val="14B8A6"/>
            </a:solidFill>
            <a:prstDash val="solid"/>
          </a:ln>
        </p:spPr>
      </p:sp>
      <p:sp>
        <p:nvSpPr>
          <p:cNvPr id="18" name="Text 16"/>
          <p:cNvSpPr/>
          <p:nvPr/>
        </p:nvSpPr>
        <p:spPr>
          <a:xfrm>
            <a:off x="548640" y="3511296"/>
            <a:ext cx="594360" cy="594360"/>
          </a:xfrm>
          <a:prstGeom prst="rect">
            <a:avLst/>
          </a:prstGeom>
          <a:noFill/>
          <a:ln/>
        </p:spPr>
        <p:txBody>
          <a:bodyPr wrap="square" lIns="0" tIns="0" rIns="0" bIns="0" rtlCol="0" anchor="ctr"/>
          <a:lstStyle/>
          <a:p>
            <a:pPr algn="ctr" indent="0" marL="0">
              <a:buNone/>
            </a:pPr>
            <a:r>
              <a:rPr lang="en-US" sz="1600" b="1" dirty="0">
                <a:solidFill>
                  <a:srgbClr val="0D1B2A"/>
                </a:solidFill>
              </a:rPr>
              <a:t>04</a:t>
            </a:r>
            <a:endParaRPr lang="en-US" sz="1600" dirty="0"/>
          </a:p>
        </p:txBody>
      </p:sp>
      <p:sp>
        <p:nvSpPr>
          <p:cNvPr id="19" name="Text 17"/>
          <p:cNvSpPr/>
          <p:nvPr/>
        </p:nvSpPr>
        <p:spPr>
          <a:xfrm>
            <a:off x="1261872" y="3511296"/>
            <a:ext cx="7315200" cy="292608"/>
          </a:xfrm>
          <a:prstGeom prst="rect">
            <a:avLst/>
          </a:prstGeom>
          <a:noFill/>
          <a:ln/>
        </p:spPr>
        <p:txBody>
          <a:bodyPr wrap="square" lIns="0" tIns="0" rIns="0" bIns="0" rtlCol="0" anchor="b"/>
          <a:lstStyle/>
          <a:p>
            <a:pPr indent="0" marL="0">
              <a:buNone/>
            </a:pPr>
            <a:r>
              <a:rPr lang="en-US" sz="1300" b="1" dirty="0">
                <a:solidFill>
                  <a:srgbClr val="FFFFFF"/>
                </a:solidFill>
              </a:rPr>
              <a:t>Confirmar infraestructura (D4 o D5)</a:t>
            </a:r>
            <a:endParaRPr lang="en-US" sz="1300" dirty="0"/>
          </a:p>
        </p:txBody>
      </p:sp>
      <p:sp>
        <p:nvSpPr>
          <p:cNvPr id="20" name="Text 18"/>
          <p:cNvSpPr/>
          <p:nvPr/>
        </p:nvSpPr>
        <p:spPr>
          <a:xfrm>
            <a:off x="1261872" y="3803904"/>
            <a:ext cx="7315200" cy="301752"/>
          </a:xfrm>
          <a:prstGeom prst="rect">
            <a:avLst/>
          </a:prstGeom>
          <a:noFill/>
          <a:ln/>
        </p:spPr>
        <p:txBody>
          <a:bodyPr wrap="square" lIns="0" tIns="0" rIns="0" bIns="0" rtlCol="0" anchor="t"/>
          <a:lstStyle/>
          <a:p>
            <a:pPr indent="0" marL="0">
              <a:buNone/>
            </a:pPr>
            <a:r>
              <a:rPr lang="en-US" sz="1000" dirty="0">
                <a:solidFill>
                  <a:srgbClr val="94A3B8"/>
                </a:solidFill>
              </a:rPr>
              <a:t>Aprovisionar n8n+RabbitMQ (P1) o Pub/Sub+HTTPS (P2) segun decision.</a:t>
            </a:r>
            <a:endParaRPr lang="en-US" sz="1000" dirty="0"/>
          </a:p>
        </p:txBody>
      </p:sp>
      <p:sp>
        <p:nvSpPr>
          <p:cNvPr id="21" name="Shape 19"/>
          <p:cNvSpPr/>
          <p:nvPr/>
        </p:nvSpPr>
        <p:spPr>
          <a:xfrm>
            <a:off x="548640" y="4261104"/>
            <a:ext cx="594360" cy="594360"/>
          </a:xfrm>
          <a:prstGeom prst="rect">
            <a:avLst/>
          </a:prstGeom>
          <a:solidFill>
            <a:srgbClr val="94A3B8"/>
          </a:solidFill>
          <a:ln w="12700">
            <a:solidFill>
              <a:srgbClr val="94A3B8"/>
            </a:solidFill>
            <a:prstDash val="solid"/>
          </a:ln>
        </p:spPr>
      </p:sp>
      <p:sp>
        <p:nvSpPr>
          <p:cNvPr id="22" name="Text 20"/>
          <p:cNvSpPr/>
          <p:nvPr/>
        </p:nvSpPr>
        <p:spPr>
          <a:xfrm>
            <a:off x="548640" y="4261104"/>
            <a:ext cx="594360" cy="594360"/>
          </a:xfrm>
          <a:prstGeom prst="rect">
            <a:avLst/>
          </a:prstGeom>
          <a:noFill/>
          <a:ln/>
        </p:spPr>
        <p:txBody>
          <a:bodyPr wrap="square" lIns="0" tIns="0" rIns="0" bIns="0" rtlCol="0" anchor="ctr"/>
          <a:lstStyle/>
          <a:p>
            <a:pPr algn="ctr" indent="0" marL="0">
              <a:buNone/>
            </a:pPr>
            <a:r>
              <a:rPr lang="en-US" sz="1600" b="1" dirty="0">
                <a:solidFill>
                  <a:srgbClr val="0D1B2A"/>
                </a:solidFill>
              </a:rPr>
              <a:t>05</a:t>
            </a:r>
            <a:endParaRPr lang="en-US" sz="1600" dirty="0"/>
          </a:p>
        </p:txBody>
      </p:sp>
      <p:sp>
        <p:nvSpPr>
          <p:cNvPr id="23" name="Text 21"/>
          <p:cNvSpPr/>
          <p:nvPr/>
        </p:nvSpPr>
        <p:spPr>
          <a:xfrm>
            <a:off x="1261872" y="4261104"/>
            <a:ext cx="7315200" cy="292608"/>
          </a:xfrm>
          <a:prstGeom prst="rect">
            <a:avLst/>
          </a:prstGeom>
          <a:noFill/>
          <a:ln/>
        </p:spPr>
        <p:txBody>
          <a:bodyPr wrap="square" lIns="0" tIns="0" rIns="0" bIns="0" rtlCol="0" anchor="b"/>
          <a:lstStyle/>
          <a:p>
            <a:pPr indent="0" marL="0">
              <a:buNone/>
            </a:pPr>
            <a:r>
              <a:rPr lang="en-US" sz="1300" b="1" dirty="0">
                <a:solidFill>
                  <a:srgbClr val="FFFFFF"/>
                </a:solidFill>
              </a:rPr>
              <a:t>Iniciar sprint: tareas de BD primero</a:t>
            </a:r>
            <a:endParaRPr lang="en-US" sz="1300" dirty="0"/>
          </a:p>
        </p:txBody>
      </p:sp>
      <p:sp>
        <p:nvSpPr>
          <p:cNvPr id="24" name="Text 22"/>
          <p:cNvSpPr/>
          <p:nvPr/>
        </p:nvSpPr>
        <p:spPr>
          <a:xfrm>
            <a:off x="1261872" y="4553712"/>
            <a:ext cx="7315200" cy="301752"/>
          </a:xfrm>
          <a:prstGeom prst="rect">
            <a:avLst/>
          </a:prstGeom>
          <a:noFill/>
          <a:ln/>
        </p:spPr>
        <p:txBody>
          <a:bodyPr wrap="square" lIns="0" tIns="0" rIns="0" bIns="0" rtlCol="0" anchor="t"/>
          <a:lstStyle/>
          <a:p>
            <a:pPr indent="0" marL="0">
              <a:buNone/>
            </a:pPr>
            <a:r>
              <a:rPr lang="en-US" sz="1000" dirty="0">
                <a:solidFill>
                  <a:srgbClr val="94A3B8"/>
                </a:solidFill>
              </a:rPr>
              <a:t>T1 script catalogos -&gt; T2 tablas nuevas -&gt; T3+ logica .NET 4.8 y Worker .NET 10.</a:t>
            </a:r>
            <a:endParaRPr lang="en-US" sz="1000" dirty="0"/>
          </a:p>
        </p:txBody>
      </p:sp>
      <p:sp>
        <p:nvSpPr>
          <p:cNvPr id="25" name="Text 23"/>
          <p:cNvSpPr/>
          <p:nvPr/>
        </p:nvSpPr>
        <p:spPr>
          <a:xfrm>
            <a:off x="548640" y="4773168"/>
            <a:ext cx="8412480" cy="256032"/>
          </a:xfrm>
          <a:prstGeom prst="rect">
            <a:avLst/>
          </a:prstGeom>
          <a:noFill/>
          <a:ln/>
        </p:spPr>
        <p:txBody>
          <a:bodyPr wrap="square" lIns="0" tIns="0" rIns="0" bIns="0" rtlCol="0" anchor="ctr"/>
          <a:lstStyle/>
          <a:p>
            <a:pPr algn="r" indent="0" marL="0">
              <a:buNone/>
            </a:pPr>
            <a:r>
              <a:rPr lang="en-US" sz="850" dirty="0">
                <a:solidFill>
                  <a:srgbClr val="94A3B8"/>
                </a:solidFill>
              </a:rPr>
              <a:t>R16 ProquifaDotNet  |  TPSC-RE-FU-008 Buzon de Cobros  |  Junio 2026</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Buzon de Cobros - Propuestas de Implementacion</dc:title>
  <dc:subject>PptxGenJS Presentation</dc:subject>
  <dc:creator>PptxGenJS</dc:creator>
  <cp:lastModifiedBy>PptxGenJS</cp:lastModifiedBy>
  <cp:revision>1</cp:revision>
  <dcterms:created xsi:type="dcterms:W3CDTF">2026-06-12T16:56:28Z</dcterms:created>
  <dcterms:modified xsi:type="dcterms:W3CDTF">2026-06-12T16:56:28Z</dcterms:modified>
</cp:coreProperties>
</file>